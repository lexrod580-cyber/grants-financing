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4" r:id="rId2"/>
    <p:sldId id="257" r:id="rId3"/>
    <p:sldId id="275" r:id="rId4"/>
    <p:sldId id="276" r:id="rId5"/>
    <p:sldId id="277" r:id="rId6"/>
    <p:sldId id="282" r:id="rId7"/>
    <p:sldId id="286" r:id="rId8"/>
    <p:sldId id="259" r:id="rId9"/>
    <p:sldId id="284" r:id="rId10"/>
    <p:sldId id="260" r:id="rId11"/>
    <p:sldId id="285" r:id="rId12"/>
    <p:sldId id="258" r:id="rId13"/>
    <p:sldId id="288" r:id="rId14"/>
    <p:sldId id="287" r:id="rId15"/>
    <p:sldId id="280" r:id="rId16"/>
    <p:sldId id="281" r:id="rId17"/>
    <p:sldId id="289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137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5AB1F-E96D-4D5B-BE85-817B71C23164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F5F6E-BE0B-4AF0-A504-99EB4D58688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871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D4C31-C101-443B-9F56-F765049D5907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12174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279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8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112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279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37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1327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83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246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358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342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60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416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Основні особливості підготовки заявки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4628728"/>
            <a:ext cx="6400800" cy="1752600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Курс Лекцій з дисципліни 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</a:t>
            </a:r>
            <a:r>
              <a:rPr lang="uk-UA" b="1" dirty="0"/>
              <a:t>Фінансування наукових досліджень, грантова діяльність</a:t>
            </a:r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аспірантів КНУБА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Проф. </a:t>
            </a:r>
            <a:r>
              <a:rPr lang="uk-UA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Петраковська</a:t>
            </a:r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О.С.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6786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Спершу</a:t>
            </a:r>
            <a:r>
              <a:rPr lang="ru-RU" b="1" dirty="0"/>
              <a:t> </a:t>
            </a:r>
            <a:r>
              <a:rPr lang="ru-RU" b="1" dirty="0" err="1"/>
              <a:t>чернетка</a:t>
            </a:r>
            <a:r>
              <a:rPr lang="ru-RU" b="1" dirty="0"/>
              <a:t> проекту, </a:t>
            </a:r>
            <a:r>
              <a:rPr lang="ru-RU" b="1" dirty="0" err="1"/>
              <a:t>далі</a:t>
            </a:r>
            <a:r>
              <a:rPr lang="ru-RU" b="1" dirty="0"/>
              <a:t> – </a:t>
            </a:r>
            <a:r>
              <a:rPr lang="ru-RU" b="1" dirty="0" err="1"/>
              <a:t>пошук</a:t>
            </a:r>
            <a:r>
              <a:rPr lang="ru-RU" b="1" dirty="0"/>
              <a:t> гранту.</a:t>
            </a:r>
            <a:r>
              <a:rPr lang="ru-RU" dirty="0"/>
              <a:t> </a:t>
            </a:r>
            <a:r>
              <a:rPr lang="ru-RU" dirty="0" err="1"/>
              <a:t>Зазвичай</a:t>
            </a:r>
            <a:r>
              <a:rPr lang="ru-RU" dirty="0"/>
              <a:t>, </a:t>
            </a:r>
            <a:r>
              <a:rPr lang="ru-RU" dirty="0" err="1"/>
              <a:t>більшість</a:t>
            </a:r>
            <a:r>
              <a:rPr lang="ru-RU" dirty="0"/>
              <a:t> </a:t>
            </a:r>
            <a:r>
              <a:rPr lang="ru-RU" dirty="0" err="1"/>
              <a:t>грантових</a:t>
            </a:r>
            <a:r>
              <a:rPr lang="ru-RU" dirty="0"/>
              <a:t> </a:t>
            </a:r>
            <a:r>
              <a:rPr lang="ru-RU" dirty="0" err="1"/>
              <a:t>програм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обмежений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, і </a:t>
            </a:r>
            <a:r>
              <a:rPr lang="ru-RU" dirty="0" err="1"/>
              <a:t>якщо</a:t>
            </a:r>
            <a:r>
              <a:rPr lang="ru-RU" dirty="0"/>
              <a:t> Ви не </a:t>
            </a:r>
            <a:r>
              <a:rPr lang="ru-RU" dirty="0" err="1"/>
              <a:t>маєте</a:t>
            </a:r>
            <a:r>
              <a:rPr lang="ru-RU" dirty="0"/>
              <a:t> проекту, то буде </a:t>
            </a:r>
            <a:r>
              <a:rPr lang="ru-RU" dirty="0" err="1"/>
              <a:t>дуже</a:t>
            </a:r>
            <a:r>
              <a:rPr lang="ru-RU" dirty="0"/>
              <a:t> складно </a:t>
            </a:r>
            <a:r>
              <a:rPr lang="ru-RU" dirty="0" err="1"/>
              <a:t>написати</a:t>
            </a:r>
            <a:r>
              <a:rPr lang="ru-RU" dirty="0"/>
              <a:t> </a:t>
            </a:r>
            <a:r>
              <a:rPr lang="ru-RU" dirty="0" err="1"/>
              <a:t>якісну</a:t>
            </a:r>
            <a:r>
              <a:rPr lang="ru-RU" dirty="0"/>
              <a:t> </a:t>
            </a:r>
            <a:r>
              <a:rPr lang="ru-RU" dirty="0" err="1"/>
              <a:t>грантову</a:t>
            </a:r>
            <a:r>
              <a:rPr lang="ru-RU" dirty="0"/>
              <a:t> заявку.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2835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Основні акценти проекту/заявки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dirty="0"/>
              <a:t>Визначення ідеї проекту</a:t>
            </a:r>
          </a:p>
          <a:p>
            <a:pPr marL="0" indent="0">
              <a:buNone/>
            </a:pPr>
            <a:r>
              <a:rPr lang="ru-RU" sz="2000" dirty="0"/>
              <a:t>(</a:t>
            </a:r>
            <a:r>
              <a:rPr lang="ru-RU" sz="2000" dirty="0" err="1"/>
              <a:t>соціальна</a:t>
            </a:r>
            <a:r>
              <a:rPr lang="ru-RU" sz="2000" dirty="0"/>
              <a:t> </a:t>
            </a:r>
            <a:r>
              <a:rPr lang="ru-RU" sz="2000" dirty="0" err="1"/>
              <a:t>значущість</a:t>
            </a:r>
            <a:r>
              <a:rPr lang="ru-RU" sz="2000" dirty="0"/>
              <a:t> проекту, </a:t>
            </a:r>
            <a:r>
              <a:rPr lang="ru-RU" sz="2000" dirty="0" err="1"/>
              <a:t>інноваційність</a:t>
            </a:r>
            <a:r>
              <a:rPr lang="ru-RU" sz="2000" dirty="0"/>
              <a:t>/ </a:t>
            </a:r>
            <a:r>
              <a:rPr lang="ru-RU" sz="2000" dirty="0" err="1"/>
              <a:t>неповторність</a:t>
            </a:r>
            <a:r>
              <a:rPr lang="ru-RU" sz="2000" dirty="0"/>
              <a:t> </a:t>
            </a:r>
          </a:p>
          <a:p>
            <a:pPr marL="0" indent="0">
              <a:buNone/>
            </a:pPr>
            <a:r>
              <a:rPr lang="ru-RU" sz="2000" dirty="0"/>
              <a:t>Не </a:t>
            </a:r>
            <a:r>
              <a:rPr lang="ru-RU" sz="2000" dirty="0" err="1"/>
              <a:t>належтить</a:t>
            </a:r>
            <a:r>
              <a:rPr lang="ru-RU" sz="2000" dirty="0"/>
              <a:t> до </a:t>
            </a:r>
            <a:r>
              <a:rPr lang="ru-RU" sz="2000" dirty="0" err="1"/>
              <a:t>типових</a:t>
            </a:r>
            <a:r>
              <a:rPr lang="ru-RU" sz="2000" dirty="0"/>
              <a:t> </a:t>
            </a:r>
            <a:r>
              <a:rPr lang="ru-RU" sz="2000" dirty="0" err="1"/>
              <a:t>завдань</a:t>
            </a:r>
            <a:r>
              <a:rPr lang="ru-RU" sz="2000" dirty="0"/>
              <a:t>, не </a:t>
            </a:r>
            <a:r>
              <a:rPr lang="ru-RU" sz="2000" dirty="0" err="1"/>
              <a:t>мали</a:t>
            </a:r>
            <a:r>
              <a:rPr lang="ru-RU" sz="2000" dirty="0"/>
              <a:t> </a:t>
            </a:r>
            <a:r>
              <a:rPr lang="ru-RU" sz="2000" dirty="0" err="1"/>
              <a:t>місця</a:t>
            </a:r>
            <a:r>
              <a:rPr lang="ru-RU" sz="2000" dirty="0"/>
              <a:t>…)</a:t>
            </a:r>
          </a:p>
          <a:p>
            <a:pPr marL="514350" indent="-514350">
              <a:buFont typeface="+mj-lt"/>
              <a:buAutoNum type="arabicPeriod"/>
            </a:pPr>
            <a:r>
              <a:rPr lang="uk-UA" sz="2000" dirty="0"/>
              <a:t>Пошук гранту/фонду</a:t>
            </a:r>
          </a:p>
          <a:p>
            <a:pPr marL="400050" lvl="1" indent="0">
              <a:buNone/>
            </a:pPr>
            <a:r>
              <a:rPr lang="uk-UA" sz="2000" dirty="0"/>
              <a:t>2.1.вивчення пріоритетів/</a:t>
            </a:r>
            <a:r>
              <a:rPr lang="en-US" sz="2000" dirty="0"/>
              <a:t>priority </a:t>
            </a:r>
            <a:r>
              <a:rPr lang="uk-UA" sz="2000" dirty="0"/>
              <a:t> того або іншого фонду (</a:t>
            </a:r>
            <a:r>
              <a:rPr lang="ru-RU" sz="2000" dirty="0" err="1"/>
              <a:t>пріоритети</a:t>
            </a:r>
            <a:r>
              <a:rPr lang="ru-RU" sz="2000" dirty="0"/>
              <a:t> конкурсу (</a:t>
            </a:r>
            <a:r>
              <a:rPr lang="ru-RU" sz="2000" dirty="0" err="1"/>
              <a:t>напрями</a:t>
            </a:r>
            <a:r>
              <a:rPr lang="ru-RU" sz="2000" dirty="0"/>
              <a:t> </a:t>
            </a:r>
            <a:r>
              <a:rPr lang="ru-RU" sz="2000" dirty="0" err="1"/>
              <a:t>надання</a:t>
            </a:r>
            <a:r>
              <a:rPr lang="ru-RU" sz="2000" dirty="0"/>
              <a:t> </a:t>
            </a:r>
            <a:r>
              <a:rPr lang="ru-RU" sz="2000" dirty="0" err="1"/>
              <a:t>допомоги</a:t>
            </a:r>
            <a:r>
              <a:rPr lang="ru-RU" sz="2000" dirty="0"/>
              <a:t> </a:t>
            </a:r>
            <a:r>
              <a:rPr lang="ru-RU" sz="2000" dirty="0" err="1"/>
              <a:t>конкретизуються</a:t>
            </a:r>
            <a:r>
              <a:rPr lang="ru-RU" sz="2000" dirty="0"/>
              <a:t> у </a:t>
            </a:r>
            <a:r>
              <a:rPr lang="ru-RU" sz="2000" dirty="0" err="1"/>
              <a:t>пріоритетах</a:t>
            </a:r>
            <a:r>
              <a:rPr lang="ru-RU" sz="2000" dirty="0"/>
              <a:t> </a:t>
            </a:r>
            <a:r>
              <a:rPr lang="ru-RU" sz="2000" dirty="0" err="1"/>
              <a:t>конкретних</a:t>
            </a:r>
            <a:r>
              <a:rPr lang="ru-RU" sz="2000" dirty="0"/>
              <a:t> </a:t>
            </a:r>
            <a:r>
              <a:rPr lang="ru-RU" sz="2000" dirty="0" err="1"/>
              <a:t>конкурсів</a:t>
            </a:r>
            <a:r>
              <a:rPr lang="ru-RU" sz="2000" dirty="0"/>
              <a:t>); </a:t>
            </a:r>
            <a:endParaRPr lang="uk-UA" sz="2000" dirty="0"/>
          </a:p>
          <a:p>
            <a:pPr marL="400050" lvl="1" indent="0">
              <a:buNone/>
            </a:pPr>
            <a:r>
              <a:rPr lang="ru-RU" sz="2000" dirty="0"/>
              <a:t>2.2.Вичитка абсолютно ВСІХ умов</a:t>
            </a:r>
            <a:r>
              <a:rPr lang="ru-RU" sz="2000" b="1" dirty="0"/>
              <a:t>. </a:t>
            </a:r>
            <a:r>
              <a:rPr lang="ru-RU" sz="2000" dirty="0" err="1"/>
              <a:t>Іноді</a:t>
            </a:r>
            <a:r>
              <a:rPr lang="ru-RU" sz="2000" dirty="0"/>
              <a:t> </a:t>
            </a:r>
            <a:r>
              <a:rPr lang="ru-RU" sz="2000" dirty="0" err="1"/>
              <a:t>можна</a:t>
            </a:r>
            <a:r>
              <a:rPr lang="ru-RU" sz="2000" dirty="0"/>
              <a:t> </a:t>
            </a:r>
            <a:r>
              <a:rPr lang="ru-RU" sz="2000" dirty="0" err="1"/>
              <a:t>пропустити</a:t>
            </a:r>
            <a:r>
              <a:rPr lang="ru-RU" sz="2000" dirty="0"/>
              <a:t> </a:t>
            </a:r>
            <a:r>
              <a:rPr lang="ru-RU" sz="2000" dirty="0" err="1"/>
              <a:t>дуже</a:t>
            </a:r>
            <a:r>
              <a:rPr lang="ru-RU" sz="2000" dirty="0"/>
              <a:t> </a:t>
            </a:r>
            <a:r>
              <a:rPr lang="ru-RU" sz="2000" dirty="0" err="1"/>
              <a:t>важливі</a:t>
            </a:r>
            <a:r>
              <a:rPr lang="ru-RU" sz="2000" dirty="0"/>
              <a:t> </a:t>
            </a:r>
            <a:r>
              <a:rPr lang="ru-RU" sz="2000" dirty="0" err="1"/>
              <a:t>деталі</a:t>
            </a:r>
            <a:r>
              <a:rPr lang="ru-RU" sz="2000" dirty="0"/>
              <a:t>, через </a:t>
            </a:r>
            <a:r>
              <a:rPr lang="ru-RU" sz="2000" dirty="0" err="1"/>
              <a:t>які</a:t>
            </a:r>
            <a:r>
              <a:rPr lang="ru-RU" sz="2000" dirty="0"/>
              <a:t> Ви </a:t>
            </a:r>
            <a:r>
              <a:rPr lang="ru-RU" sz="2000" dirty="0" err="1"/>
              <a:t>втратите</a:t>
            </a:r>
            <a:r>
              <a:rPr lang="ru-RU" sz="2000" dirty="0"/>
              <a:t> шанс на </a:t>
            </a:r>
            <a:r>
              <a:rPr lang="ru-RU" sz="2000" dirty="0" err="1"/>
              <a:t>отримання</a:t>
            </a:r>
            <a:r>
              <a:rPr lang="ru-RU" sz="2000" dirty="0"/>
              <a:t> гранту. І </a:t>
            </a:r>
            <a:r>
              <a:rPr lang="ru-RU" sz="2000" dirty="0" err="1"/>
              <a:t>якщо</a:t>
            </a:r>
            <a:r>
              <a:rPr lang="ru-RU" sz="2000" dirty="0"/>
              <a:t> </a:t>
            </a:r>
            <a:r>
              <a:rPr lang="ru-RU" sz="2000" dirty="0" err="1"/>
              <a:t>після</a:t>
            </a:r>
            <a:r>
              <a:rPr lang="ru-RU" sz="2000" dirty="0"/>
              <a:t> </a:t>
            </a:r>
            <a:r>
              <a:rPr lang="ru-RU" sz="2000" dirty="0" err="1"/>
              <a:t>опрацювання</a:t>
            </a:r>
            <a:r>
              <a:rPr lang="ru-RU" sz="2000" dirty="0"/>
              <a:t> умов </a:t>
            </a:r>
            <a:r>
              <a:rPr lang="ru-RU" sz="2000" dirty="0" err="1"/>
              <a:t>грантового</a:t>
            </a:r>
            <a:r>
              <a:rPr lang="ru-RU" sz="2000" dirty="0"/>
              <a:t> конкурсу у Вас все </a:t>
            </a:r>
            <a:r>
              <a:rPr lang="ru-RU" sz="2000" dirty="0" err="1"/>
              <a:t>ще</a:t>
            </a:r>
            <a:r>
              <a:rPr lang="ru-RU" sz="2000" dirty="0"/>
              <a:t> </a:t>
            </a:r>
            <a:r>
              <a:rPr lang="ru-RU" sz="2000" dirty="0" err="1"/>
              <a:t>залишились</a:t>
            </a:r>
            <a:r>
              <a:rPr lang="ru-RU" sz="2000" dirty="0"/>
              <a:t> </a:t>
            </a:r>
            <a:r>
              <a:rPr lang="ru-RU" sz="2000" dirty="0" err="1"/>
              <a:t>питання</a:t>
            </a:r>
            <a:r>
              <a:rPr lang="ru-RU" sz="2000" dirty="0"/>
              <a:t>, то у </a:t>
            </a:r>
            <a:r>
              <a:rPr lang="ru-RU" sz="2000" dirty="0" err="1"/>
              <a:t>кожної</a:t>
            </a:r>
            <a:r>
              <a:rPr lang="ru-RU" sz="2000" dirty="0"/>
              <a:t> </a:t>
            </a:r>
            <a:r>
              <a:rPr lang="ru-RU" sz="2000" dirty="0" err="1"/>
              <a:t>грантової</a:t>
            </a:r>
            <a:r>
              <a:rPr lang="ru-RU" sz="2000" dirty="0"/>
              <a:t> </a:t>
            </a:r>
            <a:r>
              <a:rPr lang="ru-RU" sz="2000" dirty="0" err="1"/>
              <a:t>програми</a:t>
            </a:r>
            <a:r>
              <a:rPr lang="ru-RU" sz="2000" dirty="0"/>
              <a:t> є координатор – не </a:t>
            </a:r>
            <a:r>
              <a:rPr lang="ru-RU" sz="2000" dirty="0" err="1"/>
              <a:t>бійтесь</a:t>
            </a:r>
            <a:r>
              <a:rPr lang="ru-RU" sz="2000" dirty="0"/>
              <a:t> </a:t>
            </a:r>
            <a:r>
              <a:rPr lang="ru-RU" sz="2000" dirty="0" err="1"/>
              <a:t>задати</a:t>
            </a:r>
            <a:r>
              <a:rPr lang="ru-RU" sz="2000" dirty="0"/>
              <a:t> </a:t>
            </a:r>
            <a:r>
              <a:rPr lang="ru-RU" sz="2000" dirty="0" err="1"/>
              <a:t>йому</a:t>
            </a:r>
            <a:r>
              <a:rPr lang="ru-RU" sz="2000" dirty="0"/>
              <a:t> </a:t>
            </a:r>
            <a:r>
              <a:rPr lang="ru-RU" sz="2000" dirty="0" err="1"/>
              <a:t>питання</a:t>
            </a:r>
            <a:r>
              <a:rPr lang="ru-RU" sz="2000" dirty="0"/>
              <a:t> ((грант </a:t>
            </a:r>
            <a:r>
              <a:rPr lang="ru-RU" sz="2000" dirty="0" err="1"/>
              <a:t>може</a:t>
            </a:r>
            <a:r>
              <a:rPr lang="ru-RU" sz="2000" dirty="0"/>
              <a:t> бути </a:t>
            </a:r>
            <a:r>
              <a:rPr lang="ru-RU" sz="2000" dirty="0" err="1"/>
              <a:t>призначений</a:t>
            </a:r>
            <a:r>
              <a:rPr lang="ru-RU" sz="2000" dirty="0"/>
              <a:t> для </a:t>
            </a:r>
            <a:r>
              <a:rPr lang="ru-RU" sz="2000" dirty="0" err="1"/>
              <a:t>певних</a:t>
            </a:r>
            <a:r>
              <a:rPr lang="ru-RU" sz="2000" dirty="0"/>
              <a:t> </a:t>
            </a:r>
            <a:r>
              <a:rPr lang="ru-RU" sz="2000" dirty="0" err="1"/>
              <a:t>регіонів</a:t>
            </a:r>
            <a:r>
              <a:rPr lang="ru-RU" sz="2000" dirty="0"/>
              <a:t> </a:t>
            </a:r>
            <a:r>
              <a:rPr lang="ru-RU" sz="2000" dirty="0" err="1"/>
              <a:t>Країни</a:t>
            </a:r>
            <a:r>
              <a:rPr lang="ru-RU" sz="2000" dirty="0"/>
              <a:t> </a:t>
            </a:r>
            <a:r>
              <a:rPr lang="ru-RU" sz="2000" dirty="0" err="1"/>
              <a:t>Бальтійського</a:t>
            </a:r>
            <a:r>
              <a:rPr lang="ru-RU" sz="2000" dirty="0"/>
              <a:t> </a:t>
            </a:r>
            <a:r>
              <a:rPr lang="ru-RU" sz="2000" dirty="0" err="1"/>
              <a:t>регіону</a:t>
            </a:r>
            <a:r>
              <a:rPr lang="ru-RU" sz="2000" dirty="0"/>
              <a:t> …… </a:t>
            </a:r>
            <a:r>
              <a:rPr lang="ru-RU" sz="2000" dirty="0" err="1"/>
              <a:t>України</a:t>
            </a:r>
            <a:r>
              <a:rPr lang="ru-RU" sz="2000" dirty="0"/>
              <a:t>)</a:t>
            </a:r>
          </a:p>
          <a:p>
            <a:pPr marL="0" lvl="1" indent="0">
              <a:buNone/>
            </a:pPr>
            <a:r>
              <a:rPr lang="ru-RU" sz="2000" dirty="0"/>
              <a:t>3. </a:t>
            </a:r>
            <a:r>
              <a:rPr lang="ru-RU" sz="2000" dirty="0" err="1"/>
              <a:t>Визначення</a:t>
            </a:r>
            <a:r>
              <a:rPr lang="ru-RU" sz="2000" dirty="0"/>
              <a:t> </a:t>
            </a:r>
            <a:r>
              <a:rPr lang="ru-RU" sz="2000" dirty="0" err="1"/>
              <a:t>результатів</a:t>
            </a:r>
            <a:r>
              <a:rPr lang="ru-RU" sz="2000" dirty="0"/>
              <a:t> проекту</a:t>
            </a:r>
          </a:p>
          <a:p>
            <a:pPr marL="0" lvl="1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0937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Основні акценти проекту/заявки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1" indent="0">
              <a:buNone/>
            </a:pPr>
            <a:r>
              <a:rPr lang="ru-RU" sz="2000" dirty="0"/>
              <a:t>4. </a:t>
            </a:r>
            <a:r>
              <a:rPr lang="ru-RU" sz="2000" dirty="0" err="1"/>
              <a:t>Попук</a:t>
            </a:r>
            <a:r>
              <a:rPr lang="ru-RU" sz="2000" dirty="0"/>
              <a:t> </a:t>
            </a:r>
            <a:r>
              <a:rPr lang="ru-RU" sz="2000" dirty="0" err="1"/>
              <a:t>партнерів</a:t>
            </a:r>
            <a:r>
              <a:rPr lang="ru-RU" sz="2000" dirty="0"/>
              <a:t> (</a:t>
            </a:r>
            <a:r>
              <a:rPr lang="ru-RU" sz="2000" dirty="0" err="1"/>
              <a:t>географія</a:t>
            </a:r>
            <a:r>
              <a:rPr lang="ru-RU" sz="2000" dirty="0"/>
              <a:t>, </a:t>
            </a:r>
            <a:r>
              <a:rPr lang="ru-RU" sz="2000" dirty="0" err="1"/>
              <a:t>соціальні</a:t>
            </a:r>
            <a:r>
              <a:rPr lang="ru-RU" sz="2000" dirty="0"/>
              <a:t> </a:t>
            </a:r>
            <a:r>
              <a:rPr lang="ru-RU" sz="2000" dirty="0" err="1"/>
              <a:t>аспекти</a:t>
            </a:r>
            <a:r>
              <a:rPr lang="ru-RU" sz="2000" dirty="0"/>
              <a:t>, </a:t>
            </a:r>
            <a:r>
              <a:rPr lang="ru-RU" sz="2000" dirty="0" err="1"/>
              <a:t>наукові</a:t>
            </a:r>
            <a:r>
              <a:rPr lang="ru-RU" sz="2000" dirty="0"/>
              <a:t>, </a:t>
            </a:r>
            <a:r>
              <a:rPr lang="ru-RU" sz="2000" dirty="0" err="1"/>
              <a:t>таметичні</a:t>
            </a:r>
            <a:r>
              <a:rPr lang="ru-RU" sz="2000" dirty="0"/>
              <a:t>, тип </a:t>
            </a:r>
            <a:r>
              <a:rPr lang="ru-RU" sz="2000" dirty="0" err="1"/>
              <a:t>одержувачів</a:t>
            </a:r>
            <a:r>
              <a:rPr lang="ru-RU" sz="2000" dirty="0"/>
              <a:t> </a:t>
            </a:r>
            <a:r>
              <a:rPr lang="ru-RU" sz="2000" dirty="0" err="1"/>
              <a:t>грантів</a:t>
            </a:r>
            <a:r>
              <a:rPr lang="ru-RU" sz="2000" dirty="0"/>
              <a:t> (</a:t>
            </a:r>
            <a:r>
              <a:rPr lang="ru-RU" sz="2000" dirty="0" err="1"/>
              <a:t>органи</a:t>
            </a:r>
            <a:r>
              <a:rPr lang="ru-RU" sz="2000" dirty="0"/>
              <a:t> </a:t>
            </a:r>
            <a:r>
              <a:rPr lang="ru-RU" sz="2000" dirty="0" err="1"/>
              <a:t>самоврядування</a:t>
            </a:r>
            <a:r>
              <a:rPr lang="ru-RU" sz="2000" dirty="0"/>
              <a:t>, </a:t>
            </a:r>
            <a:r>
              <a:rPr lang="ru-RU" sz="2000" dirty="0" err="1"/>
              <a:t>громадські</a:t>
            </a:r>
            <a:r>
              <a:rPr lang="ru-RU" sz="2000" dirty="0"/>
              <a:t> </a:t>
            </a:r>
            <a:r>
              <a:rPr lang="ru-RU" sz="2000" dirty="0" err="1"/>
              <a:t>об’єднання</a:t>
            </a:r>
            <a:r>
              <a:rPr lang="ru-RU" sz="2000" dirty="0"/>
              <a:t>, </a:t>
            </a:r>
            <a:r>
              <a:rPr lang="ru-RU" sz="2000" dirty="0" err="1"/>
              <a:t>заклади</a:t>
            </a:r>
            <a:r>
              <a:rPr lang="ru-RU" sz="2000" dirty="0"/>
              <a:t> </a:t>
            </a:r>
            <a:r>
              <a:rPr lang="ru-RU" sz="2000" dirty="0" err="1"/>
              <a:t>охорони</a:t>
            </a:r>
            <a:r>
              <a:rPr lang="ru-RU" sz="2000" dirty="0"/>
              <a:t> </a:t>
            </a:r>
            <a:r>
              <a:rPr lang="ru-RU" sz="2000" dirty="0" err="1"/>
              <a:t>здоров’я</a:t>
            </a:r>
            <a:r>
              <a:rPr lang="ru-RU" sz="2000" dirty="0"/>
              <a:t>, </a:t>
            </a:r>
            <a:r>
              <a:rPr lang="ru-RU" sz="2000" dirty="0" err="1"/>
              <a:t>освіти</a:t>
            </a:r>
            <a:r>
              <a:rPr lang="ru-RU" sz="2000" dirty="0"/>
              <a:t>, </a:t>
            </a:r>
            <a:r>
              <a:rPr lang="ru-RU" sz="2000" dirty="0" err="1"/>
              <a:t>соціального</a:t>
            </a:r>
            <a:r>
              <a:rPr lang="ru-RU" sz="2000" dirty="0"/>
              <a:t> </a:t>
            </a:r>
            <a:r>
              <a:rPr lang="ru-RU" sz="2000" dirty="0" err="1"/>
              <a:t>захисту</a:t>
            </a:r>
            <a:r>
              <a:rPr lang="ru-RU" sz="2000" dirty="0"/>
              <a:t>, </a:t>
            </a:r>
            <a:r>
              <a:rPr lang="ru-RU" sz="2000" dirty="0" err="1"/>
              <a:t>засоби</a:t>
            </a:r>
            <a:r>
              <a:rPr lang="ru-RU" sz="2000" dirty="0"/>
              <a:t> </a:t>
            </a:r>
            <a:r>
              <a:rPr lang="ru-RU" sz="2000" dirty="0" err="1"/>
              <a:t>масової</a:t>
            </a:r>
            <a:r>
              <a:rPr lang="ru-RU" sz="2000" dirty="0"/>
              <a:t> </a:t>
            </a:r>
            <a:r>
              <a:rPr lang="ru-RU" sz="2000" dirty="0" err="1"/>
              <a:t>інформації</a:t>
            </a:r>
            <a:r>
              <a:rPr lang="ru-RU" sz="2000" dirty="0"/>
              <a:t>, </a:t>
            </a:r>
            <a:r>
              <a:rPr lang="ru-RU" sz="2000" dirty="0" err="1"/>
              <a:t>ініціативні</a:t>
            </a:r>
            <a:r>
              <a:rPr lang="ru-RU" sz="2000" dirty="0"/>
              <a:t> </a:t>
            </a:r>
            <a:r>
              <a:rPr lang="ru-RU" sz="2000" dirty="0" err="1"/>
              <a:t>групи</a:t>
            </a:r>
            <a:r>
              <a:rPr lang="ru-RU" sz="2000" dirty="0"/>
              <a:t> </a:t>
            </a:r>
            <a:r>
              <a:rPr lang="ru-RU" sz="2000" dirty="0" err="1"/>
              <a:t>тощо</a:t>
            </a:r>
            <a:r>
              <a:rPr lang="ru-RU" sz="2000" dirty="0"/>
              <a:t>) </a:t>
            </a:r>
          </a:p>
          <a:p>
            <a:pPr marL="0" indent="0">
              <a:buNone/>
            </a:pPr>
            <a:r>
              <a:rPr lang="uk-UA" sz="2000" dirty="0"/>
              <a:t>5. О</a:t>
            </a:r>
            <a:r>
              <a:rPr lang="ru-RU" sz="2000" dirty="0" err="1"/>
              <a:t>днозначне</a:t>
            </a:r>
            <a:r>
              <a:rPr lang="ru-RU" sz="2000" dirty="0"/>
              <a:t> </a:t>
            </a:r>
            <a:r>
              <a:rPr lang="ru-RU" sz="2000" dirty="0" err="1"/>
              <a:t>визначення</a:t>
            </a:r>
            <a:r>
              <a:rPr lang="ru-RU" sz="2000" dirty="0"/>
              <a:t> </a:t>
            </a:r>
            <a:r>
              <a:rPr lang="ru-RU" sz="2000" dirty="0" err="1"/>
              <a:t>цільових</a:t>
            </a:r>
            <a:r>
              <a:rPr lang="ru-RU" sz="2000" dirty="0"/>
              <a:t> </a:t>
            </a:r>
            <a:r>
              <a:rPr lang="ru-RU" sz="2000" dirty="0" err="1"/>
              <a:t>груп</a:t>
            </a:r>
            <a:r>
              <a:rPr lang="ru-RU" sz="2000" dirty="0"/>
              <a:t> (….. гендерна </a:t>
            </a:r>
            <a:r>
              <a:rPr lang="ru-RU" sz="2000" dirty="0" err="1"/>
              <a:t>рівність</a:t>
            </a:r>
            <a:r>
              <a:rPr lang="ru-RU" sz="2000" dirty="0"/>
              <a:t>….).</a:t>
            </a:r>
          </a:p>
          <a:p>
            <a:pPr marL="0" indent="0">
              <a:buNone/>
            </a:pPr>
            <a:r>
              <a:rPr lang="ru-RU" sz="2000" dirty="0"/>
              <a:t>6. </a:t>
            </a:r>
            <a:r>
              <a:rPr lang="ru-RU" sz="2000" dirty="0" err="1"/>
              <a:t>Визначення</a:t>
            </a:r>
            <a:r>
              <a:rPr lang="ru-RU" sz="2000" dirty="0"/>
              <a:t>  </a:t>
            </a:r>
            <a:r>
              <a:rPr lang="ru-RU" sz="2000" dirty="0" err="1"/>
              <a:t>кінцевих</a:t>
            </a:r>
            <a:r>
              <a:rPr lang="ru-RU" sz="2000" dirty="0"/>
              <a:t> </a:t>
            </a:r>
            <a:r>
              <a:rPr lang="ru-RU" sz="2000" dirty="0" err="1"/>
              <a:t>бенефіціарів</a:t>
            </a:r>
            <a:r>
              <a:rPr lang="ru-RU" sz="2000" dirty="0"/>
              <a:t> (</a:t>
            </a:r>
            <a:r>
              <a:rPr lang="ru-RU" sz="2000" dirty="0" err="1"/>
              <a:t>фізичних</a:t>
            </a:r>
            <a:r>
              <a:rPr lang="ru-RU" sz="2000" dirty="0"/>
              <a:t> 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юридичних</a:t>
            </a:r>
            <a:r>
              <a:rPr lang="ru-RU" sz="2000" dirty="0"/>
              <a:t> </a:t>
            </a:r>
            <a:r>
              <a:rPr lang="ru-RU" sz="2000" dirty="0" err="1"/>
              <a:t>осіб</a:t>
            </a:r>
            <a:r>
              <a:rPr lang="ru-RU" sz="2000" dirty="0"/>
              <a:t>, </a:t>
            </a:r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отримують</a:t>
            </a:r>
            <a:r>
              <a:rPr lang="ru-RU" sz="2000" dirty="0"/>
              <a:t> </a:t>
            </a:r>
            <a:r>
              <a:rPr lang="ru-RU" sz="2000" dirty="0" err="1"/>
              <a:t>певні</a:t>
            </a:r>
            <a:r>
              <a:rPr lang="ru-RU" sz="2000" dirty="0"/>
              <a:t> </a:t>
            </a:r>
            <a:r>
              <a:rPr lang="ru-RU" sz="2000" dirty="0" err="1"/>
              <a:t>вигоди</a:t>
            </a:r>
            <a:r>
              <a:rPr lang="ru-RU" sz="2000" dirty="0"/>
              <a:t> у </a:t>
            </a:r>
            <a:r>
              <a:rPr lang="ru-RU" sz="2000" dirty="0" err="1"/>
              <a:t>результаті</a:t>
            </a:r>
            <a:r>
              <a:rPr lang="ru-RU" sz="2000" dirty="0"/>
              <a:t> </a:t>
            </a:r>
            <a:r>
              <a:rPr lang="ru-RU" sz="2000" dirty="0" err="1"/>
              <a:t>реалізації</a:t>
            </a:r>
            <a:r>
              <a:rPr lang="ru-RU" sz="2000" dirty="0"/>
              <a:t> проекту)</a:t>
            </a:r>
          </a:p>
          <a:p>
            <a:pPr marL="0" indent="0">
              <a:buNone/>
            </a:pPr>
            <a:r>
              <a:rPr lang="ru-RU" sz="2000" dirty="0"/>
              <a:t>7. </a:t>
            </a:r>
            <a:r>
              <a:rPr lang="ru-RU" sz="2000" dirty="0" err="1"/>
              <a:t>управління</a:t>
            </a:r>
            <a:r>
              <a:rPr lang="ru-RU" sz="2000" dirty="0"/>
              <a:t> і </a:t>
            </a:r>
            <a:r>
              <a:rPr lang="ru-RU" sz="2000" dirty="0" err="1"/>
              <a:t>фінансування</a:t>
            </a:r>
            <a:r>
              <a:rPr lang="ru-RU" sz="2000" dirty="0"/>
              <a:t> (</a:t>
            </a:r>
            <a:r>
              <a:rPr lang="ru-RU" sz="2000" dirty="0" err="1"/>
              <a:t>розмір</a:t>
            </a:r>
            <a:r>
              <a:rPr lang="ru-RU" sz="2000" dirty="0"/>
              <a:t> гранта та </a:t>
            </a:r>
            <a:r>
              <a:rPr lang="ru-RU" sz="2000" dirty="0" err="1"/>
              <a:t>розмір</a:t>
            </a:r>
            <a:r>
              <a:rPr lang="ru-RU" sz="2000" dirty="0"/>
              <a:t> </a:t>
            </a:r>
            <a:r>
              <a:rPr lang="ru-RU" sz="2000" dirty="0" err="1"/>
              <a:t>власного</a:t>
            </a:r>
            <a:r>
              <a:rPr lang="ru-RU" sz="2000" dirty="0"/>
              <a:t> </a:t>
            </a:r>
            <a:r>
              <a:rPr lang="ru-RU" sz="2000" dirty="0" err="1"/>
              <a:t>внеску</a:t>
            </a:r>
            <a:r>
              <a:rPr lang="ru-RU" sz="2000" dirty="0"/>
              <a:t> (</a:t>
            </a:r>
            <a:r>
              <a:rPr lang="ru-RU" sz="2000" dirty="0" err="1"/>
              <a:t>якщо</a:t>
            </a:r>
            <a:r>
              <a:rPr lang="ru-RU" sz="2000" dirty="0"/>
              <a:t> </a:t>
            </a:r>
            <a:r>
              <a:rPr lang="ru-RU" sz="2000" dirty="0" err="1"/>
              <a:t>передбачається</a:t>
            </a:r>
            <a:r>
              <a:rPr lang="ru-RU" sz="2000" dirty="0"/>
              <a:t>); </a:t>
            </a:r>
            <a:r>
              <a:rPr lang="ru-RU" sz="2000" dirty="0" err="1"/>
              <a:t>види</a:t>
            </a:r>
            <a:r>
              <a:rPr lang="ru-RU" sz="2000" dirty="0"/>
              <a:t> </a:t>
            </a:r>
            <a:r>
              <a:rPr lang="ru-RU" sz="2000" dirty="0" err="1"/>
              <a:t>діяльності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8. </a:t>
            </a:r>
            <a:r>
              <a:rPr lang="ru-RU" sz="2000" dirty="0" err="1"/>
              <a:t>наявність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 </a:t>
            </a:r>
            <a:r>
              <a:rPr lang="ru-RU" sz="2000" dirty="0" err="1"/>
              <a:t>моніторингу</a:t>
            </a:r>
            <a:r>
              <a:rPr lang="ru-RU" sz="2000" dirty="0"/>
              <a:t> та </a:t>
            </a:r>
            <a:r>
              <a:rPr lang="ru-RU" sz="2000" dirty="0" err="1"/>
              <a:t>оцінювання</a:t>
            </a:r>
            <a:endParaRPr lang="ru-RU" sz="2000" dirty="0"/>
          </a:p>
          <a:p>
            <a:pPr marL="0" indent="0">
              <a:buNone/>
            </a:pPr>
            <a:endParaRPr lang="ru-RU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відповідне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фінансове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та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економічне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обґрунтування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з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якого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має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бути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зрозуміло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що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користь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від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реалізації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проекту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переважає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витрати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ru-RU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нього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 err="1"/>
              <a:t>Підготовка</a:t>
            </a:r>
            <a:r>
              <a:rPr lang="ru-RU" sz="2000" dirty="0"/>
              <a:t> заявки та </a:t>
            </a:r>
            <a:r>
              <a:rPr lang="ru-RU" sz="2000" dirty="0" err="1"/>
              <a:t>супров</a:t>
            </a:r>
            <a:r>
              <a:rPr lang="uk-UA" sz="2000" dirty="0"/>
              <a:t>ід</a:t>
            </a:r>
            <a:r>
              <a:rPr lang="ru-RU" sz="2000" dirty="0"/>
              <a:t>них </a:t>
            </a:r>
            <a:r>
              <a:rPr lang="ru-RU" sz="2000" dirty="0" err="1"/>
              <a:t>документів</a:t>
            </a:r>
            <a:r>
              <a:rPr lang="ru-RU" sz="2000" dirty="0"/>
              <a:t> (</a:t>
            </a:r>
            <a:r>
              <a:rPr lang="ru-RU" sz="2000" b="1" dirty="0"/>
              <a:t>стандартна </a:t>
            </a:r>
            <a:r>
              <a:rPr lang="ru-RU" sz="2000" b="1" dirty="0" err="1"/>
              <a:t>аплікаційна</a:t>
            </a:r>
            <a:r>
              <a:rPr lang="ru-RU" sz="2000" b="1" dirty="0"/>
              <a:t> форма та </a:t>
            </a:r>
            <a:r>
              <a:rPr lang="ru-RU" sz="2000" b="1" dirty="0" err="1"/>
              <a:t>інші</a:t>
            </a:r>
            <a:r>
              <a:rPr lang="ru-RU" sz="2000" b="1" dirty="0"/>
              <a:t>)</a:t>
            </a:r>
            <a:endParaRPr lang="en-US" sz="2000" b="1" dirty="0"/>
          </a:p>
          <a:p>
            <a:pPr marL="0" indent="0">
              <a:buNone/>
            </a:pPr>
            <a:endParaRPr lang="uk-UA" sz="2000" dirty="0"/>
          </a:p>
          <a:p>
            <a:pPr marL="0" indent="0">
              <a:buNone/>
            </a:pPr>
            <a:endParaRPr lang="ru-RU" sz="2000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7707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Характерні</a:t>
            </a:r>
            <a:r>
              <a:rPr lang="ru-RU" dirty="0"/>
              <a:t> </a:t>
            </a:r>
            <a:r>
              <a:rPr lang="ru-RU" dirty="0" err="1"/>
              <a:t>особливості</a:t>
            </a:r>
            <a:r>
              <a:rPr lang="ru-RU" dirty="0"/>
              <a:t> проекту 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орієнтованість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ціль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/>
              <a:t>- проект </a:t>
            </a:r>
            <a:r>
              <a:rPr lang="ru-RU" dirty="0" err="1"/>
              <a:t>спрямований</a:t>
            </a:r>
            <a:r>
              <a:rPr lang="ru-RU" dirty="0"/>
              <a:t> на </a:t>
            </a:r>
            <a:r>
              <a:rPr lang="ru-RU" dirty="0" err="1"/>
              <a:t>досягнення</a:t>
            </a:r>
            <a:r>
              <a:rPr lang="ru-RU" dirty="0"/>
              <a:t> </a:t>
            </a:r>
            <a:r>
              <a:rPr lang="ru-RU" dirty="0" err="1"/>
              <a:t>певної</a:t>
            </a:r>
            <a:r>
              <a:rPr lang="ru-RU" dirty="0"/>
              <a:t> </a:t>
            </a:r>
            <a:r>
              <a:rPr lang="ru-RU" dirty="0" err="1"/>
              <a:t>поставленої</a:t>
            </a:r>
            <a:r>
              <a:rPr lang="ru-RU" dirty="0"/>
              <a:t> мети,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є не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сукупністю</a:t>
            </a:r>
            <a:r>
              <a:rPr lang="ru-RU" dirty="0"/>
              <a:t> </a:t>
            </a:r>
            <a:r>
              <a:rPr lang="ru-RU" dirty="0" err="1"/>
              <a:t>реалізованих</a:t>
            </a:r>
            <a:r>
              <a:rPr lang="ru-RU" dirty="0"/>
              <a:t> </a:t>
            </a:r>
            <a:r>
              <a:rPr lang="ru-RU" dirty="0" err="1"/>
              <a:t>заходів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/>
              <a:t>проведених</a:t>
            </a:r>
            <a:r>
              <a:rPr lang="ru-RU" dirty="0"/>
              <a:t> </a:t>
            </a:r>
            <a:r>
              <a:rPr lang="ru-RU" dirty="0" err="1"/>
              <a:t>семінарів</a:t>
            </a:r>
            <a:r>
              <a:rPr lang="ru-RU" dirty="0"/>
              <a:t>. </a:t>
            </a:r>
            <a:r>
              <a:rPr lang="ru-RU" dirty="0" err="1"/>
              <a:t>Надзвичайно</a:t>
            </a:r>
            <a:r>
              <a:rPr lang="ru-RU" dirty="0"/>
              <a:t> </a:t>
            </a:r>
            <a:r>
              <a:rPr lang="ru-RU" dirty="0" err="1"/>
              <a:t>важливо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заходи </a:t>
            </a:r>
            <a:r>
              <a:rPr lang="ru-RU" dirty="0" err="1"/>
              <a:t>допомагали</a:t>
            </a:r>
            <a:r>
              <a:rPr lang="ru-RU" dirty="0"/>
              <a:t> </a:t>
            </a:r>
            <a:r>
              <a:rPr lang="ru-RU" dirty="0" err="1"/>
              <a:t>досягти</a:t>
            </a:r>
            <a:r>
              <a:rPr lang="ru-RU" dirty="0"/>
              <a:t> </a:t>
            </a:r>
            <a:r>
              <a:rPr lang="ru-RU" dirty="0" err="1"/>
              <a:t>конкретної</a:t>
            </a:r>
            <a:r>
              <a:rPr lang="ru-RU" dirty="0"/>
              <a:t> мети, яку </a:t>
            </a:r>
            <a:r>
              <a:rPr lang="ru-RU" dirty="0" err="1"/>
              <a:t>ви</a:t>
            </a:r>
            <a:r>
              <a:rPr lang="ru-RU" dirty="0"/>
              <a:t> перед собою поставили. Такою метою </a:t>
            </a:r>
            <a:r>
              <a:rPr lang="ru-RU" dirty="0" err="1"/>
              <a:t>може</a:t>
            </a:r>
            <a:r>
              <a:rPr lang="ru-RU" dirty="0"/>
              <a:t> бути,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вдосконалення</a:t>
            </a:r>
            <a:r>
              <a:rPr lang="ru-RU" dirty="0"/>
              <a:t> </a:t>
            </a:r>
            <a:r>
              <a:rPr lang="ru-RU" dirty="0" err="1"/>
              <a:t>механізму</a:t>
            </a:r>
            <a:r>
              <a:rPr lang="ru-RU" dirty="0"/>
              <a:t> </a:t>
            </a:r>
            <a:r>
              <a:rPr lang="ru-RU" dirty="0" err="1"/>
              <a:t>надання</a:t>
            </a:r>
            <a:r>
              <a:rPr lang="ru-RU" dirty="0"/>
              <a:t> </a:t>
            </a:r>
            <a:r>
              <a:rPr lang="ru-RU" dirty="0" err="1"/>
              <a:t>адміністративних</a:t>
            </a:r>
            <a:r>
              <a:rPr lang="ru-RU" dirty="0"/>
              <a:t> </a:t>
            </a:r>
            <a:r>
              <a:rPr lang="ru-RU" dirty="0" err="1"/>
              <a:t>послуг</a:t>
            </a:r>
            <a:r>
              <a:rPr lang="ru-RU" dirty="0"/>
              <a:t> жителям </a:t>
            </a:r>
            <a:r>
              <a:rPr lang="ru-RU" dirty="0" err="1"/>
              <a:t>територіальної</a:t>
            </a:r>
            <a:r>
              <a:rPr lang="ru-RU" dirty="0"/>
              <a:t> </a:t>
            </a:r>
            <a:r>
              <a:rPr lang="ru-RU" dirty="0" err="1"/>
              <a:t>громади</a:t>
            </a:r>
            <a:r>
              <a:rPr lang="ru-RU" dirty="0"/>
              <a:t>. У такому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семінари</a:t>
            </a:r>
            <a:r>
              <a:rPr lang="ru-RU" dirty="0"/>
              <a:t> </a:t>
            </a:r>
            <a:r>
              <a:rPr lang="ru-RU" dirty="0" err="1"/>
              <a:t>виступатимуть</a:t>
            </a:r>
            <a:r>
              <a:rPr lang="ru-RU" dirty="0"/>
              <a:t> </a:t>
            </a:r>
            <a:r>
              <a:rPr lang="ru-RU" dirty="0" err="1"/>
              <a:t>засобами</a:t>
            </a:r>
            <a:r>
              <a:rPr lang="ru-RU" dirty="0"/>
              <a:t> </a:t>
            </a:r>
            <a:r>
              <a:rPr lang="ru-RU" dirty="0" err="1"/>
              <a:t>досягнення</a:t>
            </a:r>
            <a:r>
              <a:rPr lang="ru-RU" dirty="0"/>
              <a:t> </a:t>
            </a:r>
            <a:r>
              <a:rPr lang="ru-RU" dirty="0" err="1"/>
              <a:t>цієї</a:t>
            </a:r>
            <a:r>
              <a:rPr lang="ru-RU" dirty="0"/>
              <a:t> мети</a:t>
            </a:r>
          </a:p>
          <a:p>
            <a:pPr marL="0" indent="0">
              <a:buNone/>
            </a:pP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визначена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тривалість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ru-RU" dirty="0"/>
              <a:t>проект становить </a:t>
            </a:r>
            <a:r>
              <a:rPr lang="ru-RU" dirty="0" err="1"/>
              <a:t>певну</a:t>
            </a:r>
            <a:r>
              <a:rPr lang="ru-RU" dirty="0"/>
              <a:t> </a:t>
            </a:r>
            <a:r>
              <a:rPr lang="ru-RU" dirty="0" err="1"/>
              <a:t>цілісність</a:t>
            </a:r>
            <a:r>
              <a:rPr lang="ru-RU" dirty="0"/>
              <a:t>, </a:t>
            </a:r>
            <a:r>
              <a:rPr lang="ru-RU" dirty="0" err="1"/>
              <a:t>обмежену</a:t>
            </a:r>
            <a:r>
              <a:rPr lang="ru-RU" dirty="0"/>
              <a:t> в </a:t>
            </a:r>
            <a:r>
              <a:rPr lang="ru-RU" dirty="0" err="1"/>
              <a:t>часі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визначену</a:t>
            </a:r>
            <a:r>
              <a:rPr lang="ru-RU" dirty="0"/>
              <a:t> дату початку, </a:t>
            </a:r>
            <a:r>
              <a:rPr lang="ru-RU" dirty="0" err="1"/>
              <a:t>визначений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тривалості</a:t>
            </a:r>
            <a:r>
              <a:rPr lang="ru-RU" dirty="0"/>
              <a:t>, а </a:t>
            </a:r>
            <a:r>
              <a:rPr lang="ru-RU" dirty="0" err="1"/>
              <a:t>отже</a:t>
            </a:r>
            <a:r>
              <a:rPr lang="ru-RU" dirty="0"/>
              <a:t>, й </a:t>
            </a:r>
            <a:r>
              <a:rPr lang="ru-RU" dirty="0" err="1"/>
              <a:t>визначену</a:t>
            </a:r>
            <a:r>
              <a:rPr lang="ru-RU" dirty="0"/>
              <a:t> дату </a:t>
            </a:r>
            <a:r>
              <a:rPr lang="ru-RU" dirty="0" err="1"/>
              <a:t>закінчення</a:t>
            </a:r>
            <a:r>
              <a:rPr lang="ru-RU" dirty="0"/>
              <a:t>, </a:t>
            </a:r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значної</a:t>
            </a:r>
            <a:r>
              <a:rPr lang="ru-RU" dirty="0"/>
              <a:t> </a:t>
            </a:r>
            <a:r>
              <a:rPr lang="ru-RU" dirty="0" err="1"/>
              <a:t>організаційної</a:t>
            </a:r>
            <a:r>
              <a:rPr lang="ru-RU" dirty="0"/>
              <a:t> </a:t>
            </a:r>
            <a:r>
              <a:rPr lang="ru-RU" dirty="0" err="1"/>
              <a:t>майстерності</a:t>
            </a:r>
            <a:r>
              <a:rPr lang="ru-RU" dirty="0"/>
              <a:t>. У проектах з </a:t>
            </a:r>
            <a:r>
              <a:rPr lang="ru-RU" dirty="0" err="1"/>
              <a:t>надання</a:t>
            </a:r>
            <a:r>
              <a:rPr lang="ru-RU" dirty="0"/>
              <a:t> </a:t>
            </a:r>
            <a:r>
              <a:rPr lang="ru-RU" dirty="0" err="1"/>
              <a:t>міжнародної</a:t>
            </a:r>
            <a:r>
              <a:rPr lang="ru-RU" dirty="0"/>
              <a:t> </a:t>
            </a:r>
            <a:r>
              <a:rPr lang="ru-RU" dirty="0" err="1"/>
              <a:t>технічної</a:t>
            </a:r>
            <a:r>
              <a:rPr lang="ru-RU" dirty="0"/>
              <a:t> </a:t>
            </a:r>
            <a:r>
              <a:rPr lang="ru-RU" dirty="0" err="1"/>
              <a:t>допомоги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суворо</a:t>
            </a:r>
            <a:r>
              <a:rPr lang="ru-RU" dirty="0"/>
              <a:t> </a:t>
            </a:r>
            <a:r>
              <a:rPr lang="ru-RU" dirty="0" err="1"/>
              <a:t>підходять</a:t>
            </a:r>
            <a:r>
              <a:rPr lang="ru-RU" dirty="0"/>
              <a:t> до </a:t>
            </a:r>
            <a:r>
              <a:rPr lang="ru-RU" dirty="0" err="1"/>
              <a:t>питання</a:t>
            </a:r>
            <a:r>
              <a:rPr lang="ru-RU" dirty="0"/>
              <a:t> </a:t>
            </a:r>
            <a:r>
              <a:rPr lang="ru-RU" dirty="0" err="1"/>
              <a:t>дотримання</a:t>
            </a:r>
            <a:r>
              <a:rPr lang="ru-RU" dirty="0"/>
              <a:t> </a:t>
            </a:r>
            <a:r>
              <a:rPr lang="ru-RU" dirty="0" err="1"/>
              <a:t>термінів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 err="1"/>
              <a:t>Поєтапніть</a:t>
            </a:r>
            <a:r>
              <a:rPr lang="ru-RU" dirty="0"/>
              <a:t> </a:t>
            </a:r>
            <a:r>
              <a:rPr lang="ru-RU" dirty="0" err="1"/>
              <a:t>виплати</a:t>
            </a:r>
            <a:r>
              <a:rPr lang="ru-RU" dirty="0"/>
              <a:t> </a:t>
            </a:r>
            <a:r>
              <a:rPr lang="ru-RU" dirty="0" err="1"/>
              <a:t>коштів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 err="1"/>
              <a:t>Компенсація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завершення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-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2589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Цільові</a:t>
            </a:r>
            <a:r>
              <a:rPr lang="ru-RU" dirty="0"/>
              <a:t> </a:t>
            </a:r>
            <a:r>
              <a:rPr lang="ru-RU" dirty="0" err="1"/>
              <a:t>групи</a:t>
            </a:r>
            <a:r>
              <a:rPr lang="ru-RU" dirty="0"/>
              <a:t>/ </a:t>
            </a:r>
            <a:r>
              <a:rPr lang="ru-RU" dirty="0" err="1"/>
              <a:t>Кінцеві</a:t>
            </a:r>
            <a:r>
              <a:rPr lang="ru-RU" dirty="0"/>
              <a:t> </a:t>
            </a:r>
            <a:r>
              <a:rPr lang="ru-RU" dirty="0" err="1"/>
              <a:t>бенефіціари</a:t>
            </a:r>
            <a:r>
              <a:rPr lang="ru-RU" dirty="0"/>
              <a:t> 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err="1"/>
              <a:t>Цільові</a:t>
            </a:r>
            <a:r>
              <a:rPr lang="ru-RU" dirty="0"/>
              <a:t> </a:t>
            </a:r>
            <a:r>
              <a:rPr lang="ru-RU" dirty="0" err="1"/>
              <a:t>групи</a:t>
            </a:r>
            <a:r>
              <a:rPr lang="ru-RU" dirty="0"/>
              <a:t> (</a:t>
            </a:r>
            <a:r>
              <a:rPr lang="ru-RU" dirty="0" err="1"/>
              <a:t>цільова</a:t>
            </a:r>
            <a:r>
              <a:rPr lang="ru-RU" dirty="0"/>
              <a:t> </a:t>
            </a:r>
            <a:r>
              <a:rPr lang="ru-RU" dirty="0" err="1"/>
              <a:t>аудиторія</a:t>
            </a:r>
            <a:r>
              <a:rPr lang="ru-RU" dirty="0"/>
              <a:t>) – </a:t>
            </a:r>
            <a:r>
              <a:rPr lang="ru-RU" dirty="0" err="1"/>
              <a:t>ті</a:t>
            </a:r>
            <a:r>
              <a:rPr lang="ru-RU" dirty="0"/>
              <a:t>, на кого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 </a:t>
            </a:r>
            <a:r>
              <a:rPr lang="ru-RU" dirty="0" err="1"/>
              <a:t>спрямовані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проекту з метою </a:t>
            </a:r>
            <a:r>
              <a:rPr lang="ru-RU" dirty="0" err="1"/>
              <a:t>змінити</a:t>
            </a:r>
            <a:r>
              <a:rPr lang="ru-RU" dirty="0"/>
              <a:t> </a:t>
            </a:r>
            <a:r>
              <a:rPr lang="ru-RU" dirty="0" err="1"/>
              <a:t>їхню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спосіб</a:t>
            </a:r>
            <a:r>
              <a:rPr lang="ru-RU" dirty="0"/>
              <a:t> </a:t>
            </a:r>
            <a:r>
              <a:rPr lang="ru-RU" dirty="0" err="1"/>
              <a:t>діяльності</a:t>
            </a:r>
            <a:r>
              <a:rPr lang="ru-RU" dirty="0"/>
              <a:t> (</a:t>
            </a:r>
            <a:r>
              <a:rPr lang="ru-RU" dirty="0" err="1"/>
              <a:t>надати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знання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технічні</a:t>
            </a:r>
            <a:r>
              <a:rPr lang="ru-RU" dirty="0"/>
              <a:t> </a:t>
            </a:r>
            <a:r>
              <a:rPr lang="ru-RU" dirty="0" err="1"/>
              <a:t>можливості</a:t>
            </a:r>
            <a:r>
              <a:rPr lang="ru-RU" dirty="0"/>
              <a:t>, </a:t>
            </a:r>
            <a:r>
              <a:rPr lang="ru-RU" dirty="0" err="1"/>
              <a:t>застосувати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підходи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нову</a:t>
            </a:r>
            <a:r>
              <a:rPr lang="ru-RU" dirty="0"/>
              <a:t> практику </a:t>
            </a:r>
            <a:r>
              <a:rPr lang="ru-RU" dirty="0" err="1"/>
              <a:t>роботи</a:t>
            </a:r>
            <a:r>
              <a:rPr lang="ru-RU" dirty="0"/>
              <a:t>, </a:t>
            </a:r>
            <a:r>
              <a:rPr lang="ru-RU" dirty="0" err="1"/>
              <a:t>тощо</a:t>
            </a:r>
            <a:r>
              <a:rPr lang="ru-RU" dirty="0"/>
              <a:t>).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чітко</a:t>
            </a:r>
            <a:r>
              <a:rPr lang="ru-RU" dirty="0"/>
              <a:t> </a:t>
            </a:r>
            <a:r>
              <a:rPr lang="ru-RU" dirty="0" err="1"/>
              <a:t>виокремлювати</a:t>
            </a:r>
            <a:r>
              <a:rPr lang="ru-RU" dirty="0"/>
              <a:t> </a:t>
            </a:r>
            <a:r>
              <a:rPr lang="ru-RU" dirty="0" err="1"/>
              <a:t>цільову</a:t>
            </a:r>
            <a:r>
              <a:rPr lang="ru-RU" dirty="0"/>
              <a:t> </a:t>
            </a:r>
            <a:r>
              <a:rPr lang="ru-RU" dirty="0" err="1"/>
              <a:t>групу</a:t>
            </a:r>
            <a:r>
              <a:rPr lang="ru-RU" dirty="0"/>
              <a:t> з </a:t>
            </a:r>
            <a:r>
              <a:rPr lang="ru-RU" dirty="0" err="1"/>
              <a:t>маси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 за </a:t>
            </a:r>
            <a:r>
              <a:rPr lang="ru-RU" dirty="0" err="1"/>
              <a:t>певними</a:t>
            </a:r>
            <a:r>
              <a:rPr lang="ru-RU" dirty="0"/>
              <a:t> </a:t>
            </a:r>
            <a:r>
              <a:rPr lang="ru-RU" dirty="0" err="1"/>
              <a:t>ознаками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 </a:t>
            </a:r>
            <a:r>
              <a:rPr lang="ru-RU" dirty="0" err="1"/>
              <a:t>віком</a:t>
            </a:r>
            <a:r>
              <a:rPr lang="ru-RU" dirty="0"/>
              <a:t>, </a:t>
            </a:r>
            <a:r>
              <a:rPr lang="ru-RU" dirty="0" err="1"/>
              <a:t>зайняттям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місцем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, </a:t>
            </a:r>
            <a:r>
              <a:rPr lang="ru-RU" dirty="0" err="1"/>
              <a:t>проживанням</a:t>
            </a:r>
            <a:r>
              <a:rPr lang="ru-RU" dirty="0"/>
              <a:t>, </a:t>
            </a:r>
            <a:r>
              <a:rPr lang="ru-RU" dirty="0" err="1"/>
              <a:t>рівнем</a:t>
            </a:r>
            <a:r>
              <a:rPr lang="ru-RU" dirty="0"/>
              <a:t> </a:t>
            </a:r>
            <a:r>
              <a:rPr lang="ru-RU" dirty="0" err="1"/>
              <a:t>доходів</a:t>
            </a:r>
            <a:r>
              <a:rPr lang="ru-RU" dirty="0"/>
              <a:t> </a:t>
            </a:r>
            <a:r>
              <a:rPr lang="ru-RU" dirty="0" err="1"/>
              <a:t>тощо</a:t>
            </a:r>
            <a:r>
              <a:rPr lang="ru-RU" dirty="0"/>
              <a:t>).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Кінцеві</a:t>
            </a:r>
            <a:r>
              <a:rPr lang="ru-RU" dirty="0"/>
              <a:t> </a:t>
            </a:r>
            <a:r>
              <a:rPr lang="ru-RU" dirty="0" err="1"/>
              <a:t>бенефіціари</a:t>
            </a:r>
            <a:r>
              <a:rPr lang="ru-RU" dirty="0"/>
              <a:t> (</a:t>
            </a:r>
            <a:r>
              <a:rPr lang="ru-RU" dirty="0" err="1"/>
              <a:t>вигодоодержувачі</a:t>
            </a:r>
            <a:r>
              <a:rPr lang="ru-RU" dirty="0"/>
              <a:t>) - </a:t>
            </a:r>
            <a:r>
              <a:rPr lang="ru-RU" dirty="0" err="1"/>
              <a:t>ті</a:t>
            </a:r>
            <a:r>
              <a:rPr lang="ru-RU" dirty="0"/>
              <a:t>, </a:t>
            </a:r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отримає</a:t>
            </a:r>
            <a:r>
              <a:rPr lang="ru-RU" dirty="0"/>
              <a:t> </a:t>
            </a:r>
            <a:r>
              <a:rPr lang="ru-RU" dirty="0" err="1"/>
              <a:t>користь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проекту у </a:t>
            </a:r>
            <a:r>
              <a:rPr lang="ru-RU" dirty="0" err="1"/>
              <a:t>довгостроковій</a:t>
            </a:r>
            <a:r>
              <a:rPr lang="ru-RU" dirty="0"/>
              <a:t> </a:t>
            </a:r>
            <a:r>
              <a:rPr lang="ru-RU" dirty="0" err="1"/>
              <a:t>перспективі</a:t>
            </a:r>
            <a:r>
              <a:rPr lang="ru-RU" dirty="0"/>
              <a:t> на </a:t>
            </a:r>
            <a:r>
              <a:rPr lang="ru-RU" dirty="0" err="1"/>
              <a:t>рівні</a:t>
            </a:r>
            <a:r>
              <a:rPr lang="ru-RU" dirty="0"/>
              <a:t> </a:t>
            </a:r>
            <a:r>
              <a:rPr lang="ru-RU" dirty="0" err="1"/>
              <a:t>суспільства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окремої</a:t>
            </a:r>
            <a:r>
              <a:rPr lang="ru-RU" dirty="0"/>
              <a:t> </a:t>
            </a:r>
            <a:r>
              <a:rPr lang="ru-RU" dirty="0" err="1"/>
              <a:t>групи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“батьки </a:t>
            </a:r>
            <a:r>
              <a:rPr lang="ru-RU" dirty="0" err="1"/>
              <a:t>школярів</a:t>
            </a:r>
            <a:r>
              <a:rPr lang="ru-RU" dirty="0"/>
              <a:t>” - </a:t>
            </a:r>
            <a:r>
              <a:rPr lang="ru-RU" dirty="0" err="1"/>
              <a:t>внаслідок</a:t>
            </a:r>
            <a:r>
              <a:rPr lang="ru-RU" dirty="0"/>
              <a:t> </a:t>
            </a:r>
            <a:r>
              <a:rPr lang="ru-RU" dirty="0" err="1"/>
              <a:t>покращення</a:t>
            </a:r>
            <a:r>
              <a:rPr lang="ru-RU" dirty="0"/>
              <a:t> умов </a:t>
            </a:r>
            <a:r>
              <a:rPr lang="ru-RU" dirty="0" err="1"/>
              <a:t>навчання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дітей</a:t>
            </a:r>
            <a:r>
              <a:rPr lang="ru-RU" dirty="0"/>
              <a:t>). </a:t>
            </a:r>
            <a:r>
              <a:rPr lang="ru-RU" dirty="0" err="1"/>
              <a:t>Перелік</a:t>
            </a:r>
            <a:r>
              <a:rPr lang="ru-RU" dirty="0"/>
              <a:t> </a:t>
            </a:r>
            <a:r>
              <a:rPr lang="ru-RU" dirty="0" err="1"/>
              <a:t>кінцевих</a:t>
            </a:r>
            <a:r>
              <a:rPr lang="ru-RU" dirty="0"/>
              <a:t> </a:t>
            </a:r>
            <a:r>
              <a:rPr lang="ru-RU" dirty="0" err="1"/>
              <a:t>бенефіціарів</a:t>
            </a:r>
            <a:r>
              <a:rPr lang="ru-RU" dirty="0"/>
              <a:t> </a:t>
            </a:r>
            <a:r>
              <a:rPr lang="ru-RU" dirty="0" err="1"/>
              <a:t>зазвичай</a:t>
            </a:r>
            <a:r>
              <a:rPr lang="ru-RU" dirty="0"/>
              <a:t>, але не </a:t>
            </a:r>
            <a:r>
              <a:rPr lang="ru-RU" dirty="0" err="1"/>
              <a:t>завжди</a:t>
            </a:r>
            <a:r>
              <a:rPr lang="ru-RU" dirty="0"/>
              <a:t>, </a:t>
            </a:r>
            <a:r>
              <a:rPr lang="ru-RU" dirty="0" err="1"/>
              <a:t>включає</a:t>
            </a:r>
            <a:r>
              <a:rPr lang="ru-RU" dirty="0"/>
              <a:t> і </a:t>
            </a:r>
            <a:r>
              <a:rPr lang="ru-RU" dirty="0" err="1"/>
              <a:t>цільові</a:t>
            </a:r>
            <a:r>
              <a:rPr lang="ru-RU" dirty="0"/>
              <a:t> </a:t>
            </a:r>
            <a:r>
              <a:rPr lang="ru-RU" dirty="0" err="1"/>
              <a:t>групи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вони </a:t>
            </a:r>
            <a:r>
              <a:rPr lang="ru-RU" dirty="0" err="1"/>
              <a:t>також</a:t>
            </a:r>
            <a:r>
              <a:rPr lang="ru-RU" dirty="0"/>
              <a:t> часто </a:t>
            </a:r>
            <a:r>
              <a:rPr lang="ru-RU" dirty="0" err="1"/>
              <a:t>отримують</a:t>
            </a:r>
            <a:r>
              <a:rPr lang="ru-RU" dirty="0"/>
              <a:t> </a:t>
            </a:r>
            <a:r>
              <a:rPr lang="ru-RU" dirty="0" err="1"/>
              <a:t>довгострокову</a:t>
            </a:r>
            <a:r>
              <a:rPr lang="ru-RU" dirty="0"/>
              <a:t> </a:t>
            </a:r>
            <a:r>
              <a:rPr lang="ru-RU" dirty="0" err="1"/>
              <a:t>користь</a:t>
            </a:r>
            <a:r>
              <a:rPr lang="ru-RU" dirty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54321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331AFB-5AF6-4155-873A-334E9EAC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0" i="0" u="none" strike="noStrike" baseline="0" dirty="0" err="1">
                <a:solidFill>
                  <a:srgbClr val="000000"/>
                </a:solidFill>
              </a:rPr>
              <a:t>ідея</a:t>
            </a:r>
            <a:r>
              <a:rPr lang="ru-RU" sz="4400" b="0" i="0" u="none" strike="noStrike" baseline="0" dirty="0">
                <a:solidFill>
                  <a:srgbClr val="000000"/>
                </a:solidFill>
              </a:rPr>
              <a:t>     </a:t>
            </a:r>
            <a:r>
              <a:rPr lang="ru-RU" sz="4400" b="0" i="0" u="none" strike="noStrike" baseline="0" dirty="0" err="1">
                <a:solidFill>
                  <a:srgbClr val="000000"/>
                </a:solidFill>
              </a:rPr>
              <a:t>пропозиція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6601171-E35F-4A33-8879-1077D452A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Процес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перетворення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ідеї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на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пропозицію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можна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розділити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на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наступні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етапи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: </a:t>
            </a:r>
          </a:p>
          <a:p>
            <a:pPr>
              <a:buAutoNum type="arabicPeriod"/>
            </a:pPr>
            <a:r>
              <a:rPr lang="ru-RU" sz="2400" b="0" i="0" u="none" strike="noStrike" baseline="0" dirty="0">
                <a:solidFill>
                  <a:srgbClr val="000000"/>
                </a:solidFill>
              </a:rPr>
              <a:t>Переформуйте свою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ідею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в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дослідницьку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проблему.</a:t>
            </a:r>
          </a:p>
          <a:p>
            <a:pPr>
              <a:buAutoNum type="arabicPeriod"/>
            </a:pP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Визначте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пункти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,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які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необхідно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розглянути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,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щоб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вирішити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зазначену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проблему. </a:t>
            </a:r>
          </a:p>
          <a:p>
            <a:pPr>
              <a:buAutoNum type="arabicPeriod"/>
            </a:pPr>
            <a:r>
              <a:rPr lang="ru-RU" sz="2400" b="0" i="0" u="none" strike="noStrike" baseline="0" dirty="0">
                <a:solidFill>
                  <a:srgbClr val="000000"/>
                </a:solidFill>
              </a:rPr>
              <a:t>Для кожного пункту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складіть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план того, як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ви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будете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його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вирішувати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. </a:t>
            </a:r>
          </a:p>
          <a:p>
            <a:pPr>
              <a:buAutoNum type="arabicPeriod"/>
            </a:pPr>
            <a:r>
              <a:rPr lang="ru-RU" sz="2400" b="0" i="0" u="none" strike="noStrike" baseline="0" dirty="0">
                <a:solidFill>
                  <a:srgbClr val="000000"/>
                </a:solidFill>
              </a:rPr>
              <a:t>Для кожного з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цих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планів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подумайте,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яким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чином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ви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насправді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будете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виконувати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роботу -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чи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є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цей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 план </a:t>
            </a:r>
            <a:r>
              <a:rPr lang="ru-RU" sz="2400" b="0" i="0" u="none" strike="noStrike" baseline="0" dirty="0" err="1">
                <a:solidFill>
                  <a:srgbClr val="000000"/>
                </a:solidFill>
              </a:rPr>
              <a:t>здійсненним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?</a:t>
            </a:r>
          </a:p>
          <a:p>
            <a:pPr marL="0" indent="0">
              <a:buNone/>
            </a:pPr>
            <a:r>
              <a:rPr lang="uk-UA" sz="1800" b="0" i="0" u="none" strike="noStrike" baseline="0" dirty="0">
                <a:solidFill>
                  <a:srgbClr val="000000"/>
                </a:solidFill>
                <a:latin typeface="AAAAAM+PalatinoLinotype-Roman"/>
              </a:rPr>
              <a:t>Донори фінансують діяльність, а не ідеї. Незалежно від того, наскільки хорошими є ваші ідеї, ви повинні трансформувати їх у конкретні заходи, щоб отримати фінансування.</a:t>
            </a:r>
            <a:endParaRPr lang="uk-UA" sz="2400" dirty="0"/>
          </a:p>
        </p:txBody>
      </p:sp>
      <p:cxnSp>
        <p:nvCxnSpPr>
          <p:cNvPr id="5" name="Пряма зі стрілкою 4">
            <a:extLst>
              <a:ext uri="{FF2B5EF4-FFF2-40B4-BE49-F238E27FC236}">
                <a16:creationId xmlns:a16="http://schemas.microsoft.com/office/drawing/2014/main" id="{99AED3A5-D59D-456E-AD51-5DFB121F47AE}"/>
              </a:ext>
            </a:extLst>
          </p:cNvPr>
          <p:cNvCxnSpPr/>
          <p:nvPr/>
        </p:nvCxnSpPr>
        <p:spPr>
          <a:xfrm>
            <a:off x="3419872" y="908720"/>
            <a:ext cx="360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39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Проблема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uk-UA" dirty="0"/>
              <a:t>Проблема – те, що планується бути вирішеним</a:t>
            </a:r>
          </a:p>
          <a:p>
            <a:pPr marL="0" indent="0">
              <a:buNone/>
            </a:pPr>
            <a:r>
              <a:rPr lang="uk-UA" dirty="0"/>
              <a:t>Правильно сформульована </a:t>
            </a:r>
            <a:r>
              <a:rPr lang="uk-UA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проблема має повністю відповідати очікуваному результату </a:t>
            </a:r>
            <a:r>
              <a:rPr lang="uk-UA" dirty="0"/>
              <a:t>в майбутньому</a:t>
            </a:r>
          </a:p>
          <a:p>
            <a:pPr marL="0" indent="0">
              <a:buNone/>
            </a:pPr>
            <a:r>
              <a:rPr lang="uk-UA" dirty="0"/>
              <a:t>Переважно для проекту будь-яку проблему варто КОНКРЕТИЗУВАТИ. </a:t>
            </a:r>
          </a:p>
          <a:p>
            <a:pPr marL="0" indent="0">
              <a:buNone/>
            </a:pPr>
            <a:r>
              <a:rPr lang="ru-RU" dirty="0"/>
              <a:t>Не треба </a:t>
            </a:r>
            <a:r>
              <a:rPr lang="ru-RU" dirty="0" err="1"/>
              <a:t>зазначати</a:t>
            </a:r>
            <a:r>
              <a:rPr lang="ru-RU" dirty="0"/>
              <a:t> проблему </a:t>
            </a:r>
            <a:r>
              <a:rPr lang="ru-RU" dirty="0" err="1"/>
              <a:t>занадто</a:t>
            </a:r>
            <a:r>
              <a:rPr lang="ru-RU" dirty="0"/>
              <a:t> </a:t>
            </a:r>
            <a:r>
              <a:rPr lang="ru-RU" dirty="0" err="1"/>
              <a:t>загально</a:t>
            </a:r>
            <a:r>
              <a:rPr lang="ru-RU" dirty="0"/>
              <a:t>! Проект </a:t>
            </a:r>
            <a:r>
              <a:rPr lang="ru-RU" dirty="0" err="1"/>
              <a:t>впливає</a:t>
            </a:r>
            <a:r>
              <a:rPr lang="ru-RU" dirty="0"/>
              <a:t> на </a:t>
            </a:r>
            <a:r>
              <a:rPr lang="ru-RU" dirty="0" err="1"/>
              <a:t>вирішення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, і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бути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вимірюваним</a:t>
            </a:r>
            <a:r>
              <a:rPr lang="ru-RU" dirty="0"/>
              <a:t>!</a:t>
            </a:r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5506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AE105-DC4E-42B1-B24F-E0ACC2B16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Формування ідеї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273FDC-82AE-42AB-954F-8A6EED5EE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147248" cy="47385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uk-UA" sz="3400" dirty="0"/>
              <a:t>Формування ідеї для подачі на грант – це ключовий етап, від якого залежить успіх заявки.  Ітераційний процес передбачає коригування на будь якому етапі</a:t>
            </a:r>
          </a:p>
          <a:p>
            <a:pPr marL="0" indent="0">
              <a:buNone/>
            </a:pPr>
            <a:r>
              <a:rPr lang="uk-UA" sz="3400" b="1" dirty="0"/>
              <a:t>1. Визначте проблему</a:t>
            </a:r>
          </a:p>
          <a:p>
            <a:pPr marL="0" indent="0">
              <a:buNone/>
            </a:pPr>
            <a:r>
              <a:rPr lang="uk-UA" sz="3400" dirty="0"/>
              <a:t>Опис має бути чітким, актуальним і підкріпленим фактами. Важливо показати, що проблема є значущою для цільової аудиторії та відповідає пріоритетам </a:t>
            </a:r>
            <a:r>
              <a:rPr lang="uk-UA" sz="3400" dirty="0" err="1"/>
              <a:t>грантодавця</a:t>
            </a:r>
            <a:r>
              <a:rPr lang="uk-UA" sz="3400" dirty="0"/>
              <a:t>.</a:t>
            </a:r>
          </a:p>
          <a:p>
            <a:pPr marL="1074738" indent="0">
              <a:buNone/>
            </a:pPr>
            <a:r>
              <a:rPr lang="uk-UA" sz="2500" dirty="0"/>
              <a:t>Відсутність ефективного просторового планування в громадах України гальмує їх розвиток та призводить до хаотичної забудови. Це ускладнює залучення інвестицій, знижує якість життя мешканців та екологічну стійкість регіонів</a:t>
            </a:r>
          </a:p>
          <a:p>
            <a:pPr marL="0" indent="0">
              <a:buNone/>
            </a:pPr>
            <a:r>
              <a:rPr lang="uk-UA" sz="3400" b="1" dirty="0"/>
              <a:t>2. Обґрунтуйте важливість вирішення</a:t>
            </a:r>
          </a:p>
          <a:p>
            <a:pPr marL="0" indent="0">
              <a:buNone/>
            </a:pPr>
            <a:r>
              <a:rPr lang="uk-UA" sz="3400" dirty="0"/>
              <a:t>Продемонструйте наслідки бездіяльності та можливі вигоди від реалізації вашої ідеї.</a:t>
            </a:r>
          </a:p>
          <a:p>
            <a:pPr marL="1074738" indent="0">
              <a:spcBef>
                <a:spcPts val="0"/>
              </a:spcBef>
              <a:buNone/>
            </a:pPr>
            <a:r>
              <a:rPr lang="uk-UA" sz="2500" dirty="0"/>
              <a:t>Впровадження сучасних інструментів просторового планування дозволить підвищити прозорість прийняття рішень, ефективність управління земельними ресурсами, сприятиме розвитку громад та залученню міжнародних інвестицій.</a:t>
            </a:r>
          </a:p>
          <a:p>
            <a:pPr marL="0" indent="0">
              <a:buNone/>
            </a:pPr>
            <a:r>
              <a:rPr lang="uk-UA" b="1" dirty="0"/>
              <a:t>3</a:t>
            </a:r>
            <a:r>
              <a:rPr lang="uk-UA" sz="3400" b="1" dirty="0"/>
              <a:t>. Визначте цілі та завдання</a:t>
            </a:r>
          </a:p>
          <a:p>
            <a:pPr marL="0" indent="0">
              <a:buNone/>
            </a:pPr>
            <a:r>
              <a:rPr lang="uk-UA" sz="3400" dirty="0"/>
              <a:t>Цілі мають бути </a:t>
            </a:r>
            <a:r>
              <a:rPr lang="en-US" sz="3400" dirty="0"/>
              <a:t>SMART (</a:t>
            </a:r>
            <a:r>
              <a:rPr lang="uk-UA" sz="3400" dirty="0"/>
              <a:t>конкретні, вимірювані, досяжні, релевантні, обмежені в часі). </a:t>
            </a:r>
            <a:r>
              <a:rPr lang="ru-RU" sz="3400" dirty="0" err="1"/>
              <a:t>Конкретні</a:t>
            </a:r>
            <a:r>
              <a:rPr lang="ru-RU" sz="3400" dirty="0"/>
              <a:t> </a:t>
            </a:r>
            <a:r>
              <a:rPr lang="ru-RU" sz="3400" dirty="0" err="1"/>
              <a:t>цілі</a:t>
            </a:r>
            <a:r>
              <a:rPr lang="ru-RU" sz="3400" dirty="0"/>
              <a:t> – </a:t>
            </a:r>
            <a:r>
              <a:rPr lang="ru-RU" sz="3400" dirty="0" err="1"/>
              <a:t>частина</a:t>
            </a:r>
            <a:r>
              <a:rPr lang="ru-RU" sz="3400" dirty="0"/>
              <a:t> мети, </a:t>
            </a:r>
            <a:r>
              <a:rPr lang="ru-RU" sz="3400" dirty="0" err="1"/>
              <a:t>що</a:t>
            </a:r>
            <a:r>
              <a:rPr lang="ru-RU" sz="3400" dirty="0"/>
              <a:t> </a:t>
            </a:r>
            <a:r>
              <a:rPr lang="ru-RU" sz="3400" dirty="0" err="1"/>
              <a:t>має</a:t>
            </a:r>
            <a:r>
              <a:rPr lang="ru-RU" sz="3400" dirty="0"/>
              <a:t> </a:t>
            </a:r>
            <a:r>
              <a:rPr lang="ru-RU" sz="3400" dirty="0" err="1"/>
              <a:t>логічно</a:t>
            </a:r>
            <a:r>
              <a:rPr lang="ru-RU" sz="3400" dirty="0"/>
              <a:t> </a:t>
            </a:r>
            <a:r>
              <a:rPr lang="ru-RU" sz="3400" dirty="0" err="1"/>
              <a:t>виокремлений</a:t>
            </a:r>
            <a:r>
              <a:rPr lang="ru-RU" sz="3400" dirty="0"/>
              <a:t> </a:t>
            </a:r>
            <a:r>
              <a:rPr lang="ru-RU" sz="3400" dirty="0" err="1"/>
              <a:t>результат.Сукупність</a:t>
            </a:r>
            <a:r>
              <a:rPr lang="ru-RU" sz="3400" dirty="0"/>
              <a:t> </a:t>
            </a:r>
            <a:r>
              <a:rPr lang="ru-RU" sz="3400" dirty="0" err="1"/>
              <a:t>завдань</a:t>
            </a:r>
            <a:r>
              <a:rPr lang="ru-RU" sz="3400" dirty="0"/>
              <a:t> повинна </a:t>
            </a:r>
            <a:r>
              <a:rPr lang="ru-RU" sz="3400" dirty="0" err="1"/>
              <a:t>розкривати</a:t>
            </a:r>
            <a:r>
              <a:rPr lang="ru-RU" sz="3400" dirty="0"/>
              <a:t> </a:t>
            </a:r>
            <a:r>
              <a:rPr lang="ru-RU" sz="3400" dirty="0" err="1"/>
              <a:t>загальний</a:t>
            </a:r>
            <a:r>
              <a:rPr lang="ru-RU" sz="3400" dirty="0"/>
              <a:t> </a:t>
            </a:r>
            <a:r>
              <a:rPr lang="ru-RU" sz="3400" dirty="0" err="1"/>
              <a:t>очікуваний</a:t>
            </a:r>
            <a:r>
              <a:rPr lang="ru-RU" sz="3400" dirty="0"/>
              <a:t> результат, </a:t>
            </a:r>
            <a:r>
              <a:rPr lang="ru-RU" sz="3400" dirty="0" err="1"/>
              <a:t>тобто</a:t>
            </a:r>
            <a:r>
              <a:rPr lang="ru-RU" sz="3400" dirty="0"/>
              <a:t> </a:t>
            </a:r>
            <a:r>
              <a:rPr lang="ru-RU" sz="3400" dirty="0" err="1"/>
              <a:t>окреслювати</a:t>
            </a:r>
            <a:r>
              <a:rPr lang="ru-RU" sz="3400" dirty="0"/>
              <a:t> мету </a:t>
            </a:r>
            <a:r>
              <a:rPr lang="ru-RU" sz="3400" dirty="0" err="1"/>
              <a:t>загалом</a:t>
            </a:r>
            <a:r>
              <a:rPr lang="ru-RU" sz="3400" dirty="0"/>
              <a:t>.</a:t>
            </a:r>
          </a:p>
          <a:p>
            <a:pPr marL="0" indent="0">
              <a:buNone/>
            </a:pPr>
            <a:r>
              <a:rPr lang="ru-RU" sz="3400" dirty="0" err="1"/>
              <a:t>Завдання</a:t>
            </a:r>
            <a:r>
              <a:rPr lang="ru-RU" sz="3400" dirty="0"/>
              <a:t> </a:t>
            </a:r>
            <a:r>
              <a:rPr lang="ru-RU" sz="3400" dirty="0" err="1"/>
              <a:t>розкривається</a:t>
            </a:r>
            <a:r>
              <a:rPr lang="ru-RU" sz="3400" dirty="0"/>
              <a:t> </a:t>
            </a:r>
            <a:r>
              <a:rPr lang="ru-RU" sz="3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комплексом </a:t>
            </a:r>
            <a:r>
              <a:rPr lang="ru-RU" sz="3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заходів</a:t>
            </a:r>
            <a:r>
              <a:rPr lang="ru-RU" sz="3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  <a:r>
              <a:rPr lang="ru-RU" sz="3400" dirty="0" err="1"/>
              <a:t>Якщо</a:t>
            </a:r>
            <a:r>
              <a:rPr lang="ru-RU" sz="3400" dirty="0"/>
              <a:t> у </a:t>
            </a:r>
            <a:r>
              <a:rPr lang="ru-RU" sz="3400" dirty="0" err="1"/>
              <a:t>завданні</a:t>
            </a:r>
            <a:r>
              <a:rPr lang="ru-RU" sz="3400" dirty="0"/>
              <a:t> один </a:t>
            </a:r>
            <a:r>
              <a:rPr lang="ru-RU" sz="3400" dirty="0" err="1"/>
              <a:t>захід</a:t>
            </a:r>
            <a:r>
              <a:rPr lang="ru-RU" sz="3400" dirty="0"/>
              <a:t> – </a:t>
            </a:r>
            <a:r>
              <a:rPr lang="ru-RU" sz="3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</a:t>
            </a:r>
            <a:r>
              <a:rPr lang="ru-RU" sz="3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не </a:t>
            </a:r>
            <a:r>
              <a:rPr lang="ru-RU" sz="3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завдання</a:t>
            </a:r>
            <a:r>
              <a:rPr lang="ru-RU" sz="3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uk-UA" sz="3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uk-UA" dirty="0"/>
          </a:p>
          <a:p>
            <a:pPr marL="1074738" indent="0">
              <a:buNone/>
            </a:pPr>
            <a:r>
              <a:rPr lang="ru-RU" sz="2500" dirty="0" err="1"/>
              <a:t>Підвищити</a:t>
            </a:r>
            <a:r>
              <a:rPr lang="ru-RU" sz="2500" dirty="0"/>
              <a:t> </a:t>
            </a:r>
            <a:r>
              <a:rPr lang="ru-RU" sz="2500" dirty="0" err="1"/>
              <a:t>спроможність</a:t>
            </a:r>
            <a:r>
              <a:rPr lang="ru-RU" sz="2500" dirty="0"/>
              <a:t> </a:t>
            </a:r>
            <a:r>
              <a:rPr lang="ru-RU" sz="2500" dirty="0" err="1"/>
              <a:t>місцевих</a:t>
            </a:r>
            <a:r>
              <a:rPr lang="ru-RU" sz="2500" dirty="0"/>
              <a:t> громад у </a:t>
            </a:r>
            <a:r>
              <a:rPr lang="ru-RU" sz="2500" dirty="0" err="1"/>
              <a:t>використанні</a:t>
            </a:r>
            <a:r>
              <a:rPr lang="ru-RU" sz="2500" dirty="0"/>
              <a:t> </a:t>
            </a:r>
            <a:r>
              <a:rPr lang="ru-RU" sz="2500" dirty="0" err="1"/>
              <a:t>цифрових</a:t>
            </a:r>
            <a:r>
              <a:rPr lang="ru-RU" sz="2500" dirty="0"/>
              <a:t> </a:t>
            </a:r>
            <a:r>
              <a:rPr lang="ru-RU" sz="2500" dirty="0" err="1"/>
              <a:t>інструментів</a:t>
            </a:r>
            <a:r>
              <a:rPr lang="ru-RU" sz="2500" dirty="0"/>
              <a:t> </a:t>
            </a:r>
            <a:r>
              <a:rPr lang="ru-RU" sz="2500" dirty="0" err="1"/>
              <a:t>просторового</a:t>
            </a:r>
            <a:r>
              <a:rPr lang="ru-RU" sz="2500" dirty="0"/>
              <a:t> </a:t>
            </a:r>
            <a:r>
              <a:rPr lang="ru-RU" sz="2500" dirty="0" err="1"/>
              <a:t>планування</a:t>
            </a:r>
            <a:r>
              <a:rPr lang="ru-RU" sz="2500" dirty="0"/>
              <a:t>. </a:t>
            </a:r>
          </a:p>
          <a:p>
            <a:pPr marL="1616075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uk-UA" altLang="uk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Провести серію тренінгів для муніципалітетів; </a:t>
            </a:r>
          </a:p>
          <a:p>
            <a:pPr marL="1616075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uk-UA" altLang="uk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Розробити платформу для управління земельними ресурсами; </a:t>
            </a:r>
          </a:p>
          <a:p>
            <a:pPr marL="1616075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uk-UA" altLang="uk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Підготувати рекомендації щодо вдосконалення законодавства. </a:t>
            </a:r>
            <a:endParaRPr lang="uk-UA" sz="2500" dirty="0"/>
          </a:p>
        </p:txBody>
      </p:sp>
    </p:spTree>
    <p:extLst>
      <p:ext uri="{BB962C8B-B14F-4D97-AF65-F5344CB8AC3E}">
        <p14:creationId xmlns:p14="http://schemas.microsoft.com/office/powerpoint/2010/main" val="1907316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Цілі, завдання 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цілі</a:t>
            </a:r>
            <a:r>
              <a:rPr lang="ru-RU" dirty="0"/>
              <a:t> – </a:t>
            </a:r>
            <a:r>
              <a:rPr lang="ru-RU" dirty="0" err="1"/>
              <a:t>частина</a:t>
            </a:r>
            <a:r>
              <a:rPr lang="ru-RU" dirty="0"/>
              <a:t> мети,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логічно</a:t>
            </a:r>
            <a:r>
              <a:rPr lang="ru-RU" dirty="0"/>
              <a:t> </a:t>
            </a:r>
            <a:r>
              <a:rPr lang="ru-RU" dirty="0" err="1"/>
              <a:t>виокремлений</a:t>
            </a:r>
            <a:r>
              <a:rPr lang="ru-RU" dirty="0"/>
              <a:t> результат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Сукупність</a:t>
            </a:r>
            <a:r>
              <a:rPr lang="ru-RU" dirty="0"/>
              <a:t> </a:t>
            </a:r>
            <a:r>
              <a:rPr lang="ru-RU" dirty="0" err="1"/>
              <a:t>завдань</a:t>
            </a:r>
            <a:r>
              <a:rPr lang="ru-RU" dirty="0"/>
              <a:t> повинна </a:t>
            </a:r>
            <a:r>
              <a:rPr lang="ru-RU" dirty="0" err="1"/>
              <a:t>розкривати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очікуваний</a:t>
            </a:r>
            <a:r>
              <a:rPr lang="ru-RU" dirty="0"/>
              <a:t> результат,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окреслювати</a:t>
            </a:r>
            <a:r>
              <a:rPr lang="ru-RU" dirty="0"/>
              <a:t> мету </a:t>
            </a:r>
            <a:r>
              <a:rPr lang="ru-RU" dirty="0" err="1"/>
              <a:t>загалом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dirty="0" err="1"/>
              <a:t>розкривається</a:t>
            </a: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комплексом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заходів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  <a:r>
              <a:rPr lang="ru-RU" dirty="0" err="1"/>
              <a:t>Якщо</a:t>
            </a:r>
            <a:r>
              <a:rPr lang="ru-RU" dirty="0"/>
              <a:t> у </a:t>
            </a:r>
            <a:r>
              <a:rPr lang="ru-RU" dirty="0" err="1"/>
              <a:t>завданні</a:t>
            </a:r>
            <a:r>
              <a:rPr lang="ru-RU" dirty="0"/>
              <a:t> один </a:t>
            </a:r>
            <a:r>
              <a:rPr lang="ru-RU" dirty="0" err="1"/>
              <a:t>захід</a:t>
            </a:r>
            <a:r>
              <a:rPr lang="ru-RU" dirty="0"/>
              <a:t> –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не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завдання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uk-UA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508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5F6A-47DD-4421-82CE-8BB25959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2854E9E-C01C-496C-BFED-5CA06118B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uk-UA" b="1" dirty="0"/>
              <a:t>4. Методологію реалізації</a:t>
            </a:r>
          </a:p>
          <a:p>
            <a:pPr marL="0" indent="0">
              <a:buNone/>
            </a:pPr>
            <a:r>
              <a:rPr lang="uk-UA" dirty="0"/>
              <a:t>Якими способами буде досягнуто мету? Які інструменти, ресурси та партнерства будуть залучені?</a:t>
            </a:r>
          </a:p>
          <a:p>
            <a:pPr marL="1074738" indent="0">
              <a:buNone/>
            </a:pPr>
            <a:r>
              <a:rPr lang="uk-UA" sz="2500" i="1" dirty="0"/>
              <a:t>створення навчальної програми ( структура програми, навчальні матеріали), проведення тренінгів, пілотне тестування платформи у трьох громадах. Буде залучено експертів із просторового планування, ІТ-фахівців та представників місцевої влади."</a:t>
            </a:r>
            <a:endParaRPr lang="uk-UA" sz="2500" dirty="0"/>
          </a:p>
          <a:p>
            <a:pPr marL="0" indent="0">
              <a:buNone/>
            </a:pPr>
            <a:r>
              <a:rPr lang="uk-UA" b="1" dirty="0"/>
              <a:t>5. Очікувані результати та вплив</a:t>
            </a:r>
          </a:p>
          <a:p>
            <a:pPr marL="0" indent="0">
              <a:buNone/>
            </a:pPr>
            <a:r>
              <a:rPr lang="uk-UA" dirty="0"/>
              <a:t>Які конкретні зміни відбудуться після реалізації </a:t>
            </a:r>
            <a:r>
              <a:rPr lang="uk-UA" dirty="0" err="1"/>
              <a:t>проєкту</a:t>
            </a:r>
            <a:r>
              <a:rPr lang="uk-UA" dirty="0"/>
              <a:t>? Як вони будуть вимірюватися?</a:t>
            </a:r>
          </a:p>
          <a:p>
            <a:pPr marL="1074738" indent="0">
              <a:buNone/>
            </a:pPr>
            <a:r>
              <a:rPr lang="uk-UA" sz="2500" dirty="0"/>
              <a:t>Підвищення цифрової грамотності 50 муніципальних службовців;</a:t>
            </a:r>
          </a:p>
          <a:p>
            <a:pPr marL="1074738" indent="0">
              <a:buNone/>
            </a:pPr>
            <a:r>
              <a:rPr lang="uk-UA" sz="2500" dirty="0"/>
              <a:t>Створення інтерактивної ГІС-платформи для 3 пілотних громад;</a:t>
            </a:r>
          </a:p>
          <a:p>
            <a:pPr marL="1074738" indent="0">
              <a:buNone/>
            </a:pPr>
            <a:r>
              <a:rPr lang="uk-UA" sz="2500" dirty="0"/>
              <a:t>Впровадження рекомендацій у 5 регіональних стратегіях розвитку.</a:t>
            </a:r>
          </a:p>
          <a:p>
            <a:pPr marL="0" indent="0">
              <a:buNone/>
            </a:pPr>
            <a:r>
              <a:rPr lang="uk-UA" b="1" dirty="0"/>
              <a:t>6. Оцінка бюджету</a:t>
            </a:r>
          </a:p>
          <a:p>
            <a:pPr marL="0" indent="0">
              <a:buNone/>
            </a:pPr>
            <a:r>
              <a:rPr lang="uk-UA" dirty="0"/>
              <a:t>Розподіліть кошти відповідно до потреб (зарплати, обладнання, заходи, адміністрування).</a:t>
            </a:r>
          </a:p>
          <a:p>
            <a:pPr marL="1074738" indent="0">
              <a:buNone/>
            </a:pPr>
            <a:r>
              <a:rPr lang="uk-UA" sz="2500" dirty="0"/>
              <a:t>Розробка навчальної програми – </a:t>
            </a:r>
            <a:r>
              <a:rPr lang="uk-UA" sz="2500" dirty="0" err="1"/>
              <a:t>ххххх</a:t>
            </a:r>
            <a:r>
              <a:rPr lang="uk-UA" sz="2500" dirty="0"/>
              <a:t> євро</a:t>
            </a:r>
          </a:p>
          <a:p>
            <a:pPr marL="1074738" indent="0">
              <a:buNone/>
            </a:pPr>
            <a:r>
              <a:rPr lang="uk-UA" sz="2500" dirty="0"/>
              <a:t>Закупівля програмного забезпечення – </a:t>
            </a:r>
            <a:r>
              <a:rPr lang="uk-UA" sz="2500" dirty="0" err="1"/>
              <a:t>ххххх</a:t>
            </a:r>
            <a:r>
              <a:rPr lang="uk-UA" sz="2500" dirty="0"/>
              <a:t> євро</a:t>
            </a:r>
          </a:p>
          <a:p>
            <a:pPr marL="1074738" indent="0">
              <a:buNone/>
            </a:pPr>
            <a:r>
              <a:rPr lang="uk-UA" sz="2500" dirty="0"/>
              <a:t>Організація тренінгів – </a:t>
            </a:r>
            <a:r>
              <a:rPr lang="uk-UA" sz="2500" dirty="0" err="1"/>
              <a:t>ххххх</a:t>
            </a:r>
            <a:r>
              <a:rPr lang="uk-UA" sz="2500" dirty="0"/>
              <a:t> євро</a:t>
            </a:r>
          </a:p>
          <a:p>
            <a:pPr marL="0" indent="0">
              <a:buNone/>
            </a:pPr>
            <a:r>
              <a:rPr lang="uk-UA" b="1" dirty="0"/>
              <a:t>7. Довгострокова стійкість</a:t>
            </a:r>
          </a:p>
          <a:p>
            <a:pPr marL="0" indent="0">
              <a:buNone/>
            </a:pPr>
            <a:r>
              <a:rPr lang="uk-UA" dirty="0"/>
              <a:t>Що буде після завершення фінансування? Чи є план масштабування або залучення додаткових ресурсів?</a:t>
            </a:r>
          </a:p>
          <a:p>
            <a:pPr marL="1074738" indent="0">
              <a:buNone/>
            </a:pPr>
            <a:r>
              <a:rPr lang="uk-UA" sz="2500" i="1" dirty="0"/>
              <a:t>Навчальні матеріали будуть передані в навчальні заклади і будуть в вільному доступі </a:t>
            </a:r>
            <a:r>
              <a:rPr lang="uk-UA" sz="2500" i="1" dirty="0" err="1"/>
              <a:t>ххххх</a:t>
            </a:r>
            <a:endParaRPr lang="uk-UA" sz="2500" i="1" dirty="0"/>
          </a:p>
          <a:p>
            <a:pPr marL="1074738" indent="0">
              <a:buNone/>
            </a:pPr>
            <a:r>
              <a:rPr lang="uk-UA" sz="2500" i="1" dirty="0"/>
              <a:t>громади зможуть використовувати платформу на постійній основі  ….. Термін </a:t>
            </a:r>
            <a:endParaRPr lang="uk-UA" sz="2500" dirty="0"/>
          </a:p>
        </p:txBody>
      </p:sp>
    </p:spTree>
    <p:extLst>
      <p:ext uri="{BB962C8B-B14F-4D97-AF65-F5344CB8AC3E}">
        <p14:creationId xmlns:p14="http://schemas.microsoft.com/office/powerpoint/2010/main" val="4157062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Складові заявки (приклади)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1.Список </a:t>
            </a:r>
            <a:r>
              <a:rPr lang="ru-RU" dirty="0" err="1"/>
              <a:t>учасників</a:t>
            </a:r>
            <a:r>
              <a:rPr lang="ru-RU" dirty="0"/>
              <a:t> (</a:t>
            </a:r>
            <a:r>
              <a:rPr lang="uk-UA" dirty="0"/>
              <a:t>безпосередніх</a:t>
            </a:r>
            <a:r>
              <a:rPr lang="ru-RU" dirty="0"/>
              <a:t> </a:t>
            </a:r>
            <a:r>
              <a:rPr lang="ru-RU" dirty="0" err="1"/>
              <a:t>виконавцев</a:t>
            </a:r>
            <a:r>
              <a:rPr lang="ru-RU" dirty="0"/>
              <a:t>, </a:t>
            </a:r>
            <a:r>
              <a:rPr lang="ru-RU" dirty="0" err="1"/>
              <a:t>залучених</a:t>
            </a:r>
            <a:r>
              <a:rPr lang="ru-RU" dirty="0"/>
              <a:t> </a:t>
            </a:r>
            <a:r>
              <a:rPr lang="ru-RU" dirty="0" err="1"/>
              <a:t>експертів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(Резюме, </a:t>
            </a:r>
            <a:r>
              <a:rPr lang="uk-UA" dirty="0"/>
              <a:t>мотиваційний лист </a:t>
            </a:r>
            <a:r>
              <a:rPr lang="ru-RU" dirty="0"/>
              <a:t>) </a:t>
            </a:r>
          </a:p>
          <a:p>
            <a:pPr marL="0" indent="0">
              <a:buNone/>
            </a:pPr>
            <a:r>
              <a:rPr lang="ru-RU" dirty="0"/>
              <a:t>2. </a:t>
            </a:r>
            <a:r>
              <a:rPr lang="ru-RU" dirty="0" err="1"/>
              <a:t>Листи</a:t>
            </a:r>
            <a:r>
              <a:rPr lang="ru-RU" dirty="0"/>
              <a:t> </a:t>
            </a:r>
            <a:r>
              <a:rPr lang="ru-RU" dirty="0" err="1"/>
              <a:t>підтримки</a:t>
            </a:r>
            <a:r>
              <a:rPr lang="ru-RU" dirty="0"/>
              <a:t> (</a:t>
            </a:r>
            <a:r>
              <a:rPr lang="en-US" dirty="0"/>
              <a:t>E</a:t>
            </a:r>
            <a:r>
              <a:rPr lang="en-AU" dirty="0" err="1"/>
              <a:t>ndorsement</a:t>
            </a:r>
            <a:r>
              <a:rPr lang="en-AU" dirty="0"/>
              <a:t> letters</a:t>
            </a:r>
            <a:r>
              <a:rPr lang="uk-UA" dirty="0"/>
              <a:t>)</a:t>
            </a:r>
          </a:p>
          <a:p>
            <a:pPr marL="0" indent="0">
              <a:buNone/>
            </a:pPr>
            <a:r>
              <a:rPr lang="uk-UA" dirty="0"/>
              <a:t>3. Основні данні про проект</a:t>
            </a:r>
            <a:endParaRPr lang="en-US" dirty="0"/>
          </a:p>
          <a:p>
            <a:pPr marL="300038" lvl="1" indent="0">
              <a:buNone/>
            </a:pPr>
            <a:r>
              <a:rPr lang="uk-UA" dirty="0"/>
              <a:t>3.1.Назва проекту ( акронім проекту)</a:t>
            </a:r>
            <a:endParaRPr lang="en-US" dirty="0"/>
          </a:p>
          <a:p>
            <a:pPr marL="300038" lvl="1" indent="0">
              <a:buNone/>
            </a:pPr>
            <a:r>
              <a:rPr lang="uk-UA" dirty="0"/>
              <a:t>3.2. Мета проекту </a:t>
            </a:r>
          </a:p>
          <a:p>
            <a:pPr marL="300038" lvl="1" indent="0">
              <a:buNone/>
            </a:pPr>
            <a:r>
              <a:rPr lang="uk-UA" dirty="0"/>
              <a:t>Обґрунтування проекту (Актуальність проекту, опис проблеми)</a:t>
            </a:r>
          </a:p>
          <a:p>
            <a:pPr marL="300038" lvl="1" indent="0">
              <a:buNone/>
            </a:pPr>
            <a:r>
              <a:rPr lang="uk-UA" dirty="0"/>
              <a:t>3.3. Завдання/ Конкретні цілі проекту (заходи  проекту )</a:t>
            </a:r>
          </a:p>
          <a:p>
            <a:pPr marL="300038" lvl="1" indent="0">
              <a:buNone/>
            </a:pPr>
            <a:r>
              <a:rPr lang="uk-UA" dirty="0"/>
              <a:t>3,4. Результати та діяльність</a:t>
            </a:r>
          </a:p>
          <a:p>
            <a:pPr marL="300038" lvl="1" indent="0">
              <a:buNone/>
            </a:pPr>
            <a:r>
              <a:rPr lang="uk-UA" dirty="0"/>
              <a:t>3.4. Наслідки</a:t>
            </a:r>
          </a:p>
          <a:p>
            <a:pPr marL="300038" lvl="1" indent="0">
              <a:buNone/>
            </a:pPr>
            <a:r>
              <a:rPr lang="uk-UA" dirty="0"/>
              <a:t>3.5. Показники та індикатори виконання</a:t>
            </a:r>
          </a:p>
          <a:p>
            <a:pPr marL="300038" lvl="1" indent="0">
              <a:buNone/>
            </a:pPr>
            <a:r>
              <a:rPr lang="uk-UA" dirty="0"/>
              <a:t>3.6. Стійкість результатів</a:t>
            </a:r>
          </a:p>
          <a:p>
            <a:pPr marL="0" indent="0">
              <a:buNone/>
            </a:pPr>
            <a:r>
              <a:rPr lang="uk-UA" dirty="0"/>
              <a:t>4.Бюджет проекту. </a:t>
            </a:r>
          </a:p>
          <a:p>
            <a:pPr marL="0" indent="0">
              <a:buNone/>
            </a:pPr>
            <a:r>
              <a:rPr lang="ru-RU" dirty="0"/>
              <a:t>5. </a:t>
            </a:r>
            <a:r>
              <a:rPr lang="uk-UA" dirty="0"/>
              <a:t>Людські ресурси (Презентація партнерів та зовнішніх експертів з точки зору кваліфікації та залучені до вирішення конкретних завдань). </a:t>
            </a:r>
          </a:p>
        </p:txBody>
      </p:sp>
    </p:spTree>
    <p:extLst>
      <p:ext uri="{BB962C8B-B14F-4D97-AF65-F5344CB8AC3E}">
        <p14:creationId xmlns:p14="http://schemas.microsoft.com/office/powerpoint/2010/main" val="455660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 Узагальнений опис проектної заявки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uk-UA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23449" y="1811918"/>
          <a:ext cx="7826006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656">
                  <a:extLst>
                    <a:ext uri="{9D8B030D-6E8A-4147-A177-3AD203B41FA5}">
                      <a16:colId xmlns:a16="http://schemas.microsoft.com/office/drawing/2014/main" val="918073813"/>
                    </a:ext>
                  </a:extLst>
                </a:gridCol>
                <a:gridCol w="3610344">
                  <a:extLst>
                    <a:ext uri="{9D8B030D-6E8A-4147-A177-3AD203B41FA5}">
                      <a16:colId xmlns:a16="http://schemas.microsoft.com/office/drawing/2014/main" val="3078414074"/>
                    </a:ext>
                  </a:extLst>
                </a:gridCol>
                <a:gridCol w="3762006">
                  <a:extLst>
                    <a:ext uri="{9D8B030D-6E8A-4147-A177-3AD203B41FA5}">
                      <a16:colId xmlns:a16="http://schemas.microsoft.com/office/drawing/2014/main" val="7153996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Розділи проектної заявки 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Потенційно можливі супроводжувальні документи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4937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Опис проекту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Лист</a:t>
                      </a:r>
                      <a:r>
                        <a:rPr lang="uk-UA" sz="1500" baseline="0" dirty="0">
                          <a:solidFill>
                            <a:schemeClr val="tx1"/>
                          </a:solidFill>
                        </a:rPr>
                        <a:t> погодження намірів</a:t>
                      </a:r>
                      <a:endParaRPr lang="uk-UA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0795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Актуальність проекту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Мотиваційні листи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4617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Цілі та результати проекту 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Резюме</a:t>
                      </a:r>
                      <a:r>
                        <a:rPr lang="uk-UA" sz="1500" baseline="0" dirty="0">
                          <a:solidFill>
                            <a:schemeClr val="tx1"/>
                          </a:solidFill>
                        </a:rPr>
                        <a:t> основних учасників</a:t>
                      </a:r>
                      <a:endParaRPr lang="uk-UA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3017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Детальний опис дій проекту 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sz="15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7442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Календарний план-графік впровадження дій проекту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sz="15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592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Можливі ризики, пов’язані із впровадженням проекту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sz="15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6624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Сталість результатів проекту 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sz="15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39531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Структура управління проектом 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sz="15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53084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Механізм моніторингу і оцінки проекту 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sz="15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2235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500" dirty="0">
                          <a:solidFill>
                            <a:schemeClr val="tx1"/>
                          </a:solidFill>
                        </a:rPr>
                        <a:t>Бюджет проекту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62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219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81649-F27B-4650-86CB-49CBB7E4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78" y="235789"/>
            <a:ext cx="8203721" cy="1181849"/>
          </a:xfrm>
        </p:spPr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+mn-lt"/>
              </a:rPr>
              <a:t>ЕТАПИ РЕАЛІЗАЦІЇ ГРАНТУ </a:t>
            </a:r>
            <a:endParaRPr lang="uk-UA" dirty="0">
              <a:latin typeface="+mn-lt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21448E-530A-44E8-80EE-A3F3F6DE6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uk-UA" sz="1800" b="0" i="0" u="none" strike="noStrike" baseline="0" dirty="0">
                <a:solidFill>
                  <a:srgbClr val="000000"/>
                </a:solidFill>
              </a:rPr>
              <a:t>Етапи реалізації гранту можна умовно поділити на декілька ключових фаз. Вони можуть дещо відрізнятися в залежності від специфіки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грантодавця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та вимог до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, але загалом включають наступні кроки: </a:t>
            </a:r>
          </a:p>
          <a:p>
            <a:pPr marL="0" indent="0">
              <a:buNone/>
            </a:pPr>
            <a:r>
              <a:rPr lang="uk-UA" sz="1800" b="0" i="0" u="none" strike="noStrike" baseline="0" dirty="0">
                <a:solidFill>
                  <a:srgbClr val="000000"/>
                </a:solidFill>
              </a:rPr>
              <a:t>1. </a:t>
            </a:r>
            <a:r>
              <a:rPr lang="uk-UA" sz="1800" b="1" i="0" u="none" strike="noStrike" baseline="0" dirty="0">
                <a:solidFill>
                  <a:srgbClr val="000000"/>
                </a:solidFill>
              </a:rPr>
              <a:t>Підготовка та подача грантової заявки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. Цей етап передбачає визначення проблеми, яку вирішує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, розробку концепції та стратегії його реалізації. Також на цьому етапі формується команда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, проводиться аналіз потенційних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грантодавців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та їх вимог, а також підготовка та подача грантової заявки. </a:t>
            </a:r>
          </a:p>
          <a:p>
            <a:pPr marL="0" indent="0">
              <a:buNone/>
            </a:pPr>
            <a:r>
              <a:rPr lang="uk-UA" sz="1800" b="0" i="0" u="none" strike="noStrike" baseline="0" dirty="0">
                <a:solidFill>
                  <a:srgbClr val="000000"/>
                </a:solidFill>
              </a:rPr>
              <a:t>2. </a:t>
            </a:r>
            <a:r>
              <a:rPr lang="uk-UA" sz="1800" b="1" i="0" u="none" strike="noStrike" baseline="0" dirty="0">
                <a:solidFill>
                  <a:srgbClr val="000000"/>
                </a:solidFill>
              </a:rPr>
              <a:t>Оцінка грантової заявки </a:t>
            </a:r>
            <a:r>
              <a:rPr lang="uk-UA" sz="1800" b="1" i="0" u="none" strike="noStrike" baseline="0" dirty="0" err="1">
                <a:solidFill>
                  <a:srgbClr val="000000"/>
                </a:solidFill>
              </a:rPr>
              <a:t>грантодавцем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. Після подачі грантової заявки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грантодавець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проводить оцінку заявки за рядом критеріїв, які можуть включати актуальність проблеми,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інноваційність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, його соціальний вплив, фінансову стійкість, кваліфікацію команди та інші. На цьому етапі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грантодавець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може запросити додаткові матеріали, кваліфікації або зустрічі з представниками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. </a:t>
            </a:r>
          </a:p>
          <a:p>
            <a:pPr marL="0" indent="0">
              <a:buNone/>
            </a:pPr>
            <a:r>
              <a:rPr lang="uk-UA" sz="1800" b="0" i="0" u="none" strike="noStrike" baseline="0" dirty="0">
                <a:solidFill>
                  <a:srgbClr val="000000"/>
                </a:solidFill>
              </a:rPr>
              <a:t>3. </a:t>
            </a:r>
            <a:r>
              <a:rPr lang="uk-UA" sz="1800" b="1" i="0" u="none" strike="noStrike" baseline="0" dirty="0">
                <a:solidFill>
                  <a:srgbClr val="000000"/>
                </a:solidFill>
              </a:rPr>
              <a:t>Повідомлення про результати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. Після завершення оцінки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грантодавець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інформує заявника про результати. Якщо грантова заявка успішна, заявнику надається офіційне підтвердження та умови отримання гранту. У разі відхилення заявки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грантодавець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може надати зворотний зв'язок та рекомендації щодо можливого вдосконалення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. </a:t>
            </a:r>
          </a:p>
          <a:p>
            <a:pPr marL="0" indent="0">
              <a:buNone/>
            </a:pPr>
            <a:r>
              <a:rPr lang="uk-UA" sz="1800" b="0" i="0" u="none" strike="noStrike" baseline="0" dirty="0">
                <a:solidFill>
                  <a:srgbClr val="000000"/>
                </a:solidFill>
              </a:rPr>
              <a:t>4. </a:t>
            </a:r>
            <a:r>
              <a:rPr lang="uk-UA" sz="1800" b="1" i="0" u="none" strike="noStrike" baseline="0" dirty="0">
                <a:solidFill>
                  <a:srgbClr val="000000"/>
                </a:solidFill>
              </a:rPr>
              <a:t>Укладення грантового договору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. На цьому етапі заявник та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грантодавець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узгоджують умови співпраці та укладають грантовий договір. Договір визначає права та обов'язки сторін, суму фінансування, строк реалізації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, вимоги до звітування та контролю, а також інші специфічні умови, пов'язані з реалізацією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. </a:t>
            </a:r>
          </a:p>
          <a:p>
            <a:pPr marL="0" indent="0">
              <a:buNone/>
            </a:pPr>
            <a:r>
              <a:rPr lang="uk-UA" sz="1800" b="0" i="0" u="none" strike="noStrike" baseline="0" dirty="0">
                <a:solidFill>
                  <a:srgbClr val="000000"/>
                </a:solidFill>
              </a:rPr>
              <a:t>5. </a:t>
            </a:r>
            <a:r>
              <a:rPr lang="uk-UA" sz="1800" b="1" i="0" u="none" strike="noStrike" baseline="0" dirty="0">
                <a:solidFill>
                  <a:srgbClr val="000000"/>
                </a:solidFill>
              </a:rPr>
              <a:t>Реалізація </a:t>
            </a:r>
            <a:r>
              <a:rPr lang="uk-UA" sz="1800" b="1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. На цьому етапі команда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виконує заплановані заходи, відповідно до затвердженого плану та бюджету. Важливою частиною реалізації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проєкту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є ефективне управління ресурсами, моніторинг та контроль виконання, а також взаємодія з </a:t>
            </a:r>
            <a:r>
              <a:rPr lang="uk-UA" sz="1800" b="0" i="0" u="none" strike="noStrike" baseline="0" dirty="0" err="1">
                <a:solidFill>
                  <a:srgbClr val="000000"/>
                </a:solidFill>
              </a:rPr>
              <a:t>грантодавцем</a:t>
            </a:r>
            <a:r>
              <a:rPr lang="uk-UA" sz="1800" b="0" i="0" u="none" strike="noStrike" baseline="0" dirty="0">
                <a:solidFill>
                  <a:srgbClr val="000000"/>
                </a:solidFill>
              </a:rPr>
              <a:t> та зацікавленими сторонами.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34674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Перш </a:t>
            </a:r>
            <a:r>
              <a:rPr lang="ru-RU" dirty="0" err="1"/>
              <a:t>ніж</a:t>
            </a:r>
            <a:r>
              <a:rPr lang="ru-RU" dirty="0"/>
              <a:t> </a:t>
            </a:r>
            <a:r>
              <a:rPr lang="ru-RU" dirty="0" err="1"/>
              <a:t>заповнювати</a:t>
            </a:r>
            <a:r>
              <a:rPr lang="ru-RU" dirty="0"/>
              <a:t> саму заявку (</a:t>
            </a:r>
            <a:r>
              <a:rPr lang="ru-RU" dirty="0" err="1"/>
              <a:t>аплікаційну</a:t>
            </a:r>
            <a:r>
              <a:rPr lang="ru-RU" dirty="0"/>
              <a:t> форму) :</a:t>
            </a:r>
          </a:p>
          <a:p>
            <a:r>
              <a:rPr lang="ru-RU" dirty="0" err="1"/>
              <a:t>Ознайомитись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повною</a:t>
            </a:r>
            <a:r>
              <a:rPr lang="ru-RU" dirty="0"/>
              <a:t> </a:t>
            </a:r>
            <a:r>
              <a:rPr lang="ru-RU" dirty="0" err="1"/>
              <a:t>аплікаційною</a:t>
            </a:r>
            <a:r>
              <a:rPr lang="ru-RU" dirty="0"/>
              <a:t> формою, бюджетом, </a:t>
            </a:r>
            <a:r>
              <a:rPr lang="ru-RU" dirty="0" err="1"/>
              <a:t>загальними</a:t>
            </a:r>
            <a:r>
              <a:rPr lang="ru-RU" dirty="0"/>
              <a:t> </a:t>
            </a:r>
            <a:r>
              <a:rPr lang="ru-RU" dirty="0" err="1"/>
              <a:t>умовами</a:t>
            </a:r>
            <a:r>
              <a:rPr lang="ru-RU" dirty="0"/>
              <a:t> контракту, правилами </a:t>
            </a:r>
            <a:r>
              <a:rPr lang="ru-RU" dirty="0" err="1"/>
              <a:t>закупівель</a:t>
            </a:r>
            <a:r>
              <a:rPr lang="ru-RU" dirty="0"/>
              <a:t>, моделями </a:t>
            </a:r>
            <a:r>
              <a:rPr lang="ru-RU" dirty="0" err="1"/>
              <a:t>звітності</a:t>
            </a:r>
            <a:r>
              <a:rPr lang="ru-RU" dirty="0"/>
              <a:t>.</a:t>
            </a:r>
          </a:p>
          <a:p>
            <a:r>
              <a:rPr lang="ru-RU" dirty="0" err="1"/>
              <a:t>Почати</a:t>
            </a:r>
            <a:r>
              <a:rPr lang="ru-RU" dirty="0"/>
              <a:t> </a:t>
            </a:r>
            <a:r>
              <a:rPr lang="ru-RU" dirty="0" err="1"/>
              <a:t>думати</a:t>
            </a:r>
            <a:r>
              <a:rPr lang="ru-RU" dirty="0"/>
              <a:t> над </a:t>
            </a:r>
            <a:r>
              <a:rPr lang="ru-RU" dirty="0" err="1"/>
              <a:t>логічною</a:t>
            </a:r>
            <a:r>
              <a:rPr lang="ru-RU" dirty="0"/>
              <a:t> матрицею проекту та </a:t>
            </a:r>
            <a:r>
              <a:rPr lang="ru-RU" dirty="0" err="1"/>
              <a:t>досліджувати</a:t>
            </a:r>
            <a:r>
              <a:rPr lang="ru-RU" dirty="0"/>
              <a:t> контекст.</a:t>
            </a:r>
          </a:p>
          <a:p>
            <a:r>
              <a:rPr lang="ru-RU" dirty="0" err="1"/>
              <a:t>Знайти</a:t>
            </a:r>
            <a:r>
              <a:rPr lang="ru-RU" dirty="0"/>
              <a:t> </a:t>
            </a:r>
            <a:r>
              <a:rPr lang="ru-RU" dirty="0" err="1"/>
              <a:t>партнерів</a:t>
            </a:r>
            <a:r>
              <a:rPr lang="ru-RU" dirty="0"/>
              <a:t> та детально </a:t>
            </a:r>
            <a:r>
              <a:rPr lang="ru-RU" dirty="0" err="1"/>
              <a:t>проінформувати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, </a:t>
            </a:r>
            <a:r>
              <a:rPr lang="ru-RU" dirty="0" err="1"/>
              <a:t>письмово</a:t>
            </a:r>
            <a:r>
              <a:rPr lang="ru-RU" dirty="0"/>
              <a:t> </a:t>
            </a:r>
            <a:r>
              <a:rPr lang="ru-RU" dirty="0" err="1"/>
              <a:t>домовитися</a:t>
            </a:r>
            <a:r>
              <a:rPr lang="ru-RU" dirty="0"/>
              <a:t> про </a:t>
            </a:r>
            <a:r>
              <a:rPr lang="ru-RU" dirty="0" err="1"/>
              <a:t>їхню</a:t>
            </a:r>
            <a:r>
              <a:rPr lang="ru-RU" dirty="0"/>
              <a:t> участь, </a:t>
            </a:r>
            <a:r>
              <a:rPr lang="ru-RU" dirty="0" err="1"/>
              <a:t>урегулювати</a:t>
            </a:r>
            <a:r>
              <a:rPr lang="ru-RU" dirty="0"/>
              <a:t> </a:t>
            </a:r>
            <a:r>
              <a:rPr lang="ru-RU" dirty="0" err="1"/>
              <a:t>фінансові</a:t>
            </a:r>
            <a:r>
              <a:rPr lang="ru-RU" dirty="0"/>
              <a:t> </a:t>
            </a:r>
            <a:r>
              <a:rPr lang="ru-RU" dirty="0" err="1"/>
              <a:t>питання</a:t>
            </a:r>
            <a:r>
              <a:rPr lang="ru-RU" dirty="0"/>
              <a:t>.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важливо</a:t>
            </a:r>
            <a:r>
              <a:rPr lang="ru-RU" dirty="0"/>
              <a:t> </a:t>
            </a:r>
            <a:r>
              <a:rPr lang="ru-RU" dirty="0" err="1"/>
              <a:t>проговорити</a:t>
            </a:r>
            <a:r>
              <a:rPr lang="ru-RU" dirty="0"/>
              <a:t> </a:t>
            </a:r>
            <a:r>
              <a:rPr lang="ru-RU" dirty="0" err="1"/>
              <a:t>відповідальність</a:t>
            </a:r>
            <a:r>
              <a:rPr lang="ru-RU" dirty="0"/>
              <a:t> </a:t>
            </a:r>
            <a:r>
              <a:rPr lang="ru-RU" dirty="0" err="1"/>
              <a:t>сторін</a:t>
            </a:r>
            <a:r>
              <a:rPr lang="ru-RU" dirty="0"/>
              <a:t> і </a:t>
            </a:r>
            <a:r>
              <a:rPr lang="ru-RU" dirty="0" err="1"/>
              <a:t>звітність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реалізації</a:t>
            </a:r>
            <a:r>
              <a:rPr lang="ru-RU" dirty="0"/>
              <a:t> проекту не </a:t>
            </a:r>
            <a:r>
              <a:rPr lang="ru-RU" dirty="0" err="1"/>
              <a:t>виникало</a:t>
            </a:r>
            <a:r>
              <a:rPr lang="ru-RU" dirty="0"/>
              <a:t> </a:t>
            </a:r>
            <a:r>
              <a:rPr lang="ru-RU" dirty="0" err="1"/>
              <a:t>неочікуваних</a:t>
            </a:r>
            <a:r>
              <a:rPr lang="ru-RU" dirty="0"/>
              <a:t> </a:t>
            </a:r>
            <a:r>
              <a:rPr lang="ru-RU" dirty="0" err="1"/>
              <a:t>ситуацій</a:t>
            </a:r>
            <a:r>
              <a:rPr lang="ru-RU" dirty="0"/>
              <a:t>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05756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Алгоритм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логічної</a:t>
            </a:r>
            <a:r>
              <a:rPr lang="ru-RU" dirty="0"/>
              <a:t> </a:t>
            </a:r>
            <a:r>
              <a:rPr lang="ru-RU" dirty="0" err="1"/>
              <a:t>матриці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При </a:t>
            </a:r>
            <a:r>
              <a:rPr lang="ru-RU" dirty="0" err="1"/>
              <a:t>розробці</a:t>
            </a:r>
            <a:r>
              <a:rPr lang="ru-RU" dirty="0"/>
              <a:t> ЛМ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виділити</a:t>
            </a:r>
            <a:r>
              <a:rPr lang="ru-RU" dirty="0"/>
              <a:t> </a:t>
            </a:r>
            <a:r>
              <a:rPr lang="ru-RU" dirty="0" err="1"/>
              <a:t>п’ять</a:t>
            </a:r>
            <a:r>
              <a:rPr lang="ru-RU" dirty="0"/>
              <a:t> </a:t>
            </a:r>
            <a:r>
              <a:rPr lang="ru-RU" dirty="0" err="1"/>
              <a:t>основних</a:t>
            </a:r>
            <a:r>
              <a:rPr lang="ru-RU" dirty="0"/>
              <a:t> </a:t>
            </a:r>
            <a:r>
              <a:rPr lang="ru-RU" dirty="0" err="1"/>
              <a:t>етапів</a:t>
            </a:r>
            <a:r>
              <a:rPr lang="ru-RU" dirty="0"/>
              <a:t>: </a:t>
            </a:r>
          </a:p>
          <a:p>
            <a:pPr marL="514350" indent="-514350">
              <a:buAutoNum type="arabicParenR"/>
            </a:pP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зацікавлених</a:t>
            </a:r>
            <a:r>
              <a:rPr lang="ru-RU" dirty="0"/>
              <a:t> </a:t>
            </a:r>
            <a:r>
              <a:rPr lang="ru-RU" dirty="0" err="1"/>
              <a:t>сторін</a:t>
            </a:r>
            <a:r>
              <a:rPr lang="ru-RU" dirty="0"/>
              <a:t>; </a:t>
            </a:r>
          </a:p>
          <a:p>
            <a:pPr marL="514350" indent="-514350">
              <a:buAutoNum type="arabicParenR"/>
            </a:pPr>
            <a:r>
              <a:rPr lang="ru-RU" dirty="0" err="1"/>
              <a:t>аналіз</a:t>
            </a:r>
            <a:r>
              <a:rPr lang="ru-RU" dirty="0"/>
              <a:t> проблем;</a:t>
            </a:r>
          </a:p>
          <a:p>
            <a:pPr marL="514350" indent="-514350">
              <a:buAutoNum type="arabicParenR"/>
            </a:pP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цілей</a:t>
            </a:r>
            <a:r>
              <a:rPr lang="ru-RU" dirty="0"/>
              <a:t>; </a:t>
            </a:r>
          </a:p>
          <a:p>
            <a:pPr marL="514350" indent="-514350">
              <a:buAutoNum type="arabicParenR"/>
            </a:pPr>
            <a:r>
              <a:rPr lang="ru-RU" dirty="0" err="1"/>
              <a:t>вироблення</a:t>
            </a:r>
            <a:r>
              <a:rPr lang="ru-RU" dirty="0"/>
              <a:t> </a:t>
            </a:r>
            <a:r>
              <a:rPr lang="ru-RU" dirty="0" err="1"/>
              <a:t>стратегії</a:t>
            </a:r>
            <a:r>
              <a:rPr lang="ru-RU" dirty="0"/>
              <a:t> проекту; </a:t>
            </a:r>
          </a:p>
          <a:p>
            <a:pPr marL="514350" indent="-514350">
              <a:buAutoNum type="arabicParenR"/>
            </a:pPr>
            <a:r>
              <a:rPr lang="ru-RU" dirty="0" err="1"/>
              <a:t>складання</a:t>
            </a:r>
            <a:r>
              <a:rPr lang="ru-RU" dirty="0"/>
              <a:t> </a:t>
            </a:r>
            <a:r>
              <a:rPr lang="ru-RU" dirty="0" err="1"/>
              <a:t>логічної</a:t>
            </a:r>
            <a:r>
              <a:rPr lang="ru-RU" dirty="0"/>
              <a:t> </a:t>
            </a:r>
            <a:r>
              <a:rPr lang="ru-RU" dirty="0" err="1"/>
              <a:t>матриці</a:t>
            </a:r>
            <a:r>
              <a:rPr lang="ru-RU" dirty="0"/>
              <a:t> проекту (ЛМ). </a:t>
            </a:r>
          </a:p>
          <a:p>
            <a:pPr marL="0" indent="0">
              <a:buNone/>
            </a:pP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зацікавлених</a:t>
            </a:r>
            <a:r>
              <a:rPr lang="ru-RU" dirty="0"/>
              <a:t> </a:t>
            </a:r>
            <a:r>
              <a:rPr lang="ru-RU" dirty="0" err="1"/>
              <a:t>сторін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 err="1"/>
              <a:t>Що</a:t>
            </a:r>
            <a:r>
              <a:rPr lang="ru-RU" dirty="0"/>
              <a:t> Вам (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планує</a:t>
            </a:r>
            <a:r>
              <a:rPr lang="ru-RU" dirty="0"/>
              <a:t>) </a:t>
            </a:r>
            <a:r>
              <a:rPr lang="ru-RU" dirty="0" err="1"/>
              <a:t>потрібно</a:t>
            </a:r>
            <a:r>
              <a:rPr lang="ru-RU" dirty="0"/>
              <a:t> для проекту? </a:t>
            </a:r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відповідні</a:t>
            </a:r>
            <a:r>
              <a:rPr lang="ru-RU" dirty="0"/>
              <a:t> </a:t>
            </a:r>
            <a:r>
              <a:rPr lang="ru-RU" dirty="0" err="1"/>
              <a:t>знання</a:t>
            </a:r>
            <a:r>
              <a:rPr lang="ru-RU" dirty="0"/>
              <a:t> й </a:t>
            </a:r>
            <a:r>
              <a:rPr lang="ru-RU" dirty="0" err="1"/>
              <a:t>досвід</a:t>
            </a:r>
            <a:r>
              <a:rPr lang="ru-RU" dirty="0"/>
              <a:t>? 2. Ким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прийматися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 по проекту? 3. Ким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реалізовуватись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</a:t>
            </a:r>
            <a:r>
              <a:rPr lang="ru-RU" dirty="0" err="1"/>
              <a:t>відповідно</a:t>
            </a:r>
            <a:r>
              <a:rPr lang="ru-RU" dirty="0"/>
              <a:t> до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рішень</a:t>
            </a:r>
            <a:r>
              <a:rPr lang="ru-RU" dirty="0"/>
              <a:t>? 4. Чия активна </a:t>
            </a:r>
            <a:r>
              <a:rPr lang="ru-RU" dirty="0" err="1"/>
              <a:t>підтримка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істотне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для </a:t>
            </a:r>
            <a:r>
              <a:rPr lang="ru-RU" dirty="0" err="1"/>
              <a:t>успіху</a:t>
            </a:r>
            <a:r>
              <a:rPr lang="ru-RU" dirty="0"/>
              <a:t> проекту? 5. </a:t>
            </a:r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право </a:t>
            </a:r>
            <a:r>
              <a:rPr lang="ru-RU" dirty="0" err="1"/>
              <a:t>участі</a:t>
            </a:r>
            <a:r>
              <a:rPr lang="ru-RU" dirty="0"/>
              <a:t>? 6. Для кого проект буде </a:t>
            </a:r>
            <a:r>
              <a:rPr lang="ru-RU" dirty="0" err="1"/>
              <a:t>вигідний</a:t>
            </a:r>
            <a:r>
              <a:rPr lang="ru-RU" dirty="0"/>
              <a:t>,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являти</a:t>
            </a:r>
            <a:r>
              <a:rPr lang="ru-RU" dirty="0"/>
              <a:t> </a:t>
            </a:r>
            <a:r>
              <a:rPr lang="ru-RU" dirty="0" err="1"/>
              <a:t>загрозу</a:t>
            </a:r>
            <a:r>
              <a:rPr lang="ru-RU" dirty="0"/>
              <a:t>?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2526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FC364-2DD2-41E9-8F37-F9FB8866A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 для самоконтролю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FBB359D-F234-4F6A-93FD-8C1B49875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uk-UA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Основні активності при підготовці проекту.</a:t>
            </a:r>
            <a:endParaRPr lang="uk-UA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uk-UA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Хто є </a:t>
            </a:r>
            <a:r>
              <a:rPr lang="ru-RU" dirty="0" err="1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цільовими</a:t>
            </a:r>
            <a:r>
              <a:rPr lang="ru-RU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групами</a:t>
            </a:r>
            <a:r>
              <a:rPr lang="ru-RU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кінцевими</a:t>
            </a:r>
            <a:r>
              <a:rPr lang="ru-RU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бенефициарами?</a:t>
            </a:r>
            <a:endParaRPr lang="uk-UA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dirty="0" err="1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Що</a:t>
            </a:r>
            <a:r>
              <a:rPr lang="ru-RU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включає</a:t>
            </a:r>
            <a:r>
              <a:rPr lang="ru-RU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етап</a:t>
            </a:r>
            <a:r>
              <a:rPr lang="ru-RU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формування</a:t>
            </a:r>
            <a:r>
              <a:rPr lang="ru-RU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ідеї</a:t>
            </a:r>
            <a:r>
              <a:rPr lang="ru-RU" dirty="0">
                <a:solidFill>
                  <a:srgbClr val="000000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uk-UA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uk-U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Основні розділи проектної заявки.</a:t>
            </a:r>
          </a:p>
          <a:p>
            <a:pPr marL="514350" indent="-514350">
              <a:buFont typeface="+mj-lt"/>
              <a:buAutoNum type="arabicPeriod"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434703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6910</TotalTime>
  <Words>1828</Words>
  <Application>Microsoft Office PowerPoint</Application>
  <PresentationFormat>Екран (4:3)</PresentationFormat>
  <Paragraphs>154</Paragraphs>
  <Slides>17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22" baseType="lpstr">
      <vt:lpstr>AAAAAM+PalatinoLinotype-Roman</vt:lpstr>
      <vt:lpstr>Aptos</vt:lpstr>
      <vt:lpstr>Arial</vt:lpstr>
      <vt:lpstr>Calibri</vt:lpstr>
      <vt:lpstr>Тема Office</vt:lpstr>
      <vt:lpstr>Основні особливості підготовки заявки</vt:lpstr>
      <vt:lpstr>Презентація PowerPoint</vt:lpstr>
      <vt:lpstr>Основні акценти проекту/заявки</vt:lpstr>
      <vt:lpstr>Основні акценти проекту/заявки</vt:lpstr>
      <vt:lpstr>Характерні особливості проекту </vt:lpstr>
      <vt:lpstr>Цільові групи/ Кінцеві бенефіціари </vt:lpstr>
      <vt:lpstr>ідея     пропозиція</vt:lpstr>
      <vt:lpstr>Проблема</vt:lpstr>
      <vt:lpstr>Формування ідеї</vt:lpstr>
      <vt:lpstr>Цілі, завдання </vt:lpstr>
      <vt:lpstr>Презентація PowerPoint</vt:lpstr>
      <vt:lpstr>Складові заявки (приклади)</vt:lpstr>
      <vt:lpstr> Узагальнений опис проектної заявки</vt:lpstr>
      <vt:lpstr>ЕТАПИ РЕАЛІЗАЦІЇ ГРАНТУ </vt:lpstr>
      <vt:lpstr>Презентація PowerPoint</vt:lpstr>
      <vt:lpstr>Презентація PowerPoint</vt:lpstr>
      <vt:lpstr>Питання для самоконтролю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Види наукових досліджень та грантів</dc:title>
  <dc:creator>Пользователь Windows</dc:creator>
  <cp:lastModifiedBy>Ольга Петраковская</cp:lastModifiedBy>
  <cp:revision>29</cp:revision>
  <dcterms:created xsi:type="dcterms:W3CDTF">2021-03-22T11:40:17Z</dcterms:created>
  <dcterms:modified xsi:type="dcterms:W3CDTF">2026-04-06T17:41:34Z</dcterms:modified>
</cp:coreProperties>
</file>
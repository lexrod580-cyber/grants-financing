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137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79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8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112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279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37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132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83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246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358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342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60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C72E2-EED0-4418-B7AB-E96FE3450675}" type="datetimeFigureOut">
              <a:rPr lang="uk-UA" smtClean="0"/>
              <a:t>06.04.2026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0460-B27B-469B-8446-A0F222B7315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416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Типові помилки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628728"/>
            <a:ext cx="6400800" cy="1752600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 Лекцій з дисципліни 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uk-UA" b="1" dirty="0"/>
              <a:t>Фінансування наукових досліджень, грантова діяльність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аспірантів КНУБА</a:t>
            </a:r>
          </a:p>
          <a:p>
            <a:pPr algn="r"/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Проф. </a:t>
            </a:r>
            <a:r>
              <a:rPr lang="uk-U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Петраковська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О.С.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678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076E1-BA91-4BBF-8EB8-437F7F20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/>
              <a:t>Типові помилки при подачі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CB3A5BD-8448-446F-AD9F-E12C2F4C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uk-UA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Невідповідність тематики умовам конкурсу</a:t>
            </a:r>
          </a:p>
          <a:p>
            <a:pPr marL="0" indent="0">
              <a:buNone/>
            </a:pPr>
            <a:r>
              <a:rPr kumimoji="0" lang="uk-UA" altLang="uk-U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Нечітке або занадто загальне формулювання цілей </a:t>
            </a:r>
            <a:r>
              <a:rPr kumimoji="0" lang="uk-UA" altLang="uk-U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проєкту</a:t>
            </a:r>
            <a:br>
              <a:rPr kumimoji="0" lang="uk-UA" altLang="uk-U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uk-UA" sz="2400" dirty="0"/>
              <a:t>Відсутність логіки в структурі </a:t>
            </a:r>
            <a:r>
              <a:rPr lang="uk-UA" sz="2400" dirty="0" err="1"/>
              <a:t>проєкту</a:t>
            </a:r>
            <a:br>
              <a:rPr lang="uk-UA" sz="2400" dirty="0"/>
            </a:br>
            <a:r>
              <a:rPr lang="uk-UA" altLang="uk-UA" sz="2400" dirty="0"/>
              <a:t>Недостатньо обґрунтований бюджет</a:t>
            </a:r>
          </a:p>
          <a:p>
            <a:pPr marL="0" indent="0">
              <a:buNone/>
            </a:pPr>
            <a:r>
              <a:rPr lang="uk-UA" altLang="uk-UA" sz="2400" dirty="0"/>
              <a:t>Відсутність </a:t>
            </a:r>
            <a:r>
              <a:rPr lang="uk-UA" altLang="uk-UA" sz="2400" dirty="0" err="1"/>
              <a:t>інноваційності</a:t>
            </a:r>
            <a:r>
              <a:rPr lang="uk-UA" altLang="uk-UA" sz="2400" dirty="0"/>
              <a:t> або наукової новизни</a:t>
            </a:r>
          </a:p>
          <a:p>
            <a:pPr marL="0" indent="0">
              <a:buNone/>
            </a:pPr>
            <a:r>
              <a:rPr lang="uk-UA" altLang="uk-UA" sz="2400" dirty="0"/>
              <a:t>Слабка команда або нечіткі ролі</a:t>
            </a:r>
          </a:p>
          <a:p>
            <a:pPr marL="0" indent="0">
              <a:buNone/>
            </a:pPr>
            <a:r>
              <a:rPr lang="uk-UA" altLang="uk-UA" sz="2400" dirty="0"/>
              <a:t>Нереалістичні строки реалізації</a:t>
            </a:r>
          </a:p>
          <a:p>
            <a:pPr marL="0" indent="0">
              <a:buNone/>
            </a:pPr>
            <a:r>
              <a:rPr lang="uk-UA" altLang="uk-UA" sz="2400" dirty="0"/>
              <a:t>Відсутність впливу або масштабованості результатів</a:t>
            </a:r>
          </a:p>
          <a:p>
            <a:pPr marL="0" indent="0">
              <a:buNone/>
            </a:pPr>
            <a:r>
              <a:rPr lang="uk-UA" sz="2400" dirty="0">
                <a:ea typeface="Calibri" panose="020F0502020204030204" pitchFamily="34" charset="0"/>
                <a:cs typeface="Times New Roman" panose="02020603050405020304" pitchFamily="18" charset="0"/>
              </a:rPr>
              <a:t>Відсутність стратегій поширення результатів (</a:t>
            </a:r>
            <a:r>
              <a:rPr lang="uk-UA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dissemination</a:t>
            </a:r>
            <a:r>
              <a:rPr lang="uk-UA" sz="24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uk-UA" sz="2400" dirty="0">
                <a:ea typeface="Calibri" panose="020F0502020204030204" pitchFamily="34" charset="0"/>
                <a:cs typeface="Times New Roman" panose="02020603050405020304" pitchFamily="18" charset="0"/>
              </a:rPr>
              <a:t>Подача заявки в останній день — без перевірки</a:t>
            </a:r>
            <a:br>
              <a:rPr lang="uk-UA" altLang="uk-UA" sz="2400" dirty="0"/>
            </a:br>
            <a:br>
              <a:rPr lang="uk-UA" altLang="uk-UA" sz="2400" dirty="0"/>
            </a:b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82915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74346-0556-4E0B-AE8E-FFF9B3D0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Нечітке або занадто загальне формулювання цілей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проєкту</a:t>
            </a:r>
            <a:b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uk-UA" sz="20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F3F13B2-21A5-46A7-88D5-6022585CB1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93467"/>
            <a:ext cx="836327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dirty="0"/>
              <a:t>Заявка містить розмиті, неконкретні або надто амбітні цілі без механізмів досягнення.</a:t>
            </a:r>
            <a:br>
              <a:rPr lang="uk-UA" altLang="uk-UA" dirty="0"/>
            </a:br>
            <a:r>
              <a:rPr lang="uk-UA" altLang="uk-UA" dirty="0"/>
              <a:t>          Приклад: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dirty="0"/>
              <a:t>«</a:t>
            </a:r>
            <a:r>
              <a:rPr lang="uk-UA" altLang="uk-UA" strike="sngStrike" dirty="0"/>
              <a:t>Покращити екологічну ситуацію в регіоні» </a:t>
            </a:r>
            <a:br>
              <a:rPr lang="uk-UA" altLang="uk-UA" dirty="0"/>
            </a:br>
            <a:r>
              <a:rPr lang="uk-UA" altLang="uk-UA" dirty="0">
                <a:solidFill>
                  <a:srgbClr val="C00000"/>
                </a:solidFill>
              </a:rPr>
              <a:t>«Розробити та впровадити GIS-модель оцінки якості ґрунтів для агроекологічного моніторингу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080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A0EE2-CF27-460C-94AB-BF90E27B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1" dirty="0"/>
              <a:t>Відсутність логіки в структурі </a:t>
            </a:r>
            <a:r>
              <a:rPr lang="uk-UA" b="1" dirty="0" err="1"/>
              <a:t>проєкту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1DABAB-071D-457D-BDDA-5F297F48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84784"/>
            <a:ext cx="8435280" cy="4968552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Відсутній логічний зв’язок між цілями, завданнями, етапами та результатами.</a:t>
            </a:r>
            <a:br>
              <a:rPr lang="uk-UA" dirty="0"/>
            </a:br>
            <a:endParaRPr lang="uk-UA" dirty="0"/>
          </a:p>
          <a:p>
            <a:pPr marL="0" indent="0">
              <a:buNone/>
            </a:pPr>
            <a:r>
              <a:rPr lang="uk-UA" dirty="0" err="1"/>
              <a:t>Проєкт</a:t>
            </a:r>
            <a:r>
              <a:rPr lang="uk-UA" dirty="0"/>
              <a:t> передбачає навчання персоналу</a:t>
            </a:r>
          </a:p>
          <a:p>
            <a:pPr marL="400050" lvl="1" indent="0">
              <a:buNone/>
            </a:pPr>
            <a:r>
              <a:rPr lang="uk-UA" dirty="0"/>
              <a:t>не враховано закупівлю обладнання, без якого ці навички не можна буде застосувати</a:t>
            </a:r>
          </a:p>
          <a:p>
            <a:pPr marL="400050" lvl="1" indent="0">
              <a:buNone/>
            </a:pPr>
            <a:r>
              <a:rPr lang="uk-UA" dirty="0"/>
              <a:t>Проведення тренінгів</a:t>
            </a:r>
          </a:p>
          <a:p>
            <a:pPr marL="400050" lvl="1" indent="0">
              <a:buNone/>
            </a:pPr>
            <a:r>
              <a:rPr lang="uk-UA" dirty="0"/>
              <a:t>тощо.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3601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3FD19-2A97-4909-B272-11567D57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altLang="uk-UA" sz="3200" b="1" dirty="0">
                <a:latin typeface="+mn-lt"/>
              </a:rPr>
              <a:t>Недостатньо обґрунтований бюджет</a:t>
            </a:r>
            <a:br>
              <a:rPr lang="uk-UA" altLang="uk-UA" sz="3200" b="1" dirty="0">
                <a:latin typeface="+mn-lt"/>
              </a:rPr>
            </a:br>
            <a:endParaRPr lang="uk-UA" sz="3200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EC62A-1D46-4FD3-A18A-CF31286894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01265"/>
            <a:ext cx="8229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Запитано кошти без пояснення,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Завищені суми,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Відсутній розрахунок (кошторис).</a:t>
            </a:r>
            <a:b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Заявка включає 20 000 євро на «комунікаційні витрати», не розшифровуючи, що саме туди входить.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Вказати: «Комунікаційні витрати: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онлайн-заходів (</a:t>
            </a:r>
            <a:r>
              <a:rPr kumimoji="0" lang="uk-UA" altLang="uk-UA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Zoom</a:t>
            </a: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</a:t>
            </a: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реклама в соцмережах, дизайн банерів, розсилка) – 4000 євро».</a:t>
            </a:r>
          </a:p>
        </p:txBody>
      </p:sp>
    </p:spTree>
    <p:extLst>
      <p:ext uri="{BB962C8B-B14F-4D97-AF65-F5344CB8AC3E}">
        <p14:creationId xmlns:p14="http://schemas.microsoft.com/office/powerpoint/2010/main" val="264173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741DE-DCEA-4324-9D42-EA612D40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altLang="uk-UA" sz="3200" b="1" dirty="0">
                <a:latin typeface="Arial" panose="020B0604020202020204" pitchFamily="34" charset="0"/>
              </a:rPr>
              <a:t>Відсутність </a:t>
            </a:r>
            <a:r>
              <a:rPr lang="uk-UA" altLang="uk-UA" sz="3200" b="1" dirty="0" err="1">
                <a:latin typeface="Arial" panose="020B0604020202020204" pitchFamily="34" charset="0"/>
              </a:rPr>
              <a:t>інноваційності</a:t>
            </a:r>
            <a:r>
              <a:rPr lang="uk-UA" altLang="uk-UA" sz="3200" b="1" dirty="0">
                <a:latin typeface="Arial" panose="020B0604020202020204" pitchFamily="34" charset="0"/>
              </a:rPr>
              <a:t> або наукової новизни</a:t>
            </a:r>
            <a:endParaRPr lang="uk-UA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FF24A1-6066-4602-9EBA-D6960DDA1D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99" y="2524845"/>
            <a:ext cx="6480721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🔸 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Помилка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Проєкт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виглядає як повторення попередніх робіт без уточнення, що буде зроблено по-новому.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Дослідження впливу важких металів у ґрунтах — без вказання методологічних відмінностей чи нових підходів.</a:t>
            </a:r>
          </a:p>
        </p:txBody>
      </p:sp>
    </p:spTree>
    <p:extLst>
      <p:ext uri="{BB962C8B-B14F-4D97-AF65-F5344CB8AC3E}">
        <p14:creationId xmlns:p14="http://schemas.microsoft.com/office/powerpoint/2010/main" val="144770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51AC7-66F7-4893-B8BE-EE597E8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altLang="uk-UA" sz="3200" b="1" dirty="0">
                <a:latin typeface="Arial" panose="020B0604020202020204" pitchFamily="34" charset="0"/>
              </a:rPr>
              <a:t>Недосконала команда або нечіткі ролі</a:t>
            </a:r>
            <a:br>
              <a:rPr lang="uk-UA" altLang="uk-UA" sz="3200" b="1" dirty="0">
                <a:latin typeface="Arial" panose="020B0604020202020204" pitchFamily="34" charset="0"/>
              </a:rPr>
            </a:br>
            <a:endParaRPr lang="uk-UA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2FEBBA-8334-4494-A897-BF260FC595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576" y="1670906"/>
            <a:ext cx="72728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uk-UA" altLang="uk-UA" sz="1800" dirty="0">
                <a:latin typeface="Arial" panose="020B0604020202020204" pitchFamily="34" charset="0"/>
              </a:rPr>
              <a:t>Відсутній CV або ролі розмиті.</a:t>
            </a:r>
            <a:br>
              <a:rPr lang="uk-UA" altLang="uk-UA" sz="1800" dirty="0">
                <a:latin typeface="Arial" panose="020B0604020202020204" pitchFamily="34" charset="0"/>
              </a:rPr>
            </a:br>
            <a:endParaRPr lang="uk-UA" altLang="uk-UA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Учасники не мають релевантного досвіду,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 команді є лише один дослідник без адміністративної або фінансової підтримки.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Представити збалансовану команду: науковий керівник, дослідник, фінансовий менеджер,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комунікаційник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819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F834F-974C-4E08-8B37-C71EA6CE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altLang="uk-UA" sz="3600" b="1" dirty="0">
                <a:latin typeface="Arial" panose="020B0604020202020204" pitchFamily="34" charset="0"/>
              </a:rPr>
              <a:t>Нереалістичні строки реалізації</a:t>
            </a:r>
            <a:br>
              <a:rPr lang="uk-UA" altLang="uk-UA" sz="3600" b="1" dirty="0">
                <a:latin typeface="Arial" panose="020B0604020202020204" pitchFamily="34" charset="0"/>
              </a:rPr>
            </a:br>
            <a:endParaRPr lang="uk-UA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EDA74-119C-4876-BDFC-BFAA20859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61823"/>
            <a:ext cx="67070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План занадто стиснутий або розтягнутий — викликає сумнів у реальності виконання.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«Провести аналітичну обробку 1000 анкет протягом ??????».</a:t>
            </a:r>
          </a:p>
        </p:txBody>
      </p:sp>
    </p:spTree>
    <p:extLst>
      <p:ext uri="{BB962C8B-B14F-4D97-AF65-F5344CB8AC3E}">
        <p14:creationId xmlns:p14="http://schemas.microsoft.com/office/powerpoint/2010/main" val="126120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91A43-0F19-4D4C-B07E-7085C058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altLang="uk-UA" sz="3200" b="1" dirty="0">
                <a:latin typeface="Arial" panose="020B0604020202020204" pitchFamily="34" charset="0"/>
              </a:rPr>
              <a:t>Відсутність впливу або масштабованості результатів</a:t>
            </a:r>
            <a:br>
              <a:rPr lang="uk-UA" altLang="uk-UA" sz="3200" b="1" dirty="0">
                <a:latin typeface="Arial" panose="020B0604020202020204" pitchFamily="34" charset="0"/>
              </a:rPr>
            </a:br>
            <a:endParaRPr lang="uk-UA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DDAA67-A8FD-47ED-B531-320565495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09019"/>
            <a:ext cx="7715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 зазначено, кому й як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проєкт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буде корисний у майбутньому.</a:t>
            </a:r>
            <a:b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«Результати будуть представлені на конференції» — це добре, але замало.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«Результати будуть адаптовані як рекомендації для місцевих органів влади та інтегровані в навчальні програми ЗВО».</a:t>
            </a:r>
          </a:p>
        </p:txBody>
      </p:sp>
    </p:spTree>
    <p:extLst>
      <p:ext uri="{BB962C8B-B14F-4D97-AF65-F5344CB8AC3E}">
        <p14:creationId xmlns:p14="http://schemas.microsoft.com/office/powerpoint/2010/main" val="2952368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3514B-3405-4F61-B52B-125F8E42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Відсутність стратегій поширення результатів (</a:t>
            </a:r>
            <a:r>
              <a:rPr lang="uk-UA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dissemination</a:t>
            </a:r>
            <a:r>
              <a:rPr lang="uk-U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C77173E-6F41-49AE-8ACE-3AE0DB9F1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uk-U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Проєкт</a:t>
            </a: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не передбачає, як результати будуть популяризовані або використані.</a:t>
            </a:r>
            <a:endParaRPr lang="uk-UA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uk-UA" sz="1800" dirty="0">
              <a:effectLst/>
              <a:latin typeface="Segoe UI Emoji" panose="020B0502040204020203" pitchFamily="34" charset="0"/>
              <a:ea typeface="Calibri" panose="020F0502020204030204" pitchFamily="34" charset="0"/>
              <a:cs typeface="Segoe UI Emoji" panose="020B0502040204020203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Важливо показати: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сайти,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публікації,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вебінари</a:t>
            </a: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презентації,</a:t>
            </a:r>
          </a:p>
          <a:p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інтеграція в політику/освіту/бізнес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7100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4BA7F-DA21-4355-A13E-7C0ED8A5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Подача заявки в останній день — без перевірки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1AF23D3-76CD-477A-9F1C-2135404F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Через поспіх часто трапляються технічні помилки, пропущені документи або не завантажені файли.</a:t>
            </a:r>
            <a:b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uk-UA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Треба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мати контрольний чек-лист,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попросити когось прочитати заявку з боку,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подати хоча б за 2–3 дні до дедлайну.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uk-U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74690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15283</TotalTime>
  <Words>469</Words>
  <Application>Microsoft Office PowerPoint</Application>
  <PresentationFormat>Екран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 Emoji</vt:lpstr>
      <vt:lpstr>Тема Office</vt:lpstr>
      <vt:lpstr>Типові помилки</vt:lpstr>
      <vt:lpstr>Типові помилки при подачі</vt:lpstr>
      <vt:lpstr>Нечітке або занадто загальне формулювання цілей проєкту </vt:lpstr>
      <vt:lpstr>Відсутність логіки в структурі проєкту</vt:lpstr>
      <vt:lpstr>Недостатньо обґрунтований бюджет </vt:lpstr>
      <vt:lpstr>Відсутність інноваційності або наукової новизни</vt:lpstr>
      <vt:lpstr>Недосконала команда або нечіткі ролі </vt:lpstr>
      <vt:lpstr>Нереалістичні строки реалізації </vt:lpstr>
      <vt:lpstr>Відсутність впливу або масштабованості результатів </vt:lpstr>
      <vt:lpstr>Відсутність стратегій поширення результатів (dissemination)</vt:lpstr>
      <vt:lpstr>Подача заявки в останній день — без перевірки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Види наукових досліджень та грантів</dc:title>
  <dc:creator>Пользователь Windows</dc:creator>
  <cp:lastModifiedBy>Ольга Петраковская</cp:lastModifiedBy>
  <cp:revision>40</cp:revision>
  <dcterms:created xsi:type="dcterms:W3CDTF">2021-03-22T11:40:17Z</dcterms:created>
  <dcterms:modified xsi:type="dcterms:W3CDTF">2026-04-06T17:28:14Z</dcterms:modified>
</cp:coreProperties>
</file>
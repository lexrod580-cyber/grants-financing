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8" r:id="rId2"/>
    <p:sldId id="285" r:id="rId3"/>
    <p:sldId id="286" r:id="rId4"/>
    <p:sldId id="305" r:id="rId5"/>
    <p:sldId id="298" r:id="rId6"/>
    <p:sldId id="301" r:id="rId7"/>
    <p:sldId id="299" r:id="rId8"/>
    <p:sldId id="300" r:id="rId9"/>
    <p:sldId id="302" r:id="rId10"/>
    <p:sldId id="306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02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02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95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55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86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65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46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71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12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89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9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61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19636-6B6E-4C95-85C1-294833B009B9}" type="datetimeFigureOut">
              <a:rPr lang="ru-RU" smtClean="0"/>
              <a:t>16.04.2021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BA63F-D0A6-42B3-8AEA-8C7C717FA3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15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Види наукових досліджень та грантів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4628728"/>
            <a:ext cx="6400800" cy="1752600"/>
          </a:xfrm>
        </p:spPr>
        <p:txBody>
          <a:bodyPr>
            <a:normAutofit fontScale="70000" lnSpcReduction="20000"/>
          </a:bodyPr>
          <a:lstStyle/>
          <a:p>
            <a:pPr algn="r"/>
            <a:r>
              <a:rPr lang="uk-U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Курс Лекцій з дисципліни </a:t>
            </a:r>
          </a:p>
          <a:p>
            <a:pPr algn="r"/>
            <a:r>
              <a:rPr lang="uk-U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</a:t>
            </a:r>
            <a:r>
              <a:rPr lang="uk-UA" b="1" dirty="0"/>
              <a:t>Фінансування наукових досліджень, грантова </a:t>
            </a:r>
            <a:r>
              <a:rPr lang="uk-UA" b="1" dirty="0" smtClean="0"/>
              <a:t>діяльність</a:t>
            </a:r>
            <a:r>
              <a:rPr lang="uk-U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</a:t>
            </a:r>
          </a:p>
          <a:p>
            <a:pPr algn="r"/>
            <a:r>
              <a:rPr lang="uk-U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аспірантів КНУБА</a:t>
            </a:r>
          </a:p>
          <a:p>
            <a:pPr algn="r"/>
            <a:r>
              <a:rPr lang="uk-U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Проф. </a:t>
            </a:r>
            <a:r>
              <a:rPr lang="uk-UA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Петраковська</a:t>
            </a:r>
            <a:r>
              <a:rPr lang="uk-UA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О.С.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131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Загальновідомі</a:t>
            </a:r>
            <a:r>
              <a:rPr lang="ru-RU" dirty="0" smtClean="0"/>
              <a:t> </a:t>
            </a:r>
            <a:r>
              <a:rPr lang="ru-RU" dirty="0" err="1" smtClean="0"/>
              <a:t>визначення</a:t>
            </a:r>
            <a:r>
              <a:rPr lang="ru-RU" dirty="0" smtClean="0"/>
              <a:t> «гранту»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err="1" smtClean="0">
                <a:solidFill>
                  <a:srgbClr val="FF0000"/>
                </a:solidFill>
              </a:rPr>
              <a:t>Гра́нти</a:t>
            </a:r>
            <a:r>
              <a:rPr lang="ru-RU" dirty="0"/>
              <a:t> (</a:t>
            </a:r>
            <a:r>
              <a:rPr lang="ru-RU" dirty="0" err="1"/>
              <a:t>від</a:t>
            </a:r>
            <a:r>
              <a:rPr lang="ru-RU" dirty="0"/>
              <a:t> </a:t>
            </a:r>
            <a:r>
              <a:rPr lang="ru-RU" dirty="0" smtClean="0"/>
              <a:t>англ.</a:t>
            </a:r>
            <a:r>
              <a:rPr lang="ru-RU" dirty="0"/>
              <a:t> </a:t>
            </a:r>
            <a:r>
              <a:rPr lang="ru-RU" i="1" dirty="0" err="1"/>
              <a:t>grant</a:t>
            </a:r>
            <a:r>
              <a:rPr lang="ru-RU" dirty="0"/>
              <a:t> </a:t>
            </a:r>
            <a:r>
              <a:rPr lang="ru-RU" i="1" dirty="0"/>
              <a:t>—</a:t>
            </a:r>
            <a:r>
              <a:rPr lang="ru-RU" dirty="0"/>
              <a:t> дар, </a:t>
            </a:r>
            <a:r>
              <a:rPr lang="ru-RU" dirty="0" err="1"/>
              <a:t>пожертвування</a:t>
            </a:r>
            <a:r>
              <a:rPr lang="ru-RU" dirty="0"/>
              <a:t>) — </a:t>
            </a:r>
            <a:r>
              <a:rPr lang="ru-RU" dirty="0" err="1"/>
              <a:t>грошові</a:t>
            </a:r>
            <a:r>
              <a:rPr lang="ru-RU" dirty="0"/>
              <a:t> 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засоби</a:t>
            </a:r>
            <a:r>
              <a:rPr lang="ru-RU" dirty="0"/>
              <a:t>, </a:t>
            </a:r>
            <a:r>
              <a:rPr lang="ru-RU" dirty="0" err="1" smtClean="0"/>
              <a:t>що</a:t>
            </a:r>
            <a:r>
              <a:rPr lang="ru-RU" dirty="0"/>
              <a:t>  та </a:t>
            </a:r>
            <a:r>
              <a:rPr lang="ru-RU" dirty="0" err="1" smtClean="0"/>
              <a:t>юридичним</a:t>
            </a:r>
            <a:r>
              <a:rPr lang="uk-UA" dirty="0" smtClean="0"/>
              <a:t>и</a:t>
            </a:r>
            <a:r>
              <a:rPr lang="ru-RU" dirty="0" smtClean="0"/>
              <a:t> </a:t>
            </a:r>
            <a:r>
              <a:rPr lang="ru-RU" dirty="0"/>
              <a:t>особами (в тому </a:t>
            </a:r>
            <a:r>
              <a:rPr lang="ru-RU" dirty="0" err="1"/>
              <a:t>числі</a:t>
            </a:r>
            <a:r>
              <a:rPr lang="ru-RU" dirty="0"/>
              <a:t> </a:t>
            </a:r>
            <a:r>
              <a:rPr lang="ru-RU" dirty="0" err="1"/>
              <a:t>іноземними</a:t>
            </a:r>
            <a:r>
              <a:rPr lang="ru-RU" dirty="0"/>
              <a:t>), а </a:t>
            </a:r>
            <a:r>
              <a:rPr lang="ru-RU" dirty="0" err="1"/>
              <a:t>також</a:t>
            </a:r>
            <a:r>
              <a:rPr lang="ru-RU" dirty="0"/>
              <a:t> </a:t>
            </a:r>
            <a:r>
              <a:rPr lang="ru-RU" dirty="0" err="1" smtClean="0"/>
              <a:t>міжнародними</a:t>
            </a:r>
            <a:r>
              <a:rPr lang="ru-RU" dirty="0" smtClean="0"/>
              <a:t> </a:t>
            </a:r>
            <a:r>
              <a:rPr lang="ru-RU" dirty="0" err="1" smtClean="0"/>
              <a:t>організаціями</a:t>
            </a:r>
            <a:r>
              <a:rPr lang="ru-RU" dirty="0"/>
              <a:t> </a:t>
            </a:r>
            <a:r>
              <a:rPr lang="ru-RU" dirty="0" smtClean="0"/>
              <a:t>для </a:t>
            </a:r>
            <a:r>
              <a:rPr lang="ru-RU" dirty="0" err="1"/>
              <a:t>проведення</a:t>
            </a:r>
            <a:r>
              <a:rPr lang="ru-RU" dirty="0"/>
              <a:t> </a:t>
            </a:r>
            <a:r>
              <a:rPr lang="ru-RU" dirty="0" err="1"/>
              <a:t>конкретних</a:t>
            </a:r>
            <a:r>
              <a:rPr lang="ru-RU" dirty="0"/>
              <a:t> </a:t>
            </a:r>
            <a:r>
              <a:rPr lang="ru-RU" dirty="0" err="1" smtClean="0"/>
              <a:t>наукових</a:t>
            </a:r>
            <a:r>
              <a:rPr lang="ru-RU" dirty="0"/>
              <a:t> </a:t>
            </a:r>
            <a:r>
              <a:rPr lang="ru-RU" dirty="0" err="1" smtClean="0"/>
              <a:t>досліджень</a:t>
            </a:r>
            <a:r>
              <a:rPr lang="ru-RU" dirty="0"/>
              <a:t>, </a:t>
            </a:r>
            <a:r>
              <a:rPr lang="ru-RU" dirty="0" err="1"/>
              <a:t>розробки</a:t>
            </a:r>
            <a:r>
              <a:rPr lang="ru-RU" dirty="0"/>
              <a:t> </a:t>
            </a:r>
            <a:r>
              <a:rPr lang="ru-RU" dirty="0" err="1"/>
              <a:t>законопроєктів</a:t>
            </a:r>
            <a:r>
              <a:rPr lang="ru-RU" dirty="0"/>
              <a:t>, </a:t>
            </a:r>
            <a:r>
              <a:rPr lang="ru-RU" dirty="0" err="1"/>
              <a:t>підготовки</a:t>
            </a:r>
            <a:r>
              <a:rPr lang="ru-RU" dirty="0"/>
              <a:t> </a:t>
            </a:r>
            <a:r>
              <a:rPr lang="ru-RU" dirty="0" err="1"/>
              <a:t>кадрів</a:t>
            </a:r>
            <a:r>
              <a:rPr lang="ru-RU" dirty="0"/>
              <a:t> та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цілей</a:t>
            </a:r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умовах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передбачених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грантодавцем</a:t>
            </a:r>
            <a:r>
              <a:rPr lang="ru-RU" dirty="0"/>
              <a:t>. </a:t>
            </a:r>
            <a:endParaRPr lang="ru-RU" dirty="0" smtClean="0"/>
          </a:p>
          <a:p>
            <a:pPr marL="0" indent="0">
              <a:buNone/>
            </a:pPr>
            <a:r>
              <a:rPr lang="ru-RU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Гранти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надаються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безплатно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і без </a:t>
            </a:r>
            <a:r>
              <a:rPr lang="ru-RU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повернення</a:t>
            </a:r>
            <a:endParaRPr lang="ru-RU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uk-UA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Гранти</a:t>
            </a:r>
            <a:r>
              <a:rPr lang="uk-UA" dirty="0">
                <a:solidFill>
                  <a:srgbClr val="FF0000"/>
                </a:solidFill>
              </a:rPr>
              <a:t> </a:t>
            </a:r>
            <a:r>
              <a:rPr lang="uk-UA" dirty="0"/>
              <a:t>- це </a:t>
            </a:r>
            <a:r>
              <a:rPr lang="uk-UA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безповоротні</a:t>
            </a:r>
            <a:r>
              <a:rPr lang="uk-U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uk-UA" dirty="0"/>
              <a:t>кошти або продукти, що виплачуються або надаються однією стороною (</a:t>
            </a:r>
            <a:r>
              <a:rPr lang="uk-UA" dirty="0" err="1"/>
              <a:t>субсидіантами</a:t>
            </a:r>
            <a:r>
              <a:rPr lang="uk-UA" dirty="0"/>
              <a:t>), часто державним відомством, корпорацією, фондом або трестом, одержувачу, часто (але не завжди) </a:t>
            </a:r>
            <a:r>
              <a:rPr lang="uk-UA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некомерційному суб’єкту, навчальному закладу</a:t>
            </a:r>
            <a:r>
              <a:rPr lang="uk-UA" dirty="0"/>
              <a:t>, бізнесу чи індивідуальна.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20981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Законодавче</a:t>
            </a:r>
            <a:r>
              <a:rPr lang="ru-RU" dirty="0" smtClean="0"/>
              <a:t> </a:t>
            </a:r>
            <a:r>
              <a:rPr lang="ru-RU" dirty="0" err="1" smtClean="0"/>
              <a:t>визначення</a:t>
            </a:r>
            <a:r>
              <a:rPr lang="ru-RU" dirty="0" smtClean="0"/>
              <a:t> </a:t>
            </a:r>
            <a:r>
              <a:rPr lang="ru-RU" dirty="0"/>
              <a:t>«гранту»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Грант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/>
              <a:t>- </a:t>
            </a:r>
            <a:r>
              <a:rPr lang="ru-RU" dirty="0" err="1"/>
              <a:t>фінансові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ресурси</a:t>
            </a:r>
            <a:r>
              <a:rPr lang="ru-RU" dirty="0"/>
              <a:t>,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надані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безоплатній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і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безповоротній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основі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державою</a:t>
            </a:r>
            <a:r>
              <a:rPr lang="ru-RU" dirty="0"/>
              <a:t>, </a:t>
            </a:r>
            <a:r>
              <a:rPr lang="ru-RU" dirty="0" err="1"/>
              <a:t>юридичними</a:t>
            </a:r>
            <a:r>
              <a:rPr lang="ru-RU" dirty="0"/>
              <a:t>, </a:t>
            </a:r>
            <a:r>
              <a:rPr lang="ru-RU" dirty="0" err="1"/>
              <a:t>фізичними</a:t>
            </a:r>
            <a:r>
              <a:rPr lang="ru-RU" dirty="0"/>
              <a:t> особами, у тому </a:t>
            </a:r>
            <a:r>
              <a:rPr lang="ru-RU" dirty="0" err="1"/>
              <a:t>числі</a:t>
            </a:r>
            <a:r>
              <a:rPr lang="ru-RU" dirty="0"/>
              <a:t> </a:t>
            </a:r>
            <a:r>
              <a:rPr lang="ru-RU" dirty="0" err="1"/>
              <a:t>іноземними</a:t>
            </a:r>
            <a:r>
              <a:rPr lang="ru-RU" dirty="0"/>
              <a:t>, та (</a:t>
            </a:r>
            <a:r>
              <a:rPr lang="ru-RU" dirty="0" err="1"/>
              <a:t>або</a:t>
            </a:r>
            <a:r>
              <a:rPr lang="ru-RU" dirty="0"/>
              <a:t>) </a:t>
            </a:r>
            <a:r>
              <a:rPr lang="ru-RU" dirty="0" err="1"/>
              <a:t>міжнародними</a:t>
            </a:r>
            <a:r>
              <a:rPr lang="ru-RU" dirty="0"/>
              <a:t> </a:t>
            </a:r>
            <a:r>
              <a:rPr lang="ru-RU" dirty="0" err="1"/>
              <a:t>організаціями</a:t>
            </a:r>
            <a:r>
              <a:rPr lang="ru-RU" dirty="0"/>
              <a:t> для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матеріально-технічної</a:t>
            </a:r>
            <a:r>
              <a:rPr lang="ru-RU" dirty="0"/>
              <a:t> </a:t>
            </a:r>
            <a:r>
              <a:rPr lang="ru-RU" dirty="0" err="1"/>
              <a:t>бази</a:t>
            </a:r>
            <a:r>
              <a:rPr lang="ru-RU" dirty="0"/>
              <a:t> для </a:t>
            </a:r>
            <a:r>
              <a:rPr lang="ru-RU" dirty="0" err="1"/>
              <a:t>провадження</a:t>
            </a:r>
            <a:r>
              <a:rPr lang="ru-RU" dirty="0"/>
              <a:t> </a:t>
            </a:r>
            <a:r>
              <a:rPr lang="ru-RU" dirty="0" err="1"/>
              <a:t>наукової</a:t>
            </a:r>
            <a:r>
              <a:rPr lang="ru-RU" dirty="0"/>
              <a:t> і </a:t>
            </a:r>
            <a:r>
              <a:rPr lang="ru-RU" dirty="0" err="1"/>
              <a:t>науково-технічної</a:t>
            </a:r>
            <a:r>
              <a:rPr lang="ru-RU" dirty="0"/>
              <a:t> </a:t>
            </a:r>
            <a:r>
              <a:rPr lang="ru-RU" dirty="0" err="1"/>
              <a:t>діяльності</a:t>
            </a:r>
            <a:r>
              <a:rPr lang="ru-RU" dirty="0"/>
              <a:t>, </a:t>
            </a:r>
            <a:r>
              <a:rPr lang="ru-RU" dirty="0" err="1"/>
              <a:t>проведення</a:t>
            </a:r>
            <a:r>
              <a:rPr lang="ru-RU" dirty="0"/>
              <a:t>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фундаментальних</a:t>
            </a:r>
            <a:r>
              <a:rPr lang="ru-RU" dirty="0"/>
              <a:t> та (</a:t>
            </a:r>
            <a:r>
              <a:rPr lang="ru-RU" dirty="0" err="1"/>
              <a:t>або</a:t>
            </a:r>
            <a:r>
              <a:rPr lang="ru-RU" dirty="0"/>
              <a:t>) </a:t>
            </a:r>
            <a:r>
              <a:rPr lang="ru-RU" dirty="0" err="1"/>
              <a:t>прикладних</a:t>
            </a:r>
            <a:r>
              <a:rPr lang="ru-RU" dirty="0"/>
              <a:t> </a:t>
            </a:r>
            <a:r>
              <a:rPr lang="ru-RU" dirty="0" err="1"/>
              <a:t>наукових</a:t>
            </a:r>
            <a:r>
              <a:rPr lang="ru-RU" dirty="0"/>
              <a:t> </a:t>
            </a:r>
            <a:r>
              <a:rPr lang="ru-RU" dirty="0" err="1"/>
              <a:t>досліджень</a:t>
            </a:r>
            <a:r>
              <a:rPr lang="ru-RU" dirty="0"/>
              <a:t>, </a:t>
            </a:r>
            <a:r>
              <a:rPr lang="ru-RU" dirty="0" err="1"/>
              <a:t>науково-технічних</a:t>
            </a:r>
            <a:r>
              <a:rPr lang="ru-RU" dirty="0"/>
              <a:t> (</a:t>
            </a:r>
            <a:r>
              <a:rPr lang="ru-RU" dirty="0" err="1"/>
              <a:t>експериментальних</a:t>
            </a:r>
            <a:r>
              <a:rPr lang="ru-RU" dirty="0"/>
              <a:t>) </a:t>
            </a:r>
            <a:r>
              <a:rPr lang="ru-RU" dirty="0" err="1"/>
              <a:t>розробок</a:t>
            </a:r>
            <a:r>
              <a:rPr lang="ru-RU" dirty="0"/>
              <a:t>, </a:t>
            </a:r>
            <a:r>
              <a:rPr lang="ru-RU" dirty="0" err="1"/>
              <a:t>зокрема</a:t>
            </a:r>
            <a:r>
              <a:rPr lang="ru-RU" dirty="0"/>
              <a:t> на оплату </a:t>
            </a:r>
            <a:r>
              <a:rPr lang="ru-RU" dirty="0" err="1"/>
              <a:t>праці</a:t>
            </a:r>
            <a:r>
              <a:rPr lang="ru-RU" dirty="0"/>
              <a:t> </a:t>
            </a:r>
            <a:r>
              <a:rPr lang="ru-RU" dirty="0" err="1"/>
              <a:t>наукових</a:t>
            </a:r>
            <a:r>
              <a:rPr lang="ru-RU" dirty="0"/>
              <a:t> (</a:t>
            </a:r>
            <a:r>
              <a:rPr lang="ru-RU" dirty="0" err="1"/>
              <a:t>науково-педагогічних</a:t>
            </a:r>
            <a:r>
              <a:rPr lang="ru-RU" dirty="0"/>
              <a:t>) </a:t>
            </a:r>
            <a:r>
              <a:rPr lang="ru-RU" dirty="0" err="1"/>
              <a:t>працівників</a:t>
            </a:r>
            <a:r>
              <a:rPr lang="ru-RU" dirty="0"/>
              <a:t> у рамках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за </a:t>
            </a:r>
            <a:r>
              <a:rPr lang="ru-RU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напрямами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і на </a:t>
            </a:r>
            <a:r>
              <a:rPr lang="ru-RU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умовах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ru-RU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визначених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надавачами</a:t>
            </a:r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гранту</a:t>
            </a:r>
          </a:p>
          <a:p>
            <a:pPr marL="0" indent="0" algn="r">
              <a:buNone/>
            </a:pPr>
            <a:r>
              <a:rPr lang="ru-RU" sz="2600" i="1" dirty="0"/>
              <a:t>«Про </a:t>
            </a:r>
            <a:r>
              <a:rPr lang="ru-RU" sz="2600" i="1" dirty="0" err="1"/>
              <a:t>наукову</a:t>
            </a:r>
            <a:r>
              <a:rPr lang="ru-RU" sz="2600" i="1" dirty="0"/>
              <a:t> і </a:t>
            </a:r>
            <a:r>
              <a:rPr lang="ru-RU" sz="2600" i="1" dirty="0" err="1"/>
              <a:t>науково-технічну</a:t>
            </a:r>
            <a:r>
              <a:rPr lang="ru-RU" sz="2600" i="1" dirty="0"/>
              <a:t> </a:t>
            </a:r>
            <a:r>
              <a:rPr lang="ru-RU" sz="2600" i="1" dirty="0" err="1"/>
              <a:t>діяльність</a:t>
            </a:r>
            <a:r>
              <a:rPr lang="ru-RU" sz="2600" i="1" dirty="0" smtClean="0"/>
              <a:t>»</a:t>
            </a:r>
            <a:endParaRPr lang="uk-UA" sz="2600" dirty="0"/>
          </a:p>
        </p:txBody>
      </p:sp>
    </p:spTree>
    <p:extLst>
      <p:ext uri="{BB962C8B-B14F-4D97-AF65-F5344CB8AC3E}">
        <p14:creationId xmlns:p14="http://schemas.microsoft.com/office/powerpoint/2010/main" val="2949109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Перш </a:t>
            </a:r>
            <a:r>
              <a:rPr lang="ru-RU" dirty="0"/>
              <a:t>за все,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визначитися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ми </a:t>
            </a:r>
            <a:r>
              <a:rPr lang="ru-RU" dirty="0" err="1"/>
              <a:t>розуміємо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терміном</a:t>
            </a:r>
            <a:r>
              <a:rPr lang="ru-RU" dirty="0"/>
              <a:t> «проект</a:t>
            </a:r>
            <a:r>
              <a:rPr lang="ru-RU" dirty="0" smtClean="0"/>
              <a:t>».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Проект </a:t>
            </a:r>
            <a:r>
              <a:rPr lang="ru-RU" dirty="0"/>
              <a:t>— </a:t>
            </a:r>
            <a:r>
              <a:rPr lang="ru-RU" dirty="0" err="1"/>
              <a:t>це</a:t>
            </a:r>
            <a:r>
              <a:rPr lang="ru-RU" dirty="0"/>
              <a:t> комплекс </a:t>
            </a:r>
            <a:r>
              <a:rPr lang="ru-RU" dirty="0" err="1"/>
              <a:t>заходів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здійснюються</a:t>
            </a:r>
            <a:r>
              <a:rPr lang="ru-RU" dirty="0"/>
              <a:t> для </a:t>
            </a:r>
            <a:r>
              <a:rPr lang="ru-RU" dirty="0" err="1"/>
              <a:t>досягнення</a:t>
            </a:r>
            <a:r>
              <a:rPr lang="ru-RU" dirty="0"/>
              <a:t> </a:t>
            </a:r>
            <a:r>
              <a:rPr lang="ru-RU" dirty="0" err="1"/>
              <a:t>чітко</a:t>
            </a:r>
            <a:r>
              <a:rPr lang="ru-RU" dirty="0"/>
              <a:t> </a:t>
            </a:r>
            <a:r>
              <a:rPr lang="ru-RU" dirty="0" err="1"/>
              <a:t>визначених</a:t>
            </a:r>
            <a:r>
              <a:rPr lang="ru-RU" dirty="0"/>
              <a:t> </a:t>
            </a:r>
            <a:r>
              <a:rPr lang="ru-RU" dirty="0" err="1"/>
              <a:t>цілей</a:t>
            </a:r>
            <a:r>
              <a:rPr lang="ru-RU" dirty="0"/>
              <a:t> </a:t>
            </a:r>
            <a:r>
              <a:rPr lang="ru-RU" dirty="0" err="1"/>
              <a:t>впродовж</a:t>
            </a:r>
            <a:r>
              <a:rPr lang="ru-RU" dirty="0"/>
              <a:t> </a:t>
            </a:r>
            <a:r>
              <a:rPr lang="ru-RU" dirty="0" err="1"/>
              <a:t>відведеного</a:t>
            </a:r>
            <a:r>
              <a:rPr lang="ru-RU" dirty="0"/>
              <a:t> часу і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призначених</a:t>
            </a:r>
            <a:r>
              <a:rPr lang="ru-RU" dirty="0"/>
              <a:t> на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фінансових</a:t>
            </a:r>
            <a:r>
              <a:rPr lang="ru-RU" dirty="0"/>
              <a:t> </a:t>
            </a:r>
            <a:r>
              <a:rPr lang="ru-RU" dirty="0" err="1"/>
              <a:t>ресурсів</a:t>
            </a:r>
            <a:r>
              <a:rPr lang="ru-RU" dirty="0"/>
              <a:t> (бюджету</a:t>
            </a:r>
            <a:r>
              <a:rPr lang="ru-RU" dirty="0" smtClean="0"/>
              <a:t>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2197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грантів</a:t>
            </a:r>
            <a:r>
              <a:rPr lang="ru-RU" dirty="0"/>
              <a:t> </a:t>
            </a:r>
            <a:br>
              <a:rPr lang="ru-RU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за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цільовим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призначенням</a:t>
            </a:r>
            <a:r>
              <a:rPr lang="ru-RU" dirty="0" err="1" smtClean="0"/>
              <a:t>в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залежності</a:t>
            </a:r>
            <a:r>
              <a:rPr lang="ru-RU" dirty="0" smtClean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</a:t>
            </a:r>
            <a:r>
              <a:rPr lang="ru-RU" dirty="0" err="1" smtClean="0"/>
              <a:t>виконавців</a:t>
            </a:r>
            <a:endParaRPr lang="ru-RU" dirty="0" smtClean="0"/>
          </a:p>
          <a:p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в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залежності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від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 характеру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заходів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,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що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 </a:t>
            </a:r>
            <a:r>
              <a:rPr lang="ru-RU" altLang="ru-RU" dirty="0" err="1" smtClean="0">
                <a:solidFill>
                  <a:srgbClr val="636363"/>
                </a:solidFill>
                <a:latin typeface="Arsenal"/>
                <a:cs typeface="Times New Roman" pitchFamily="18" charset="0"/>
              </a:rPr>
              <a:t>реалізуються</a:t>
            </a:r>
            <a:endParaRPr lang="ru-RU" altLang="ru-RU" dirty="0" smtClean="0">
              <a:solidFill>
                <a:srgbClr val="636363"/>
              </a:solidFill>
              <a:latin typeface="Arsenal"/>
              <a:cs typeface="Times New Roman" pitchFamily="18" charset="0"/>
            </a:endParaRPr>
          </a:p>
          <a:p>
            <a:r>
              <a:rPr lang="ru-RU" dirty="0"/>
              <a:t>З точки </a:t>
            </a:r>
            <a:r>
              <a:rPr lang="ru-RU" dirty="0" err="1"/>
              <a:t>зору</a:t>
            </a:r>
            <a:r>
              <a:rPr lang="ru-RU" dirty="0"/>
              <a:t> </a:t>
            </a:r>
            <a:r>
              <a:rPr lang="ru-RU" dirty="0" err="1"/>
              <a:t>періодичності</a:t>
            </a:r>
            <a:r>
              <a:rPr lang="ru-RU" dirty="0"/>
              <a:t> </a:t>
            </a:r>
            <a:r>
              <a:rPr lang="ru-RU" dirty="0" err="1"/>
              <a:t>проведення</a:t>
            </a:r>
            <a:r>
              <a:rPr lang="ru-RU" dirty="0"/>
              <a:t> </a:t>
            </a:r>
            <a:r>
              <a:rPr lang="ru-RU" dirty="0" err="1"/>
              <a:t>грантові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99079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uk-UA" dirty="0" smtClean="0"/>
              <a:t>Типи грантів 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за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цільовим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 </a:t>
            </a:r>
            <a:r>
              <a:rPr lang="ru-RU" altLang="ru-RU" dirty="0" err="1" smtClean="0">
                <a:solidFill>
                  <a:srgbClr val="636363"/>
                </a:solidFill>
                <a:latin typeface="Arsenal"/>
                <a:cs typeface="Times New Roman" pitchFamily="18" charset="0"/>
              </a:rPr>
              <a:t>призначенням</a:t>
            </a:r>
            <a:endParaRPr lang="uk-UA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348504"/>
              </p:ext>
            </p:extLst>
          </p:nvPr>
        </p:nvGraphicFramePr>
        <p:xfrm>
          <a:off x="395535" y="1604885"/>
          <a:ext cx="8208913" cy="4346977"/>
        </p:xfrm>
        <a:graphic>
          <a:graphicData uri="http://schemas.openxmlformats.org/drawingml/2006/table">
            <a:tbl>
              <a:tblPr/>
              <a:tblGrid>
                <a:gridCol w="2052229"/>
                <a:gridCol w="6156684"/>
              </a:tblGrid>
              <a:tr h="545666"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Грант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загальної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підтримки</a:t>
                      </a:r>
                      <a:endParaRPr lang="ru-RU" sz="1200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Надається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для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підтримки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основної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діяльності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організації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забезпечення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стабільності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та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розвитку</a:t>
                      </a:r>
                      <a:endParaRPr lang="ru-RU" sz="1200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1406"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Грант на програми або проєкти</a:t>
                      </a: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Надається для реалізації конкретних проєктів або програм</a:t>
                      </a: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1406"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Грант із частковим фінансуванням</a:t>
                      </a: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Передбачає обов’язкове залучення додаткових джерел фінансування (інші донорські організації або власні кошти організації, установи)</a:t>
                      </a: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1406"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Капітальний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грант</a:t>
                      </a: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Надається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на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капітальні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витрати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(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придбання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нерухомості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ремонт,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придбання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необхідного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обладнання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)</a:t>
                      </a: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5666"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Корпоративний грант</a:t>
                      </a: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Надається підприємницькими структурами. Може передбачати співфінансування проекту з боку бізнесу</a:t>
                      </a: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91427"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Початковий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грант</a:t>
                      </a: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Надається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на початковому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етапі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розвитку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підприємства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організації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чи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установи з метою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забезпечення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їх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стабільності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та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функціонування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.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Також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може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бути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спрямований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на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створення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нових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організацій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(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або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нових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напрямів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у межах </a:t>
                      </a:r>
                      <a:r>
                        <a:rPr lang="ru-RU" sz="1200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діючого</a:t>
                      </a:r>
                      <a:r>
                        <a:rPr lang="ru-RU" sz="1200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)</a:t>
                      </a:r>
                    </a:p>
                  </a:txBody>
                  <a:tcPr marL="82230" marR="82230" marT="82230" marB="8223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96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Типи</a:t>
            </a:r>
            <a:r>
              <a:rPr lang="ru-RU" dirty="0" smtClean="0"/>
              <a:t> </a:t>
            </a:r>
            <a:r>
              <a:rPr lang="ru-RU" dirty="0" err="1" smtClean="0"/>
              <a:t>грантів</a:t>
            </a:r>
            <a:r>
              <a:rPr lang="ru-RU" dirty="0" smtClean="0"/>
              <a:t> в </a:t>
            </a:r>
            <a:r>
              <a:rPr lang="ru-RU" dirty="0" err="1"/>
              <a:t>залежності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</a:t>
            </a:r>
            <a:r>
              <a:rPr lang="ru-RU" dirty="0" err="1" smtClean="0"/>
              <a:t>виконавців</a:t>
            </a:r>
            <a:endParaRPr lang="uk-UA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6231288"/>
              </p:ext>
            </p:extLst>
          </p:nvPr>
        </p:nvGraphicFramePr>
        <p:xfrm>
          <a:off x="457200" y="2659221"/>
          <a:ext cx="8229600" cy="2956560"/>
        </p:xfrm>
        <a:graphic>
          <a:graphicData uri="http://schemas.openxmlformats.org/drawingml/2006/table">
            <a:tbl>
              <a:tblPr/>
              <a:tblGrid>
                <a:gridCol w="2242592"/>
                <a:gridCol w="5987008"/>
              </a:tblGrid>
              <a:tr h="0"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ru-RU" cap="all" baseline="0" dirty="0" err="1"/>
                        <a:t>Індивідуальний</a:t>
                      </a:r>
                      <a:endParaRPr lang="ru-RU" cap="all" baseline="0" dirty="0"/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Один учасник - одночасно є і керівником, і виконавцем робіт за грантом</a:t>
                      </a: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Колективний</a:t>
                      </a:r>
                      <a:endParaRPr lang="ru-RU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Група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осіб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(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від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двох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і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більше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),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що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належать до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однієї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організації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компанії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навчального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закладу</a:t>
                      </a: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Партнерський</a:t>
                      </a:r>
                      <a:endParaRPr lang="ru-RU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Проектна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команда. До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участі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залучаються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особи з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різних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організацій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установ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чи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навіть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країн</a:t>
                      </a:r>
                      <a:endParaRPr lang="ru-RU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886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dirty="0" err="1" smtClean="0">
                <a:solidFill>
                  <a:srgbClr val="636363"/>
                </a:solidFill>
                <a:latin typeface="Arsenal"/>
                <a:cs typeface="Times New Roman" pitchFamily="18" charset="0"/>
              </a:rPr>
              <a:t>Типи</a:t>
            </a:r>
            <a:r>
              <a:rPr lang="ru-RU" altLang="ru-RU" dirty="0" smtClean="0">
                <a:solidFill>
                  <a:srgbClr val="636363"/>
                </a:solidFill>
                <a:latin typeface="Arsenal"/>
                <a:cs typeface="Times New Roman" pitchFamily="18" charset="0"/>
              </a:rPr>
              <a:t> </a:t>
            </a:r>
            <a:r>
              <a:rPr lang="ru-RU" altLang="ru-RU" dirty="0" err="1" smtClean="0">
                <a:solidFill>
                  <a:srgbClr val="636363"/>
                </a:solidFill>
                <a:latin typeface="Arsenal"/>
                <a:cs typeface="Times New Roman" pitchFamily="18" charset="0"/>
              </a:rPr>
              <a:t>грантів</a:t>
            </a:r>
            <a:r>
              <a:rPr lang="ru-RU" altLang="ru-RU" dirty="0" smtClean="0">
                <a:solidFill>
                  <a:srgbClr val="636363"/>
                </a:solidFill>
                <a:latin typeface="Arsenal"/>
                <a:cs typeface="Times New Roman" pitchFamily="18" charset="0"/>
              </a:rPr>
              <a:t> в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залежності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від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 характеру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заходів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,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що</a:t>
            </a:r>
            <a:r>
              <a:rPr lang="ru-RU" altLang="ru-RU" dirty="0">
                <a:solidFill>
                  <a:srgbClr val="636363"/>
                </a:solidFill>
                <a:latin typeface="Arsenal"/>
                <a:cs typeface="Times New Roman" pitchFamily="18" charset="0"/>
              </a:rPr>
              <a:t> </a:t>
            </a:r>
            <a:r>
              <a:rPr lang="ru-RU" altLang="ru-RU" dirty="0" err="1">
                <a:solidFill>
                  <a:srgbClr val="636363"/>
                </a:solidFill>
                <a:latin typeface="Arsenal"/>
                <a:cs typeface="Times New Roman" pitchFamily="18" charset="0"/>
              </a:rPr>
              <a:t>реалізуються</a:t>
            </a:r>
            <a:endParaRPr lang="uk-UA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368809"/>
              </p:ext>
            </p:extLst>
          </p:nvPr>
        </p:nvGraphicFramePr>
        <p:xfrm>
          <a:off x="457200" y="1772816"/>
          <a:ext cx="8229600" cy="403352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1023565"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Грант на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дослідження</a:t>
                      </a:r>
                      <a:endParaRPr lang="ru-RU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Для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досліджень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в рамках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створення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інноваційних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продуктів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виготовлення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MVP,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дослідження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ринку</a:t>
                      </a: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Грант на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навчання</a:t>
                      </a:r>
                      <a:endParaRPr lang="ru-RU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довготривале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стажування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чи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навчання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за кордоном</a:t>
                      </a: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Грант на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індивідуальну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мобільність</a:t>
                      </a:r>
                      <a:endParaRPr lang="ru-RU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На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поїздки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і участь в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конференціях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виставках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конгресах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тощо</a:t>
                      </a:r>
                      <a:endParaRPr lang="ru-RU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Грант на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проведення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подій</a:t>
                      </a:r>
                      <a:endParaRPr lang="ru-RU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Для оплати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витрат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,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пов’язаних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із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проведенням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конференцій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та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інших</a:t>
                      </a:r>
                      <a:r>
                        <a:rPr lang="ru-RU" b="0" cap="all" baseline="0" dirty="0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 </a:t>
                      </a:r>
                      <a:r>
                        <a:rPr lang="ru-RU" b="0" cap="all" baseline="0" dirty="0" err="1">
                          <a:solidFill>
                            <a:srgbClr val="4D4C4C"/>
                          </a:solidFill>
                          <a:effectLst/>
                          <a:latin typeface="Arimo"/>
                        </a:rPr>
                        <a:t>заходів</a:t>
                      </a:r>
                      <a:endParaRPr lang="ru-RU" b="0" cap="all" baseline="0" dirty="0">
                        <a:solidFill>
                          <a:srgbClr val="4D4C4C"/>
                        </a:solidFill>
                        <a:effectLst/>
                        <a:latin typeface="Arimo"/>
                      </a:endParaRPr>
                    </a:p>
                  </a:txBody>
                  <a:tcPr marL="127000" marR="127000" marT="127000" marB="1270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65" y="1285445"/>
            <a:ext cx="65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 smtClean="0">
                <a:ln>
                  <a:noFill/>
                </a:ln>
                <a:solidFill>
                  <a:srgbClr val="636363"/>
                </a:solidFill>
                <a:effectLst/>
                <a:latin typeface="Arsenal"/>
                <a:cs typeface="Times New Roman" pitchFamily="18" charset="0"/>
              </a:rPr>
              <a:t/>
            </a:r>
            <a:br>
              <a:rPr kumimoji="0" lang="ru-RU" altLang="ru-RU" sz="1500" b="0" i="0" u="none" strike="noStrike" cap="none" normalizeH="0" baseline="0" dirty="0" smtClean="0">
                <a:ln>
                  <a:noFill/>
                </a:ln>
                <a:solidFill>
                  <a:srgbClr val="636363"/>
                </a:solidFill>
                <a:effectLst/>
                <a:latin typeface="Arsenal"/>
                <a:cs typeface="Times New Roman" pitchFamily="18" charset="0"/>
              </a:rPr>
            </a:br>
            <a:endParaRPr kumimoji="0" lang="ru-RU" alt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23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 точки </a:t>
            </a:r>
            <a:r>
              <a:rPr lang="ru-RU" dirty="0" err="1"/>
              <a:t>зору</a:t>
            </a:r>
            <a:r>
              <a:rPr lang="ru-RU" dirty="0"/>
              <a:t> </a:t>
            </a:r>
            <a:r>
              <a:rPr lang="ru-RU" dirty="0" err="1"/>
              <a:t>періодичності</a:t>
            </a:r>
            <a:r>
              <a:rPr lang="ru-RU" dirty="0"/>
              <a:t> </a:t>
            </a:r>
            <a:r>
              <a:rPr lang="ru-RU" dirty="0" err="1"/>
              <a:t>проведення</a:t>
            </a:r>
            <a:r>
              <a:rPr lang="ru-RU" dirty="0"/>
              <a:t> </a:t>
            </a:r>
            <a:r>
              <a:rPr lang="ru-RU" dirty="0" err="1"/>
              <a:t>грантові</a:t>
            </a:r>
            <a:r>
              <a:rPr lang="ru-RU" dirty="0"/>
              <a:t> </a:t>
            </a:r>
            <a:r>
              <a:rPr lang="ru-RU" dirty="0" err="1" smtClean="0"/>
              <a:t>програми</a:t>
            </a:r>
            <a:endParaRPr lang="uk-UA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8756247"/>
              </p:ext>
            </p:extLst>
          </p:nvPr>
        </p:nvGraphicFramePr>
        <p:xfrm>
          <a:off x="457200" y="1600200"/>
          <a:ext cx="8229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разові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конкурси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uk-UA" b="0" cap="al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програми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грантів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які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проводяться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благодійними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фондами один раз (як правило, вони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спрямовані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на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досягнення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певних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цілей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і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завдань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endParaRPr lang="uk-UA" b="0" cap="al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циклічні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конкурси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uk-UA" b="0" cap="al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програми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грантів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які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повторюються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через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певні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проміжки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часу - один-два рази на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рік</a:t>
                      </a:r>
                      <a:endParaRPr lang="ru-RU" b="0" cap="all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uk-UA" b="0" cap="al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постійні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конкурси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uk-UA" b="0" cap="al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програми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грантів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які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не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мають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певних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термінів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подання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заявок на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фінансування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Проекти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розглядаються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за фактом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їх</a:t>
                      </a:r>
                      <a:r>
                        <a:rPr lang="ru-RU" b="0" cap="all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cap="all" baseline="0" dirty="0" err="1" smtClean="0">
                          <a:solidFill>
                            <a:schemeClr val="tx1"/>
                          </a:solidFill>
                        </a:rPr>
                        <a:t>надходження</a:t>
                      </a:r>
                      <a:endParaRPr lang="ru-RU" b="0" cap="all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uk-UA" b="0" cap="al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870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Питання для самоконтролю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 smtClean="0"/>
              <a:t>1. Поняття «</a:t>
            </a:r>
            <a:r>
              <a:rPr lang="uk-UA" dirty="0" err="1" smtClean="0"/>
              <a:t>гарнт</a:t>
            </a:r>
            <a:r>
              <a:rPr lang="uk-UA" dirty="0" smtClean="0"/>
              <a:t>».</a:t>
            </a:r>
          </a:p>
          <a:p>
            <a:pPr marL="0" indent="0">
              <a:buNone/>
            </a:pPr>
            <a:r>
              <a:rPr lang="uk-UA" dirty="0" smtClean="0"/>
              <a:t>2. Умови надання гранту.</a:t>
            </a:r>
          </a:p>
          <a:p>
            <a:pPr marL="0" indent="0">
              <a:buNone/>
            </a:pPr>
            <a:r>
              <a:rPr lang="uk-UA" dirty="0" smtClean="0"/>
              <a:t>3.Поняття «проект»</a:t>
            </a:r>
          </a:p>
          <a:p>
            <a:pPr marL="0" indent="0">
              <a:buNone/>
            </a:pPr>
            <a:r>
              <a:rPr lang="uk-UA" dirty="0" smtClean="0"/>
              <a:t>4. Класифікація грантів за різними класифікаційними ознаками.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242067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1A39B6876C211408AD94B7AD18C306D" ma:contentTypeVersion="3" ma:contentTypeDescription="Створення нового документа." ma:contentTypeScope="" ma:versionID="be7e06911f8c9f8a0d5dc21aec56b5c4">
  <xsd:schema xmlns:xsd="http://www.w3.org/2001/XMLSchema" xmlns:xs="http://www.w3.org/2001/XMLSchema" xmlns:p="http://schemas.microsoft.com/office/2006/metadata/properties" xmlns:ns2="af77c1bb-443f-4c14-9b2b-e1438a921e9b" targetNamespace="http://schemas.microsoft.com/office/2006/metadata/properties" ma:root="true" ma:fieldsID="2bfcb79d6726600b241ce3cb047d83ce" ns2:_="">
    <xsd:import namespace="af77c1bb-443f-4c14-9b2b-e1438a921e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77c1bb-443f-4c14-9b2b-e1438a921e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79DC37-C04A-4147-84DF-2079A4F7FB40}"/>
</file>

<file path=customXml/itemProps2.xml><?xml version="1.0" encoding="utf-8"?>
<ds:datastoreItem xmlns:ds="http://schemas.openxmlformats.org/officeDocument/2006/customXml" ds:itemID="{1318B8DE-CCCF-437B-9649-4B7200593A61}"/>
</file>

<file path=customXml/itemProps3.xml><?xml version="1.0" encoding="utf-8"?>
<ds:datastoreItem xmlns:ds="http://schemas.openxmlformats.org/officeDocument/2006/customXml" ds:itemID="{51A215ED-6DC8-4C48-914D-82F75F319687}"/>
</file>

<file path=docProps/app.xml><?xml version="1.0" encoding="utf-8"?>
<Properties xmlns="http://schemas.openxmlformats.org/officeDocument/2006/extended-properties" xmlns:vt="http://schemas.openxmlformats.org/officeDocument/2006/docPropsVTypes">
  <TotalTime>11812</TotalTime>
  <Words>527</Words>
  <Application>Microsoft Office PowerPoint</Application>
  <PresentationFormat>Экран (4:3)</PresentationFormat>
  <Paragraphs>63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Види наукових досліджень та грантів</vt:lpstr>
      <vt:lpstr>Загальновідомі визначення «гранту»</vt:lpstr>
      <vt:lpstr>Законодавче визначення «гранту»</vt:lpstr>
      <vt:lpstr>Презентация PowerPoint</vt:lpstr>
      <vt:lpstr>Типи грантів  </vt:lpstr>
      <vt:lpstr>Типи грантів за цільовим призначенням</vt:lpstr>
      <vt:lpstr>Типи грантів в залежності від кількості виконавців</vt:lpstr>
      <vt:lpstr>Типи грантів в залежності від характеру заходів, що реалізуються</vt:lpstr>
      <vt:lpstr>З точки зору періодичності проведення грантові програми</vt:lpstr>
      <vt:lpstr>Питання для самоконтролю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Особливо цінні землі</dc:title>
  <dc:creator>Пользователь Windows</dc:creator>
  <cp:lastModifiedBy>Пользователь Windows</cp:lastModifiedBy>
  <cp:revision>55</cp:revision>
  <dcterms:created xsi:type="dcterms:W3CDTF">2018-03-26T02:25:57Z</dcterms:created>
  <dcterms:modified xsi:type="dcterms:W3CDTF">2021-04-16T19:36:34Z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0x01010071A39B6876C211408AD94B7AD18C306D</vt:lpwstr>
  </property>
</Properties>
</file>
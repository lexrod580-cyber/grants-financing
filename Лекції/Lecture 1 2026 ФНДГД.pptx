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sldIdLst>
    <p:sldId id="258" r:id="rId2"/>
    <p:sldId id="267" r:id="rId3"/>
    <p:sldId id="259" r:id="rId4"/>
    <p:sldId id="291" r:id="rId5"/>
    <p:sldId id="262" r:id="rId6"/>
    <p:sldId id="276" r:id="rId7"/>
    <p:sldId id="277" r:id="rId8"/>
    <p:sldId id="260" r:id="rId9"/>
    <p:sldId id="261" r:id="rId10"/>
    <p:sldId id="268" r:id="rId11"/>
    <p:sldId id="269" r:id="rId12"/>
    <p:sldId id="264" r:id="rId13"/>
    <p:sldId id="281" r:id="rId14"/>
    <p:sldId id="270" r:id="rId15"/>
    <p:sldId id="282" r:id="rId16"/>
    <p:sldId id="289" r:id="rId17"/>
    <p:sldId id="284" r:id="rId18"/>
    <p:sldId id="271" r:id="rId19"/>
    <p:sldId id="273" r:id="rId20"/>
    <p:sldId id="280" r:id="rId21"/>
    <p:sldId id="272" r:id="rId22"/>
    <p:sldId id="290" r:id="rId23"/>
    <p:sldId id="274" r:id="rId24"/>
    <p:sldId id="279" r:id="rId25"/>
    <p:sldId id="287" r:id="rId26"/>
    <p:sldId id="288" r:id="rId27"/>
    <p:sldId id="286" r:id="rId28"/>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94" autoAdjust="0"/>
  </p:normalViewPr>
  <p:slideViewPr>
    <p:cSldViewPr>
      <p:cViewPr varScale="1">
        <p:scale>
          <a:sx n="82" d="100"/>
          <a:sy n="82" d="100"/>
        </p:scale>
        <p:origin x="1167"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4DA19636-6B6E-4C95-85C1-294833B009B9}" type="datetimeFigureOut">
              <a:rPr lang="ru-RU" smtClean="0"/>
              <a:t>09.03.2026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0BBA63F-D0A6-42B3-8AEA-8C7C717FA34F}" type="slidenum">
              <a:rPr lang="ru-RU" smtClean="0"/>
              <a:t>‹№›</a:t>
            </a:fld>
            <a:endParaRPr lang="ru-RU"/>
          </a:p>
        </p:txBody>
      </p:sp>
    </p:spTree>
    <p:extLst>
      <p:ext uri="{BB962C8B-B14F-4D97-AF65-F5344CB8AC3E}">
        <p14:creationId xmlns:p14="http://schemas.microsoft.com/office/powerpoint/2010/main" val="3156024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4DA19636-6B6E-4C95-85C1-294833B009B9}" type="datetimeFigureOut">
              <a:rPr lang="ru-RU" smtClean="0"/>
              <a:t>09.03.2026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0BBA63F-D0A6-42B3-8AEA-8C7C717FA34F}" type="slidenum">
              <a:rPr lang="ru-RU" smtClean="0"/>
              <a:t>‹№›</a:t>
            </a:fld>
            <a:endParaRPr lang="ru-RU"/>
          </a:p>
        </p:txBody>
      </p:sp>
    </p:spTree>
    <p:extLst>
      <p:ext uri="{BB962C8B-B14F-4D97-AF65-F5344CB8AC3E}">
        <p14:creationId xmlns:p14="http://schemas.microsoft.com/office/powerpoint/2010/main" val="190995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4DA19636-6B6E-4C95-85C1-294833B009B9}" type="datetimeFigureOut">
              <a:rPr lang="ru-RU" smtClean="0"/>
              <a:t>09.03.2026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0BBA63F-D0A6-42B3-8AEA-8C7C717FA34F}" type="slidenum">
              <a:rPr lang="ru-RU" smtClean="0"/>
              <a:t>‹№›</a:t>
            </a:fld>
            <a:endParaRPr lang="ru-RU"/>
          </a:p>
        </p:txBody>
      </p:sp>
    </p:spTree>
    <p:extLst>
      <p:ext uri="{BB962C8B-B14F-4D97-AF65-F5344CB8AC3E}">
        <p14:creationId xmlns:p14="http://schemas.microsoft.com/office/powerpoint/2010/main" val="1338552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4DA19636-6B6E-4C95-85C1-294833B009B9}" type="datetimeFigureOut">
              <a:rPr lang="ru-RU" smtClean="0"/>
              <a:t>09.03.2026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0BBA63F-D0A6-42B3-8AEA-8C7C717FA34F}" type="slidenum">
              <a:rPr lang="ru-RU" smtClean="0"/>
              <a:t>‹№›</a:t>
            </a:fld>
            <a:endParaRPr lang="ru-RU"/>
          </a:p>
        </p:txBody>
      </p:sp>
    </p:spTree>
    <p:extLst>
      <p:ext uri="{BB962C8B-B14F-4D97-AF65-F5344CB8AC3E}">
        <p14:creationId xmlns:p14="http://schemas.microsoft.com/office/powerpoint/2010/main" val="2668869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4DA19636-6B6E-4C95-85C1-294833B009B9}" type="datetimeFigureOut">
              <a:rPr lang="ru-RU" smtClean="0"/>
              <a:t>09.03.2026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0BBA63F-D0A6-42B3-8AEA-8C7C717FA34F}" type="slidenum">
              <a:rPr lang="ru-RU" smtClean="0"/>
              <a:t>‹№›</a:t>
            </a:fld>
            <a:endParaRPr lang="ru-RU"/>
          </a:p>
        </p:txBody>
      </p:sp>
    </p:spTree>
    <p:extLst>
      <p:ext uri="{BB962C8B-B14F-4D97-AF65-F5344CB8AC3E}">
        <p14:creationId xmlns:p14="http://schemas.microsoft.com/office/powerpoint/2010/main" val="2019654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4DA19636-6B6E-4C95-85C1-294833B009B9}" type="datetimeFigureOut">
              <a:rPr lang="ru-RU" smtClean="0"/>
              <a:t>09.03.2026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0BBA63F-D0A6-42B3-8AEA-8C7C717FA34F}" type="slidenum">
              <a:rPr lang="ru-RU" smtClean="0"/>
              <a:t>‹№›</a:t>
            </a:fld>
            <a:endParaRPr lang="ru-RU"/>
          </a:p>
        </p:txBody>
      </p:sp>
    </p:spTree>
    <p:extLst>
      <p:ext uri="{BB962C8B-B14F-4D97-AF65-F5344CB8AC3E}">
        <p14:creationId xmlns:p14="http://schemas.microsoft.com/office/powerpoint/2010/main" val="870462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4DA19636-6B6E-4C95-85C1-294833B009B9}" type="datetimeFigureOut">
              <a:rPr lang="ru-RU" smtClean="0"/>
              <a:t>09.03.2026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0BBA63F-D0A6-42B3-8AEA-8C7C717FA34F}" type="slidenum">
              <a:rPr lang="ru-RU" smtClean="0"/>
              <a:t>‹№›</a:t>
            </a:fld>
            <a:endParaRPr lang="ru-RU"/>
          </a:p>
        </p:txBody>
      </p:sp>
    </p:spTree>
    <p:extLst>
      <p:ext uri="{BB962C8B-B14F-4D97-AF65-F5344CB8AC3E}">
        <p14:creationId xmlns:p14="http://schemas.microsoft.com/office/powerpoint/2010/main" val="3754716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4DA19636-6B6E-4C95-85C1-294833B009B9}" type="datetimeFigureOut">
              <a:rPr lang="ru-RU" smtClean="0"/>
              <a:t>09.03.2026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0BBA63F-D0A6-42B3-8AEA-8C7C717FA34F}" type="slidenum">
              <a:rPr lang="ru-RU" smtClean="0"/>
              <a:t>‹№›</a:t>
            </a:fld>
            <a:endParaRPr lang="ru-RU"/>
          </a:p>
        </p:txBody>
      </p:sp>
    </p:spTree>
    <p:extLst>
      <p:ext uri="{BB962C8B-B14F-4D97-AF65-F5344CB8AC3E}">
        <p14:creationId xmlns:p14="http://schemas.microsoft.com/office/powerpoint/2010/main" val="1957120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4DA19636-6B6E-4C95-85C1-294833B009B9}" type="datetimeFigureOut">
              <a:rPr lang="ru-RU" smtClean="0"/>
              <a:t>09.03.2026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0BBA63F-D0A6-42B3-8AEA-8C7C717FA34F}" type="slidenum">
              <a:rPr lang="ru-RU" smtClean="0"/>
              <a:t>‹№›</a:t>
            </a:fld>
            <a:endParaRPr lang="ru-RU"/>
          </a:p>
        </p:txBody>
      </p:sp>
    </p:spTree>
    <p:extLst>
      <p:ext uri="{BB962C8B-B14F-4D97-AF65-F5344CB8AC3E}">
        <p14:creationId xmlns:p14="http://schemas.microsoft.com/office/powerpoint/2010/main" val="3032894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4DA19636-6B6E-4C95-85C1-294833B009B9}" type="datetimeFigureOut">
              <a:rPr lang="ru-RU" smtClean="0"/>
              <a:t>09.03.2026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0BBA63F-D0A6-42B3-8AEA-8C7C717FA34F}" type="slidenum">
              <a:rPr lang="ru-RU" smtClean="0"/>
              <a:t>‹№›</a:t>
            </a:fld>
            <a:endParaRPr lang="ru-RU"/>
          </a:p>
        </p:txBody>
      </p:sp>
    </p:spTree>
    <p:extLst>
      <p:ext uri="{BB962C8B-B14F-4D97-AF65-F5344CB8AC3E}">
        <p14:creationId xmlns:p14="http://schemas.microsoft.com/office/powerpoint/2010/main" val="1741392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4DA19636-6B6E-4C95-85C1-294833B009B9}" type="datetimeFigureOut">
              <a:rPr lang="ru-RU" smtClean="0"/>
              <a:t>09.03.2026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0BBA63F-D0A6-42B3-8AEA-8C7C717FA34F}" type="slidenum">
              <a:rPr lang="ru-RU" smtClean="0"/>
              <a:t>‹№›</a:t>
            </a:fld>
            <a:endParaRPr lang="ru-RU"/>
          </a:p>
        </p:txBody>
      </p:sp>
    </p:spTree>
    <p:extLst>
      <p:ext uri="{BB962C8B-B14F-4D97-AF65-F5344CB8AC3E}">
        <p14:creationId xmlns:p14="http://schemas.microsoft.com/office/powerpoint/2010/main" val="3285616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A19636-6B6E-4C95-85C1-294833B009B9}" type="datetimeFigureOut">
              <a:rPr lang="ru-RU" smtClean="0"/>
              <a:t>09.03.2026</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BBA63F-D0A6-42B3-8AEA-8C7C717FA34F}" type="slidenum">
              <a:rPr lang="ru-RU" smtClean="0"/>
              <a:t>‹№›</a:t>
            </a:fld>
            <a:endParaRPr lang="ru-RU"/>
          </a:p>
        </p:txBody>
      </p:sp>
    </p:spTree>
    <p:extLst>
      <p:ext uri="{BB962C8B-B14F-4D97-AF65-F5344CB8AC3E}">
        <p14:creationId xmlns:p14="http://schemas.microsoft.com/office/powerpoint/2010/main" val="2767157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zakon.rada.gov.ua/laws/show/4712-20#n18" TargetMode="External"/><Relationship Id="rId2" Type="http://schemas.openxmlformats.org/officeDocument/2006/relationships/hyperlink" Target="https://zakon.rada.gov.ua/laws/show/153-2002-%D0%BF#Text" TargetMode="External"/><Relationship Id="rId1" Type="http://schemas.openxmlformats.org/officeDocument/2006/relationships/slideLayout" Target="../slideLayouts/slideLayout2.xml"/><Relationship Id="rId6" Type="http://schemas.openxmlformats.org/officeDocument/2006/relationships/hyperlink" Target="https://zakon.rada.gov.ua/laws/show/z1133-11#Text" TargetMode="External"/><Relationship Id="rId5" Type="http://schemas.openxmlformats.org/officeDocument/2006/relationships/hyperlink" Target="https://zakon.rada.gov.ua/laws/show/z1564-17#n13" TargetMode="External"/><Relationship Id="rId4" Type="http://schemas.openxmlformats.org/officeDocument/2006/relationships/hyperlink" Target="https://zakon.rada.gov.ua/laws/show/1333-2007-%D0%BF#Text"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zakon.rada.gov.ua/laws/show/2623-14#Text"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zakon.rada.gov.ua/laws/show/2102-20" TargetMode="External"/><Relationship Id="rId2" Type="http://schemas.openxmlformats.org/officeDocument/2006/relationships/hyperlink" Target="https://zakon.rada.gov.ua/laws/show/64/2022"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fontScale="90000"/>
          </a:bodyPr>
          <a:lstStyle/>
          <a:p>
            <a:r>
              <a:rPr lang="ru-RU" b="1" dirty="0" err="1"/>
              <a:t>Законодавче</a:t>
            </a:r>
            <a:r>
              <a:rPr lang="ru-RU" b="1" dirty="0"/>
              <a:t> </a:t>
            </a:r>
            <a:r>
              <a:rPr lang="ru-RU" b="1" dirty="0" err="1"/>
              <a:t>регулювання</a:t>
            </a:r>
            <a:r>
              <a:rPr lang="ru-RU" b="1" dirty="0"/>
              <a:t> </a:t>
            </a:r>
            <a:br>
              <a:rPr lang="ru-RU" b="1" dirty="0"/>
            </a:br>
            <a:r>
              <a:rPr lang="ru-RU" b="1" dirty="0" err="1"/>
              <a:t>наукової</a:t>
            </a:r>
            <a:r>
              <a:rPr lang="ru-RU" b="1" dirty="0"/>
              <a:t> і </a:t>
            </a:r>
            <a:r>
              <a:rPr lang="ru-RU" b="1" dirty="0" err="1"/>
              <a:t>науково-технічної</a:t>
            </a:r>
            <a:r>
              <a:rPr lang="ru-RU" b="1" dirty="0"/>
              <a:t> </a:t>
            </a:r>
            <a:r>
              <a:rPr lang="ru-RU" b="1" dirty="0" err="1"/>
              <a:t>діяльності</a:t>
            </a:r>
            <a:endParaRPr lang="ru-RU" b="1" dirty="0"/>
          </a:p>
        </p:txBody>
      </p:sp>
      <p:sp>
        <p:nvSpPr>
          <p:cNvPr id="3" name="Подзаголовок 2"/>
          <p:cNvSpPr>
            <a:spLocks noGrp="1"/>
          </p:cNvSpPr>
          <p:nvPr>
            <p:ph type="subTitle" idx="1"/>
          </p:nvPr>
        </p:nvSpPr>
        <p:spPr>
          <a:xfrm>
            <a:off x="1371600" y="4628728"/>
            <a:ext cx="6400800" cy="1752600"/>
          </a:xfrm>
        </p:spPr>
        <p:txBody>
          <a:bodyPr>
            <a:normAutofit fontScale="70000" lnSpcReduction="20000"/>
          </a:bodyPr>
          <a:lstStyle/>
          <a:p>
            <a:pPr algn="r"/>
            <a:r>
              <a:rPr lang="uk-UA" dirty="0">
                <a:effectLst>
                  <a:outerShdw blurRad="38100" dist="38100" dir="2700000" algn="tl">
                    <a:srgbClr val="000000">
                      <a:alpha val="43137"/>
                    </a:srgbClr>
                  </a:outerShdw>
                </a:effectLst>
              </a:rPr>
              <a:t>Курс Лекцій з дисципліни </a:t>
            </a:r>
          </a:p>
          <a:p>
            <a:pPr algn="r"/>
            <a:r>
              <a:rPr lang="uk-UA" dirty="0">
                <a:effectLst>
                  <a:outerShdw blurRad="38100" dist="38100" dir="2700000" algn="tl">
                    <a:srgbClr val="000000">
                      <a:alpha val="43137"/>
                    </a:srgbClr>
                  </a:outerShdw>
                </a:effectLst>
              </a:rPr>
              <a:t>«</a:t>
            </a:r>
            <a:r>
              <a:rPr lang="uk-UA" b="1" dirty="0"/>
              <a:t>Фінансування наукових досліджень, грантова діяльність</a:t>
            </a:r>
            <a:r>
              <a:rPr lang="uk-UA" dirty="0">
                <a:effectLst>
                  <a:outerShdw blurRad="38100" dist="38100" dir="2700000" algn="tl">
                    <a:srgbClr val="000000">
                      <a:alpha val="43137"/>
                    </a:srgbClr>
                  </a:outerShdw>
                </a:effectLst>
              </a:rPr>
              <a:t>»</a:t>
            </a:r>
          </a:p>
          <a:p>
            <a:pPr algn="r"/>
            <a:r>
              <a:rPr lang="uk-UA" dirty="0">
                <a:effectLst>
                  <a:outerShdw blurRad="38100" dist="38100" dir="2700000" algn="tl">
                    <a:srgbClr val="000000">
                      <a:alpha val="43137"/>
                    </a:srgbClr>
                  </a:outerShdw>
                </a:effectLst>
              </a:rPr>
              <a:t>Для аспірантів КНУБА</a:t>
            </a:r>
          </a:p>
          <a:p>
            <a:pPr algn="r"/>
            <a:r>
              <a:rPr lang="uk-UA" dirty="0">
                <a:effectLst>
                  <a:outerShdw blurRad="38100" dist="38100" dir="2700000" algn="tl">
                    <a:srgbClr val="000000">
                      <a:alpha val="43137"/>
                    </a:srgbClr>
                  </a:outerShdw>
                </a:effectLst>
              </a:rPr>
              <a:t>Проф. </a:t>
            </a:r>
            <a:r>
              <a:rPr lang="uk-UA" dirty="0" err="1">
                <a:effectLst>
                  <a:outerShdw blurRad="38100" dist="38100" dir="2700000" algn="tl">
                    <a:srgbClr val="000000">
                      <a:alpha val="43137"/>
                    </a:srgbClr>
                  </a:outerShdw>
                </a:effectLst>
              </a:rPr>
              <a:t>Петраковська</a:t>
            </a:r>
            <a:r>
              <a:rPr lang="uk-UA" dirty="0">
                <a:effectLst>
                  <a:outerShdw blurRad="38100" dist="38100" dir="2700000" algn="tl">
                    <a:srgbClr val="000000">
                      <a:alpha val="43137"/>
                    </a:srgbClr>
                  </a:outerShdw>
                </a:effectLst>
              </a:rPr>
              <a:t> О.С.</a:t>
            </a:r>
            <a:endParaRPr lang="ru-RU"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0131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err="1"/>
              <a:t>Закони</a:t>
            </a:r>
            <a:r>
              <a:rPr lang="ru-RU" b="1" dirty="0"/>
              <a:t> </a:t>
            </a:r>
            <a:r>
              <a:rPr lang="ru-RU" b="1" dirty="0" err="1"/>
              <a:t>України</a:t>
            </a:r>
            <a:r>
              <a:rPr lang="ru-RU" b="1" dirty="0"/>
              <a:t> </a:t>
            </a:r>
            <a:endParaRPr lang="uk-UA" dirty="0"/>
          </a:p>
        </p:txBody>
      </p:sp>
      <p:sp>
        <p:nvSpPr>
          <p:cNvPr id="3" name="Объект 2"/>
          <p:cNvSpPr>
            <a:spLocks noGrp="1"/>
          </p:cNvSpPr>
          <p:nvPr>
            <p:ph idx="1"/>
          </p:nvPr>
        </p:nvSpPr>
        <p:spPr/>
        <p:txBody>
          <a:bodyPr>
            <a:normAutofit/>
          </a:bodyPr>
          <a:lstStyle/>
          <a:p>
            <a:pPr marL="228600"/>
            <a:r>
              <a:rPr lang="uk-UA" sz="1800" dirty="0">
                <a:effectLst/>
                <a:latin typeface="Arial" panose="020B0604020202020204" pitchFamily="34" charset="0"/>
                <a:ea typeface="Times New Roman" panose="02020603050405020304" pitchFamily="18" charset="0"/>
                <a:cs typeface="Arial" panose="020B0604020202020204" pitchFamily="34" charset="0"/>
              </a:rPr>
              <a:t>Закон України «Про наукову і науково-технічну діяльність» (2015 р.) – базовий закон, що визначає правові та організаційні засади функціонування науки.</a:t>
            </a:r>
          </a:p>
          <a:p>
            <a:pPr marL="228600"/>
            <a:r>
              <a:rPr lang="uk-UA" sz="1800" dirty="0">
                <a:effectLst/>
                <a:latin typeface="Arial" panose="020B0604020202020204" pitchFamily="34" charset="0"/>
                <a:ea typeface="Times New Roman" panose="02020603050405020304" pitchFamily="18" charset="0"/>
                <a:cs typeface="Arial" panose="020B0604020202020204" pitchFamily="34" charset="0"/>
              </a:rPr>
              <a:t>Закон України «Про інноваційну діяльність» </a:t>
            </a:r>
          </a:p>
          <a:p>
            <a:pPr marL="228600"/>
            <a:r>
              <a:rPr lang="uk-UA" sz="1800" dirty="0">
                <a:effectLst/>
                <a:latin typeface="Arial" panose="020B0604020202020204" pitchFamily="34" charset="0"/>
                <a:ea typeface="Times New Roman" panose="02020603050405020304" pitchFamily="18" charset="0"/>
                <a:cs typeface="Arial" panose="020B0604020202020204" pitchFamily="34" charset="0"/>
              </a:rPr>
              <a:t>Закон України «Про пріоритетні напрями розвитку науки і техніки».</a:t>
            </a:r>
          </a:p>
          <a:p>
            <a:pPr marL="228600"/>
            <a:r>
              <a:rPr lang="uk-UA" sz="1800" dirty="0">
                <a:effectLst/>
                <a:latin typeface="Arial" panose="020B0604020202020204" pitchFamily="34" charset="0"/>
                <a:ea typeface="Times New Roman" panose="02020603050405020304" pitchFamily="18" charset="0"/>
                <a:cs typeface="Arial" panose="020B0604020202020204" pitchFamily="34" charset="0"/>
              </a:rPr>
              <a:t>Закон України «Про пріоритетні напрями інноваційної діяльності в Україні».</a:t>
            </a:r>
          </a:p>
          <a:p>
            <a:pPr marL="228600"/>
            <a:r>
              <a:rPr lang="uk-UA" sz="1800" dirty="0">
                <a:effectLst/>
                <a:latin typeface="Arial" panose="020B0604020202020204" pitchFamily="34" charset="0"/>
                <a:ea typeface="Times New Roman" panose="02020603050405020304" pitchFamily="18" charset="0"/>
                <a:cs typeface="Arial" panose="020B0604020202020204" pitchFamily="34" charset="0"/>
              </a:rPr>
              <a:t>Закон України «Про наукову і науково-технічну експертизу».</a:t>
            </a:r>
          </a:p>
          <a:p>
            <a:pPr marL="228600"/>
            <a:r>
              <a:rPr lang="uk-UA" sz="1800" dirty="0">
                <a:effectLst/>
                <a:latin typeface="Arial" panose="020B0604020202020204" pitchFamily="34" charset="0"/>
                <a:ea typeface="Times New Roman" panose="02020603050405020304" pitchFamily="18" charset="0"/>
                <a:cs typeface="Arial" panose="020B0604020202020204" pitchFamily="34" charset="0"/>
              </a:rPr>
              <a:t>Закон України «Про наукові парки».</a:t>
            </a:r>
          </a:p>
          <a:p>
            <a:pPr marL="228600"/>
            <a:r>
              <a:rPr lang="uk-UA" sz="1800" dirty="0">
                <a:effectLst/>
                <a:latin typeface="Arial" panose="020B0604020202020204" pitchFamily="34" charset="0"/>
                <a:ea typeface="Times New Roman" panose="02020603050405020304" pitchFamily="18" charset="0"/>
                <a:cs typeface="Arial" panose="020B0604020202020204" pitchFamily="34" charset="0"/>
              </a:rPr>
              <a:t>Закон України «Про державне регулювання діяльності у сфері трансферу технологій».</a:t>
            </a:r>
          </a:p>
          <a:p>
            <a:pPr marL="228600"/>
            <a:r>
              <a:rPr lang="uk-UA" sz="1800" dirty="0">
                <a:effectLst/>
                <a:latin typeface="Arial" panose="020B0604020202020204" pitchFamily="34" charset="0"/>
                <a:ea typeface="Times New Roman" panose="02020603050405020304" pitchFamily="18" charset="0"/>
                <a:cs typeface="Arial" panose="020B0604020202020204" pitchFamily="34" charset="0"/>
              </a:rPr>
              <a:t>Закон України «Про вищу освіту» (регулює наукову діяльність у закладах вищої освіти).</a:t>
            </a:r>
          </a:p>
          <a:p>
            <a:pPr marL="228600"/>
            <a:r>
              <a:rPr lang="uk-UA" sz="1800" dirty="0">
                <a:effectLst/>
                <a:latin typeface="Arial" panose="020B0604020202020204" pitchFamily="34" charset="0"/>
                <a:ea typeface="Times New Roman" panose="02020603050405020304" pitchFamily="18" charset="0"/>
                <a:cs typeface="Arial" panose="020B0604020202020204" pitchFamily="34" charset="0"/>
              </a:rPr>
              <a:t>Закон України «Про освіту»</a:t>
            </a:r>
          </a:p>
          <a:p>
            <a:pPr marL="0" indent="0">
              <a:buNone/>
            </a:pPr>
            <a:endParaRPr lang="ru-RU" dirty="0">
              <a:latin typeface="Arial" panose="020B0604020202020204" pitchFamily="34" charset="0"/>
              <a:cs typeface="Arial" panose="020B0604020202020204" pitchFamily="34" charset="0"/>
            </a:endParaRPr>
          </a:p>
        </p:txBody>
      </p:sp>
      <p:sp>
        <p:nvSpPr>
          <p:cNvPr id="5" name="Rectangle 1"/>
          <p:cNvSpPr>
            <a:spLocks noChangeArrowheads="1"/>
          </p:cNvSpPr>
          <p:nvPr/>
        </p:nvSpPr>
        <p:spPr bwMode="auto">
          <a:xfrm>
            <a:off x="4936834" y="3633272"/>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4102600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err="1"/>
              <a:t>Інші</a:t>
            </a:r>
            <a:r>
              <a:rPr lang="ru-RU" b="1" dirty="0"/>
              <a:t> нормативно-</a:t>
            </a:r>
            <a:r>
              <a:rPr lang="ru-RU" b="1" dirty="0" err="1"/>
              <a:t>правові</a:t>
            </a:r>
            <a:r>
              <a:rPr lang="ru-RU" b="1" dirty="0"/>
              <a:t> </a:t>
            </a:r>
            <a:r>
              <a:rPr lang="ru-RU" b="1" dirty="0" err="1"/>
              <a:t>акти</a:t>
            </a:r>
            <a:endParaRPr lang="uk-UA" dirty="0"/>
          </a:p>
        </p:txBody>
      </p:sp>
      <p:sp>
        <p:nvSpPr>
          <p:cNvPr id="3" name="Объект 2"/>
          <p:cNvSpPr>
            <a:spLocks noGrp="1"/>
          </p:cNvSpPr>
          <p:nvPr>
            <p:ph idx="1"/>
          </p:nvPr>
        </p:nvSpPr>
        <p:spPr/>
        <p:txBody>
          <a:bodyPr>
            <a:noAutofit/>
          </a:bodyPr>
          <a:lstStyle/>
          <a:p>
            <a:r>
              <a:rPr lang="ru-RU" sz="1600" dirty="0">
                <a:latin typeface="Arial" panose="020B0604020202020204" pitchFamily="34" charset="0"/>
                <a:cs typeface="Arial" panose="020B0604020202020204" pitchFamily="34" charset="0"/>
              </a:rPr>
              <a:t>Порядок </a:t>
            </a:r>
            <a:r>
              <a:rPr lang="ru-RU" sz="1600" dirty="0" err="1">
                <a:latin typeface="Arial" panose="020B0604020202020204" pitchFamily="34" charset="0"/>
                <a:cs typeface="Arial" panose="020B0604020202020204" pitchFamily="34" charset="0"/>
              </a:rPr>
              <a:t>залучення</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використання</a:t>
            </a:r>
            <a:r>
              <a:rPr lang="ru-RU" sz="1600" dirty="0">
                <a:latin typeface="Arial" panose="020B0604020202020204" pitchFamily="34" charset="0"/>
                <a:cs typeface="Arial" panose="020B0604020202020204" pitchFamily="34" charset="0"/>
              </a:rPr>
              <a:t> та </a:t>
            </a:r>
            <a:r>
              <a:rPr lang="ru-RU" sz="1600" dirty="0" err="1">
                <a:latin typeface="Arial" panose="020B0604020202020204" pitchFamily="34" charset="0"/>
                <a:cs typeface="Arial" panose="020B0604020202020204" pitchFamily="34" charset="0"/>
              </a:rPr>
              <a:t>моніторингу</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міжнародної</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технічної</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допомоги</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затв</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постановою</a:t>
            </a:r>
            <a:r>
              <a:rPr lang="ru-RU" sz="1600" dirty="0">
                <a:latin typeface="Arial" panose="020B0604020202020204" pitchFamily="34" charset="0"/>
                <a:cs typeface="Arial" panose="020B0604020202020204" pitchFamily="34" charset="0"/>
              </a:rPr>
              <a:t> КМУ № 153 </a:t>
            </a:r>
            <a:r>
              <a:rPr lang="ru-RU" sz="1600" dirty="0" err="1">
                <a:latin typeface="Arial" panose="020B0604020202020204" pitchFamily="34" charset="0"/>
                <a:cs typeface="Arial" panose="020B0604020202020204" pitchFamily="34" charset="0"/>
              </a:rPr>
              <a:t>від</a:t>
            </a:r>
            <a:r>
              <a:rPr lang="ru-RU" sz="1600" dirty="0">
                <a:latin typeface="Arial" panose="020B0604020202020204" pitchFamily="34" charset="0"/>
                <a:cs typeface="Arial" panose="020B0604020202020204" pitchFamily="34" charset="0"/>
              </a:rPr>
              <a:t> 15.02.2002)</a:t>
            </a:r>
            <a:endParaRPr lang="uk-UA" sz="1600" dirty="0">
              <a:latin typeface="Arial" panose="020B0604020202020204" pitchFamily="34" charset="0"/>
              <a:cs typeface="Arial" panose="020B0604020202020204" pitchFamily="34" charset="0"/>
            </a:endParaRPr>
          </a:p>
          <a:p>
            <a:pPr marL="0" indent="0">
              <a:buNone/>
            </a:pPr>
            <a:r>
              <a:rPr lang="en-GB" sz="1600" dirty="0">
                <a:latin typeface="Arial" panose="020B0604020202020204" pitchFamily="34" charset="0"/>
                <a:cs typeface="Arial" panose="020B0604020202020204" pitchFamily="34" charset="0"/>
                <a:hlinkClick r:id="rId2"/>
              </a:rPr>
              <a:t>https://zakon.rada.gov.ua/laws/show/153-2002-%D0%BF#Text</a:t>
            </a:r>
            <a:endParaRPr lang="uk-UA" sz="1600" dirty="0">
              <a:latin typeface="Arial" panose="020B0604020202020204" pitchFamily="34" charset="0"/>
              <a:cs typeface="Arial" panose="020B0604020202020204" pitchFamily="34" charset="0"/>
            </a:endParaRPr>
          </a:p>
          <a:p>
            <a:r>
              <a:rPr lang="ru-RU" sz="1600" i="0" dirty="0">
                <a:solidFill>
                  <a:srgbClr val="333333"/>
                </a:solidFill>
                <a:effectLst/>
                <a:latin typeface="Arial" panose="020B0604020202020204" pitchFamily="34" charset="0"/>
                <a:cs typeface="Arial" panose="020B0604020202020204" pitchFamily="34" charset="0"/>
              </a:rPr>
              <a:t>Про </a:t>
            </a:r>
            <a:r>
              <a:rPr lang="ru-RU" sz="1600" i="0" dirty="0" err="1">
                <a:solidFill>
                  <a:srgbClr val="333333"/>
                </a:solidFill>
                <a:effectLst/>
                <a:latin typeface="Arial" panose="020B0604020202020204" pitchFamily="34" charset="0"/>
                <a:cs typeface="Arial" panose="020B0604020202020204" pitchFamily="34" charset="0"/>
              </a:rPr>
              <a:t>затвердження</a:t>
            </a:r>
            <a:r>
              <a:rPr lang="ru-RU" sz="1600" i="0" dirty="0">
                <a:solidFill>
                  <a:srgbClr val="333333"/>
                </a:solidFill>
                <a:effectLst/>
                <a:latin typeface="Arial" panose="020B0604020202020204" pitchFamily="34" charset="0"/>
                <a:cs typeface="Arial" panose="020B0604020202020204" pitchFamily="34" charset="0"/>
              </a:rPr>
              <a:t> </a:t>
            </a:r>
            <a:r>
              <a:rPr lang="ru-RU" sz="1600" i="0" dirty="0" err="1">
                <a:solidFill>
                  <a:srgbClr val="333333"/>
                </a:solidFill>
                <a:effectLst/>
                <a:latin typeface="Arial" panose="020B0604020202020204" pitchFamily="34" charset="0"/>
                <a:cs typeface="Arial" panose="020B0604020202020204" pitchFamily="34" charset="0"/>
              </a:rPr>
              <a:t>положень</a:t>
            </a:r>
            <a:r>
              <a:rPr lang="ru-RU" sz="1600" i="0" dirty="0">
                <a:solidFill>
                  <a:srgbClr val="333333"/>
                </a:solidFill>
                <a:effectLst/>
                <a:latin typeface="Arial" panose="020B0604020202020204" pitchFamily="34" charset="0"/>
                <a:cs typeface="Arial" panose="020B0604020202020204" pitchFamily="34" charset="0"/>
              </a:rPr>
              <a:t> про </a:t>
            </a:r>
            <a:r>
              <a:rPr lang="ru-RU" sz="1600" i="0" dirty="0" err="1">
                <a:solidFill>
                  <a:srgbClr val="333333"/>
                </a:solidFill>
                <a:effectLst/>
                <a:latin typeface="Arial" panose="020B0604020202020204" pitchFamily="34" charset="0"/>
                <a:cs typeface="Arial" panose="020B0604020202020204" pitchFamily="34" charset="0"/>
              </a:rPr>
              <a:t>премії</a:t>
            </a:r>
            <a:r>
              <a:rPr lang="ru-RU" sz="1600" i="0" dirty="0">
                <a:solidFill>
                  <a:srgbClr val="333333"/>
                </a:solidFill>
                <a:effectLst/>
                <a:latin typeface="Arial" panose="020B0604020202020204" pitchFamily="34" charset="0"/>
                <a:cs typeface="Arial" panose="020B0604020202020204" pitchFamily="34" charset="0"/>
              </a:rPr>
              <a:t> та </a:t>
            </a:r>
            <a:r>
              <a:rPr lang="ru-RU" sz="1600" i="0" dirty="0" err="1">
                <a:solidFill>
                  <a:srgbClr val="333333"/>
                </a:solidFill>
                <a:effectLst/>
                <a:latin typeface="Arial" panose="020B0604020202020204" pitchFamily="34" charset="0"/>
                <a:cs typeface="Arial" panose="020B0604020202020204" pitchFamily="34" charset="0"/>
              </a:rPr>
              <a:t>стипендії</a:t>
            </a:r>
            <a:r>
              <a:rPr lang="ru-RU" sz="1600" i="0" dirty="0">
                <a:solidFill>
                  <a:srgbClr val="333333"/>
                </a:solidFill>
                <a:effectLst/>
                <a:latin typeface="Arial" panose="020B0604020202020204" pitchFamily="34" charset="0"/>
                <a:cs typeface="Arial" panose="020B0604020202020204" pitchFamily="34" charset="0"/>
              </a:rPr>
              <a:t> </a:t>
            </a:r>
            <a:r>
              <a:rPr lang="ru-RU" sz="1600" i="0" dirty="0" err="1">
                <a:solidFill>
                  <a:srgbClr val="333333"/>
                </a:solidFill>
                <a:effectLst/>
                <a:latin typeface="Arial" panose="020B0604020202020204" pitchFamily="34" charset="0"/>
                <a:cs typeface="Arial" panose="020B0604020202020204" pitchFamily="34" charset="0"/>
              </a:rPr>
              <a:t>Верховної</a:t>
            </a:r>
            <a:r>
              <a:rPr lang="ru-RU" sz="1600" i="0" dirty="0">
                <a:solidFill>
                  <a:srgbClr val="333333"/>
                </a:solidFill>
                <a:effectLst/>
                <a:latin typeface="Arial" panose="020B0604020202020204" pitchFamily="34" charset="0"/>
                <a:cs typeface="Arial" panose="020B0604020202020204" pitchFamily="34" charset="0"/>
              </a:rPr>
              <a:t> Ради </a:t>
            </a:r>
            <a:r>
              <a:rPr lang="ru-RU" sz="1600" i="0" dirty="0" err="1">
                <a:solidFill>
                  <a:srgbClr val="333333"/>
                </a:solidFill>
                <a:effectLst/>
                <a:latin typeface="Arial" panose="020B0604020202020204" pitchFamily="34" charset="0"/>
                <a:cs typeface="Arial" panose="020B0604020202020204" pitchFamily="34" charset="0"/>
              </a:rPr>
              <a:t>України</a:t>
            </a:r>
            <a:r>
              <a:rPr lang="ru-RU" altLang="ru-RU" sz="1600" dirty="0">
                <a:solidFill>
                  <a:srgbClr val="333333"/>
                </a:solidFill>
                <a:latin typeface="Arial" panose="020B0604020202020204" pitchFamily="34" charset="0"/>
                <a:cs typeface="Arial" panose="020B0604020202020204" pitchFamily="34" charset="0"/>
              </a:rPr>
              <a:t>, Постанова ВРУ </a:t>
            </a:r>
            <a:r>
              <a:rPr lang="ru-RU" sz="1600" dirty="0">
                <a:solidFill>
                  <a:srgbClr val="333333"/>
                </a:solidFill>
                <a:latin typeface="Arial" panose="020B0604020202020204" pitchFamily="34" charset="0"/>
                <a:cs typeface="Arial" panose="020B0604020202020204" pitchFamily="34" charset="0"/>
              </a:rPr>
              <a:t>№ 4712-IX, 4 </a:t>
            </a:r>
            <a:r>
              <a:rPr lang="ru-RU" sz="1600" i="0" u="none" strike="noStrike" dirty="0" err="1">
                <a:solidFill>
                  <a:srgbClr val="333333"/>
                </a:solidFill>
                <a:effectLst/>
                <a:latin typeface="Arial" panose="020B0604020202020204" pitchFamily="34" charset="0"/>
                <a:cs typeface="Arial" panose="020B0604020202020204" pitchFamily="34" charset="0"/>
              </a:rPr>
              <a:t>грудня</a:t>
            </a:r>
            <a:r>
              <a:rPr lang="ru-RU" sz="1600" i="0" u="none" strike="noStrike" dirty="0">
                <a:solidFill>
                  <a:srgbClr val="333333"/>
                </a:solidFill>
                <a:effectLst/>
                <a:latin typeface="Arial" panose="020B0604020202020204" pitchFamily="34" charset="0"/>
                <a:cs typeface="Arial" panose="020B0604020202020204" pitchFamily="34" charset="0"/>
              </a:rPr>
              <a:t> 2025 року </a:t>
            </a:r>
            <a:r>
              <a:rPr lang="en-GB" sz="1600" i="0" u="none" strike="noStrike" dirty="0">
                <a:solidFill>
                  <a:srgbClr val="333333"/>
                </a:solidFill>
                <a:effectLst/>
                <a:latin typeface="Arial" panose="020B0604020202020204" pitchFamily="34" charset="0"/>
                <a:cs typeface="Arial" panose="020B0604020202020204" pitchFamily="34" charset="0"/>
                <a:hlinkClick r:id="rId3"/>
              </a:rPr>
              <a:t>https://zakon.rada.gov.ua/laws/show/4712-20#n18</a:t>
            </a:r>
            <a:endParaRPr lang="uk-UA" sz="1600" i="0" u="none" strike="noStrike" dirty="0">
              <a:solidFill>
                <a:srgbClr val="333333"/>
              </a:solidFill>
              <a:effectLst/>
              <a:latin typeface="Arial" panose="020B0604020202020204" pitchFamily="34" charset="0"/>
              <a:cs typeface="Arial" panose="020B0604020202020204" pitchFamily="34" charset="0"/>
            </a:endParaRPr>
          </a:p>
          <a:p>
            <a:r>
              <a:rPr lang="ru-RU" sz="1600" i="0" dirty="0">
                <a:solidFill>
                  <a:srgbClr val="333333"/>
                </a:solidFill>
                <a:effectLst/>
                <a:latin typeface="Arial" panose="020B0604020202020204" pitchFamily="34" charset="0"/>
                <a:cs typeface="Arial" panose="020B0604020202020204" pitchFamily="34" charset="0"/>
              </a:rPr>
              <a:t>Про </a:t>
            </a:r>
            <a:r>
              <a:rPr lang="ru-RU" sz="1600" i="0" dirty="0" err="1">
                <a:solidFill>
                  <a:srgbClr val="333333"/>
                </a:solidFill>
                <a:effectLst/>
                <a:latin typeface="Arial" panose="020B0604020202020204" pitchFamily="34" charset="0"/>
                <a:cs typeface="Arial" panose="020B0604020202020204" pitchFamily="34" charset="0"/>
              </a:rPr>
              <a:t>Премію</a:t>
            </a:r>
            <a:r>
              <a:rPr lang="ru-RU" sz="1600" i="0" dirty="0">
                <a:solidFill>
                  <a:srgbClr val="333333"/>
                </a:solidFill>
                <a:effectLst/>
                <a:latin typeface="Arial" panose="020B0604020202020204" pitchFamily="34" charset="0"/>
                <a:cs typeface="Arial" panose="020B0604020202020204" pitchFamily="34" charset="0"/>
              </a:rPr>
              <a:t> </a:t>
            </a:r>
            <a:r>
              <a:rPr lang="ru-RU" sz="1600" i="0" dirty="0" err="1">
                <a:solidFill>
                  <a:srgbClr val="333333"/>
                </a:solidFill>
                <a:effectLst/>
                <a:latin typeface="Arial" panose="020B0604020202020204" pitchFamily="34" charset="0"/>
                <a:cs typeface="Arial" panose="020B0604020202020204" pitchFamily="34" charset="0"/>
              </a:rPr>
              <a:t>Кабінету</a:t>
            </a:r>
            <a:r>
              <a:rPr lang="ru-RU" sz="1600" i="0" dirty="0">
                <a:solidFill>
                  <a:srgbClr val="333333"/>
                </a:solidFill>
                <a:effectLst/>
                <a:latin typeface="Arial" panose="020B0604020202020204" pitchFamily="34" charset="0"/>
                <a:cs typeface="Arial" panose="020B0604020202020204" pitchFamily="34" charset="0"/>
              </a:rPr>
              <a:t> </a:t>
            </a:r>
            <a:r>
              <a:rPr lang="ru-RU" sz="1600" i="0" dirty="0" err="1">
                <a:solidFill>
                  <a:srgbClr val="333333"/>
                </a:solidFill>
                <a:effectLst/>
                <a:latin typeface="Arial" panose="020B0604020202020204" pitchFamily="34" charset="0"/>
                <a:cs typeface="Arial" panose="020B0604020202020204" pitchFamily="34" charset="0"/>
              </a:rPr>
              <a:t>Міністрів</a:t>
            </a:r>
            <a:r>
              <a:rPr lang="ru-RU" sz="1600" i="0" dirty="0">
                <a:solidFill>
                  <a:srgbClr val="333333"/>
                </a:solidFill>
                <a:effectLst/>
                <a:latin typeface="Arial" panose="020B0604020202020204" pitchFamily="34" charset="0"/>
                <a:cs typeface="Arial" panose="020B0604020202020204" pitchFamily="34" charset="0"/>
              </a:rPr>
              <a:t> </a:t>
            </a:r>
            <a:r>
              <a:rPr lang="ru-RU" sz="1600" i="0" dirty="0" err="1">
                <a:solidFill>
                  <a:srgbClr val="333333"/>
                </a:solidFill>
                <a:effectLst/>
                <a:latin typeface="Arial" panose="020B0604020202020204" pitchFamily="34" charset="0"/>
                <a:cs typeface="Arial" panose="020B0604020202020204" pitchFamily="34" charset="0"/>
              </a:rPr>
              <a:t>України</a:t>
            </a:r>
            <a:r>
              <a:rPr lang="ru-RU" sz="1600" i="0" dirty="0">
                <a:solidFill>
                  <a:srgbClr val="333333"/>
                </a:solidFill>
                <a:effectLst/>
                <a:latin typeface="Arial" panose="020B0604020202020204" pitchFamily="34" charset="0"/>
                <a:cs typeface="Arial" panose="020B0604020202020204" pitchFamily="34" charset="0"/>
              </a:rPr>
              <a:t> за </a:t>
            </a:r>
            <a:r>
              <a:rPr lang="ru-RU" sz="1600" i="0" dirty="0" err="1">
                <a:solidFill>
                  <a:srgbClr val="333333"/>
                </a:solidFill>
                <a:effectLst/>
                <a:latin typeface="Arial" panose="020B0604020202020204" pitchFamily="34" charset="0"/>
                <a:cs typeface="Arial" panose="020B0604020202020204" pitchFamily="34" charset="0"/>
              </a:rPr>
              <a:t>особливі</a:t>
            </a:r>
            <a:r>
              <a:rPr lang="ru-RU" sz="1600" i="0" dirty="0">
                <a:solidFill>
                  <a:srgbClr val="333333"/>
                </a:solidFill>
                <a:effectLst/>
                <a:latin typeface="Arial" panose="020B0604020202020204" pitchFamily="34" charset="0"/>
                <a:cs typeface="Arial" panose="020B0604020202020204" pitchFamily="34" charset="0"/>
              </a:rPr>
              <a:t> </a:t>
            </a:r>
            <a:r>
              <a:rPr lang="ru-RU" sz="1600" i="0" dirty="0" err="1">
                <a:solidFill>
                  <a:srgbClr val="333333"/>
                </a:solidFill>
                <a:effectLst/>
                <a:latin typeface="Arial" panose="020B0604020202020204" pitchFamily="34" charset="0"/>
                <a:cs typeface="Arial" panose="020B0604020202020204" pitchFamily="34" charset="0"/>
              </a:rPr>
              <a:t>досягнення</a:t>
            </a:r>
            <a:r>
              <a:rPr lang="ru-RU" sz="1600" i="0" dirty="0">
                <a:solidFill>
                  <a:srgbClr val="333333"/>
                </a:solidFill>
                <a:effectLst/>
                <a:latin typeface="Arial" panose="020B0604020202020204" pitchFamily="34" charset="0"/>
                <a:cs typeface="Arial" panose="020B0604020202020204" pitchFamily="34" charset="0"/>
              </a:rPr>
              <a:t> </a:t>
            </a:r>
            <a:r>
              <a:rPr lang="ru-RU" sz="1600" i="0" dirty="0" err="1">
                <a:solidFill>
                  <a:srgbClr val="333333"/>
                </a:solidFill>
                <a:effectLst/>
                <a:latin typeface="Arial" panose="020B0604020202020204" pitchFamily="34" charset="0"/>
                <a:cs typeface="Arial" panose="020B0604020202020204" pitchFamily="34" charset="0"/>
              </a:rPr>
              <a:t>молоді</a:t>
            </a:r>
            <a:r>
              <a:rPr lang="ru-RU" sz="1600" i="0" dirty="0">
                <a:solidFill>
                  <a:srgbClr val="333333"/>
                </a:solidFill>
                <a:effectLst/>
                <a:latin typeface="Arial" panose="020B0604020202020204" pitchFamily="34" charset="0"/>
                <a:cs typeface="Arial" panose="020B0604020202020204" pitchFamily="34" charset="0"/>
              </a:rPr>
              <a:t> у </a:t>
            </a:r>
            <a:r>
              <a:rPr lang="ru-RU" sz="1600" i="0" dirty="0" err="1">
                <a:solidFill>
                  <a:srgbClr val="333333"/>
                </a:solidFill>
                <a:effectLst/>
                <a:latin typeface="Arial" panose="020B0604020202020204" pitchFamily="34" charset="0"/>
                <a:cs typeface="Arial" panose="020B0604020202020204" pitchFamily="34" charset="0"/>
              </a:rPr>
              <a:t>розбудові</a:t>
            </a:r>
            <a:r>
              <a:rPr lang="ru-RU" sz="1600" i="0" dirty="0">
                <a:solidFill>
                  <a:srgbClr val="333333"/>
                </a:solidFill>
                <a:effectLst/>
                <a:latin typeface="Arial" panose="020B0604020202020204" pitchFamily="34" charset="0"/>
                <a:cs typeface="Arial" panose="020B0604020202020204" pitchFamily="34" charset="0"/>
              </a:rPr>
              <a:t> </a:t>
            </a:r>
            <a:r>
              <a:rPr lang="ru-RU" sz="1600" i="0" dirty="0" err="1">
                <a:solidFill>
                  <a:srgbClr val="333333"/>
                </a:solidFill>
                <a:effectLst/>
                <a:latin typeface="Arial" panose="020B0604020202020204" pitchFamily="34" charset="0"/>
                <a:cs typeface="Arial" panose="020B0604020202020204" pitchFamily="34" charset="0"/>
              </a:rPr>
              <a:t>України</a:t>
            </a:r>
            <a:r>
              <a:rPr lang="ru-RU" sz="1600" i="0" dirty="0">
                <a:solidFill>
                  <a:srgbClr val="333333"/>
                </a:solidFill>
                <a:effectLst/>
                <a:latin typeface="Arial" panose="020B0604020202020204" pitchFamily="34" charset="0"/>
                <a:cs typeface="Arial" panose="020B0604020202020204" pitchFamily="34" charset="0"/>
              </a:rPr>
              <a:t>. Постанова КМУ, </a:t>
            </a:r>
          </a:p>
          <a:p>
            <a:pPr marL="0" indent="0">
              <a:buNone/>
            </a:pPr>
            <a:r>
              <a:rPr lang="en-GB" sz="1600" i="0" dirty="0">
                <a:solidFill>
                  <a:srgbClr val="333333"/>
                </a:solidFill>
                <a:effectLst/>
                <a:latin typeface="Arial" panose="020B0604020202020204" pitchFamily="34" charset="0"/>
                <a:cs typeface="Arial" panose="020B0604020202020204" pitchFamily="34" charset="0"/>
                <a:hlinkClick r:id="rId4"/>
              </a:rPr>
              <a:t>https://zakon.rada.gov.ua/laws/show/1333-2007-%D0%BF#Text</a:t>
            </a:r>
            <a:endParaRPr lang="uk-UA" sz="1600" i="0" dirty="0">
              <a:solidFill>
                <a:srgbClr val="333333"/>
              </a:solidFill>
              <a:effectLst/>
              <a:latin typeface="Arial" panose="020B0604020202020204" pitchFamily="34" charset="0"/>
              <a:cs typeface="Arial" panose="020B0604020202020204" pitchFamily="34" charset="0"/>
            </a:endParaRPr>
          </a:p>
          <a:p>
            <a:r>
              <a:rPr lang="ru-RU" sz="1600" dirty="0">
                <a:latin typeface="Arial" panose="020B0604020202020204" pitchFamily="34" charset="0"/>
                <a:cs typeface="Arial" panose="020B0604020202020204" pitchFamily="34" charset="0"/>
              </a:rPr>
              <a:t>Про </a:t>
            </a:r>
            <a:r>
              <a:rPr lang="ru-RU" sz="1600" dirty="0" err="1">
                <a:latin typeface="Arial" panose="020B0604020202020204" pitchFamily="34" charset="0"/>
                <a:cs typeface="Arial" panose="020B0604020202020204" pitchFamily="34" charset="0"/>
              </a:rPr>
              <a:t>затвердження</a:t>
            </a:r>
            <a:r>
              <a:rPr lang="ru-RU" sz="1600" dirty="0">
                <a:latin typeface="Arial" panose="020B0604020202020204" pitchFamily="34" charset="0"/>
                <a:cs typeface="Arial" panose="020B0604020202020204" pitchFamily="34" charset="0"/>
              </a:rPr>
              <a:t> Порядку </a:t>
            </a:r>
            <a:r>
              <a:rPr lang="ru-RU" sz="1600" dirty="0" err="1">
                <a:latin typeface="Arial" panose="020B0604020202020204" pitchFamily="34" charset="0"/>
                <a:cs typeface="Arial" panose="020B0604020202020204" pitchFamily="34" charset="0"/>
              </a:rPr>
              <a:t>реєстрації</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міжнародних</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науково-технічних</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програм</a:t>
            </a:r>
            <a:r>
              <a:rPr lang="ru-RU" sz="1600" dirty="0">
                <a:latin typeface="Arial" panose="020B0604020202020204" pitchFamily="34" charset="0"/>
                <a:cs typeface="Arial" panose="020B0604020202020204" pitchFamily="34" charset="0"/>
              </a:rPr>
              <a:t> і </a:t>
            </a:r>
            <a:r>
              <a:rPr lang="ru-RU" sz="1600" dirty="0" err="1">
                <a:latin typeface="Arial" panose="020B0604020202020204" pitchFamily="34" charset="0"/>
                <a:cs typeface="Arial" panose="020B0604020202020204" pitchFamily="34" charset="0"/>
              </a:rPr>
              <a:t>проектів</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що</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виконуються</a:t>
            </a:r>
            <a:r>
              <a:rPr lang="ru-RU" sz="1600" dirty="0">
                <a:latin typeface="Arial" panose="020B0604020202020204" pitchFamily="34" charset="0"/>
                <a:cs typeface="Arial" panose="020B0604020202020204" pitchFamily="34" charset="0"/>
              </a:rPr>
              <a:t> в рамках </a:t>
            </a:r>
            <a:r>
              <a:rPr lang="ru-RU" sz="1600" dirty="0" err="1">
                <a:latin typeface="Arial" panose="020B0604020202020204" pitchFamily="34" charset="0"/>
                <a:cs typeface="Arial" panose="020B0604020202020204" pitchFamily="34" charset="0"/>
              </a:rPr>
              <a:t>міжнародного</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науково-технічного</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співробітництва</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українськими</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вченими</a:t>
            </a:r>
            <a:r>
              <a:rPr lang="ru-RU" sz="1600" dirty="0">
                <a:latin typeface="Arial" panose="020B0604020202020204" pitchFamily="34" charset="0"/>
                <a:cs typeface="Arial" panose="020B0604020202020204" pitchFamily="34" charset="0"/>
              </a:rPr>
              <a:t>, а </a:t>
            </a:r>
            <a:r>
              <a:rPr lang="ru-RU" sz="1600" dirty="0" err="1">
                <a:latin typeface="Arial" panose="020B0604020202020204" pitchFamily="34" charset="0"/>
                <a:cs typeface="Arial" panose="020B0604020202020204" pitchFamily="34" charset="0"/>
              </a:rPr>
              <a:t>також</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грантів</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що</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надаються</a:t>
            </a:r>
            <a:r>
              <a:rPr lang="ru-RU" sz="1600" dirty="0">
                <a:latin typeface="Arial" panose="020B0604020202020204" pitchFamily="34" charset="0"/>
                <a:cs typeface="Arial" panose="020B0604020202020204" pitchFamily="34" charset="0"/>
              </a:rPr>
              <a:t> в рамках такого </a:t>
            </a:r>
            <a:r>
              <a:rPr lang="ru-RU" sz="1600" dirty="0" err="1">
                <a:latin typeface="Arial" panose="020B0604020202020204" pitchFamily="34" charset="0"/>
                <a:cs typeface="Arial" panose="020B0604020202020204" pitchFamily="34" charset="0"/>
              </a:rPr>
              <a:t>співробітництва</a:t>
            </a:r>
            <a:r>
              <a:rPr lang="ru-RU" sz="1600" dirty="0">
                <a:latin typeface="Arial" panose="020B0604020202020204" pitchFamily="34" charset="0"/>
                <a:cs typeface="Arial" panose="020B0604020202020204" pitchFamily="34" charset="0"/>
              </a:rPr>
              <a:t>. Наказ  МОН 20.11.2017  № 1507 </a:t>
            </a:r>
          </a:p>
          <a:p>
            <a:pPr marL="0" indent="0">
              <a:buNone/>
            </a:pPr>
            <a:r>
              <a:rPr lang="en-AU" sz="1600" dirty="0">
                <a:latin typeface="Arial" panose="020B0604020202020204" pitchFamily="34" charset="0"/>
                <a:cs typeface="Arial" panose="020B0604020202020204" pitchFamily="34" charset="0"/>
                <a:hlinkClick r:id="rId5"/>
              </a:rPr>
              <a:t>https://zakon.rada.gov.ua/laws/show/z1564-17#n13</a:t>
            </a:r>
            <a:endParaRPr lang="uk-UA" sz="1600" dirty="0">
              <a:latin typeface="Arial" panose="020B0604020202020204" pitchFamily="34" charset="0"/>
              <a:cs typeface="Arial" panose="020B0604020202020204" pitchFamily="34" charset="0"/>
            </a:endParaRPr>
          </a:p>
          <a:p>
            <a:r>
              <a:rPr lang="ru-RU" sz="1600" dirty="0">
                <a:latin typeface="Arial" panose="020B0604020202020204" pitchFamily="34" charset="0"/>
                <a:cs typeface="Arial" panose="020B0604020202020204" pitchFamily="34" charset="0"/>
              </a:rPr>
              <a:t>Про </a:t>
            </a:r>
            <a:r>
              <a:rPr lang="ru-RU" sz="1600" dirty="0" err="1">
                <a:latin typeface="Arial" panose="020B0604020202020204" pitchFamily="34" charset="0"/>
                <a:cs typeface="Arial" panose="020B0604020202020204" pitchFamily="34" charset="0"/>
              </a:rPr>
              <a:t>затвердження</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Переліку</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наукових</a:t>
            </a:r>
            <a:r>
              <a:rPr lang="ru-RU" sz="1600" dirty="0">
                <a:latin typeface="Arial" panose="020B0604020202020204" pitchFamily="34" charset="0"/>
                <a:cs typeface="Arial" panose="020B0604020202020204" pitchFamily="34" charset="0"/>
              </a:rPr>
              <a:t> </a:t>
            </a:r>
            <a:r>
              <a:rPr lang="ru-RU" sz="1600" dirty="0" err="1">
                <a:latin typeface="Arial" panose="020B0604020202020204" pitchFamily="34" charset="0"/>
                <a:cs typeface="Arial" panose="020B0604020202020204" pitchFamily="34" charset="0"/>
              </a:rPr>
              <a:t>спеціальностей</a:t>
            </a:r>
            <a:r>
              <a:rPr lang="ru-RU" sz="1600" dirty="0">
                <a:latin typeface="Arial" panose="020B0604020202020204" pitchFamily="34" charset="0"/>
                <a:cs typeface="Arial" panose="020B0604020202020204" pitchFamily="34" charset="0"/>
              </a:rPr>
              <a:t>, наказ МОН </a:t>
            </a:r>
            <a:r>
              <a:rPr lang="ru-RU" sz="1600" dirty="0" err="1">
                <a:latin typeface="Arial" panose="020B0604020202020204" pitchFamily="34" charset="0"/>
                <a:cs typeface="Arial" panose="020B0604020202020204" pitchFamily="34" charset="0"/>
              </a:rPr>
              <a:t>молоді</a:t>
            </a:r>
            <a:r>
              <a:rPr lang="ru-RU" sz="1600" dirty="0">
                <a:latin typeface="Arial" panose="020B0604020202020204" pitchFamily="34" charset="0"/>
                <a:cs typeface="Arial" panose="020B0604020202020204" pitchFamily="34" charset="0"/>
              </a:rPr>
              <a:t> та спорту </a:t>
            </a:r>
            <a:r>
              <a:rPr lang="ru-RU" sz="1600" dirty="0" err="1">
                <a:latin typeface="Arial" panose="020B0604020202020204" pitchFamily="34" charset="0"/>
                <a:cs typeface="Arial" panose="020B0604020202020204" pitchFamily="34" charset="0"/>
              </a:rPr>
              <a:t>України</a:t>
            </a:r>
            <a:r>
              <a:rPr lang="ru-RU" sz="1600" dirty="0">
                <a:latin typeface="Arial" panose="020B0604020202020204" pitchFamily="34" charset="0"/>
                <a:cs typeface="Arial" panose="020B0604020202020204" pitchFamily="34" charset="0"/>
              </a:rPr>
              <a:t> 14.09.2011  № 1057</a:t>
            </a:r>
          </a:p>
          <a:p>
            <a:pPr marL="0" indent="0">
              <a:buNone/>
            </a:pPr>
            <a:r>
              <a:rPr lang="en-AU" sz="1600" dirty="0">
                <a:latin typeface="Arial" panose="020B0604020202020204" pitchFamily="34" charset="0"/>
                <a:cs typeface="Arial" panose="020B0604020202020204" pitchFamily="34" charset="0"/>
                <a:hlinkClick r:id="rId6"/>
              </a:rPr>
              <a:t>https://zakon.rada.gov.ua/laws/show/z1133-11#Text</a:t>
            </a:r>
            <a:endParaRPr lang="uk-UA" sz="1600" dirty="0">
              <a:latin typeface="Arial" panose="020B0604020202020204" pitchFamily="34" charset="0"/>
              <a:cs typeface="Arial" panose="020B0604020202020204" pitchFamily="34" charset="0"/>
            </a:endParaRPr>
          </a:p>
          <a:p>
            <a:pPr marL="0" indent="0">
              <a:buNone/>
            </a:pPr>
            <a:endParaRPr lang="uk-UA" sz="1600" dirty="0">
              <a:latin typeface="Arial" panose="020B0604020202020204" pitchFamily="34" charset="0"/>
              <a:cs typeface="Arial" panose="020B0604020202020204" pitchFamily="34" charset="0"/>
            </a:endParaRPr>
          </a:p>
          <a:p>
            <a:pPr marL="0" indent="0">
              <a:buNone/>
            </a:pPr>
            <a:endParaRPr lang="uk-UA" sz="1600" dirty="0">
              <a:latin typeface="Arial" panose="020B0604020202020204" pitchFamily="34" charset="0"/>
              <a:cs typeface="Arial" panose="020B0604020202020204" pitchFamily="34" charset="0"/>
            </a:endParaRPr>
          </a:p>
          <a:p>
            <a:br>
              <a:rPr lang="ru-RU" sz="1600" dirty="0">
                <a:latin typeface="Arial" panose="020B0604020202020204" pitchFamily="34" charset="0"/>
                <a:cs typeface="Arial" panose="020B0604020202020204" pitchFamily="34" charset="0"/>
              </a:rPr>
            </a:br>
            <a:endParaRPr lang="ru-RU" sz="1600" dirty="0">
              <a:latin typeface="Arial" panose="020B0604020202020204" pitchFamily="34" charset="0"/>
              <a:cs typeface="Arial" panose="020B0604020202020204" pitchFamily="34" charset="0"/>
            </a:endParaRPr>
          </a:p>
          <a:p>
            <a:endParaRPr lang="uk-UA"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0581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9A8EAD-BCC4-4883-B2F6-BBDFFAA23F57}"/>
              </a:ext>
            </a:extLst>
          </p:cNvPr>
          <p:cNvSpPr>
            <a:spLocks noGrp="1"/>
          </p:cNvSpPr>
          <p:nvPr>
            <p:ph type="title"/>
          </p:nvPr>
        </p:nvSpPr>
        <p:spPr/>
        <p:txBody>
          <a:bodyPr>
            <a:noAutofit/>
          </a:bodyPr>
          <a:lstStyle/>
          <a:p>
            <a:r>
              <a:rPr lang="ru-RU" sz="2400" i="0" dirty="0">
                <a:solidFill>
                  <a:srgbClr val="333333"/>
                </a:solidFill>
                <a:effectLst/>
                <a:latin typeface="Arial" panose="020B0604020202020204" pitchFamily="34" charset="0"/>
                <a:cs typeface="Arial" panose="020B0604020202020204" pitchFamily="34" charset="0"/>
              </a:rPr>
              <a:t>Про </a:t>
            </a:r>
            <a:r>
              <a:rPr lang="ru-RU" sz="2400" i="0" dirty="0" err="1">
                <a:solidFill>
                  <a:srgbClr val="333333"/>
                </a:solidFill>
                <a:effectLst/>
                <a:latin typeface="Arial" panose="020B0604020202020204" pitchFamily="34" charset="0"/>
                <a:cs typeface="Arial" panose="020B0604020202020204" pitchFamily="34" charset="0"/>
              </a:rPr>
              <a:t>затвердження</a:t>
            </a:r>
            <a:r>
              <a:rPr lang="ru-RU" sz="2400" i="0" dirty="0">
                <a:solidFill>
                  <a:srgbClr val="333333"/>
                </a:solidFill>
                <a:effectLst/>
                <a:latin typeface="Arial" panose="020B0604020202020204" pitchFamily="34" charset="0"/>
                <a:cs typeface="Arial" panose="020B0604020202020204" pitchFamily="34" charset="0"/>
              </a:rPr>
              <a:t> </a:t>
            </a:r>
            <a:r>
              <a:rPr lang="ru-RU" sz="2400" i="0" dirty="0" err="1">
                <a:solidFill>
                  <a:srgbClr val="333333"/>
                </a:solidFill>
                <a:effectLst/>
                <a:latin typeface="Arial" panose="020B0604020202020204" pitchFamily="34" charset="0"/>
                <a:cs typeface="Arial" panose="020B0604020202020204" pitchFamily="34" charset="0"/>
              </a:rPr>
              <a:t>положень</a:t>
            </a:r>
            <a:r>
              <a:rPr lang="ru-RU" sz="2400" i="0" dirty="0">
                <a:solidFill>
                  <a:srgbClr val="333333"/>
                </a:solidFill>
                <a:effectLst/>
                <a:latin typeface="Arial" panose="020B0604020202020204" pitchFamily="34" charset="0"/>
                <a:cs typeface="Arial" panose="020B0604020202020204" pitchFamily="34" charset="0"/>
              </a:rPr>
              <a:t> про </a:t>
            </a:r>
            <a:r>
              <a:rPr lang="ru-RU" sz="2400" i="0" dirty="0" err="1">
                <a:solidFill>
                  <a:srgbClr val="333333"/>
                </a:solidFill>
                <a:effectLst/>
                <a:latin typeface="Arial" panose="020B0604020202020204" pitchFamily="34" charset="0"/>
                <a:cs typeface="Arial" panose="020B0604020202020204" pitchFamily="34" charset="0"/>
              </a:rPr>
              <a:t>премії</a:t>
            </a:r>
            <a:r>
              <a:rPr lang="ru-RU" sz="2400" i="0" dirty="0">
                <a:solidFill>
                  <a:srgbClr val="333333"/>
                </a:solidFill>
                <a:effectLst/>
                <a:latin typeface="Arial" panose="020B0604020202020204" pitchFamily="34" charset="0"/>
                <a:cs typeface="Arial" panose="020B0604020202020204" pitchFamily="34" charset="0"/>
              </a:rPr>
              <a:t> та </a:t>
            </a:r>
            <a:r>
              <a:rPr lang="ru-RU" sz="2400" i="0" dirty="0" err="1">
                <a:solidFill>
                  <a:srgbClr val="333333"/>
                </a:solidFill>
                <a:effectLst/>
                <a:latin typeface="Arial" panose="020B0604020202020204" pitchFamily="34" charset="0"/>
                <a:cs typeface="Arial" panose="020B0604020202020204" pitchFamily="34" charset="0"/>
              </a:rPr>
              <a:t>стипендії</a:t>
            </a:r>
            <a:r>
              <a:rPr lang="ru-RU" sz="2400" i="0" dirty="0">
                <a:solidFill>
                  <a:srgbClr val="333333"/>
                </a:solidFill>
                <a:effectLst/>
                <a:latin typeface="Arial" panose="020B0604020202020204" pitchFamily="34" charset="0"/>
                <a:cs typeface="Arial" panose="020B0604020202020204" pitchFamily="34" charset="0"/>
              </a:rPr>
              <a:t> </a:t>
            </a:r>
            <a:r>
              <a:rPr lang="ru-RU" sz="2400" i="0" dirty="0" err="1">
                <a:solidFill>
                  <a:srgbClr val="333333"/>
                </a:solidFill>
                <a:effectLst/>
                <a:latin typeface="Arial" panose="020B0604020202020204" pitchFamily="34" charset="0"/>
                <a:cs typeface="Arial" panose="020B0604020202020204" pitchFamily="34" charset="0"/>
              </a:rPr>
              <a:t>Верховної</a:t>
            </a:r>
            <a:r>
              <a:rPr lang="ru-RU" sz="2400" i="0" dirty="0">
                <a:solidFill>
                  <a:srgbClr val="333333"/>
                </a:solidFill>
                <a:effectLst/>
                <a:latin typeface="Arial" panose="020B0604020202020204" pitchFamily="34" charset="0"/>
                <a:cs typeface="Arial" panose="020B0604020202020204" pitchFamily="34" charset="0"/>
              </a:rPr>
              <a:t> Ради </a:t>
            </a:r>
            <a:r>
              <a:rPr lang="ru-RU" sz="2400" i="0" dirty="0" err="1">
                <a:solidFill>
                  <a:srgbClr val="333333"/>
                </a:solidFill>
                <a:effectLst/>
                <a:latin typeface="Arial" panose="020B0604020202020204" pitchFamily="34" charset="0"/>
                <a:cs typeface="Arial" panose="020B0604020202020204" pitchFamily="34" charset="0"/>
              </a:rPr>
              <a:t>України</a:t>
            </a:r>
            <a:r>
              <a:rPr lang="ru-RU" altLang="ru-RU" sz="2400" dirty="0">
                <a:solidFill>
                  <a:srgbClr val="333333"/>
                </a:solidFill>
                <a:latin typeface="Arial" panose="020B0604020202020204" pitchFamily="34" charset="0"/>
                <a:cs typeface="Arial" panose="020B0604020202020204" pitchFamily="34" charset="0"/>
              </a:rPr>
              <a:t>, Постанова ВРУ </a:t>
            </a:r>
            <a:r>
              <a:rPr lang="ru-RU" sz="2400" dirty="0">
                <a:solidFill>
                  <a:srgbClr val="333333"/>
                </a:solidFill>
                <a:latin typeface="Arial" panose="020B0604020202020204" pitchFamily="34" charset="0"/>
                <a:cs typeface="Arial" panose="020B0604020202020204" pitchFamily="34" charset="0"/>
              </a:rPr>
              <a:t>№ 4712-IX, 4 </a:t>
            </a:r>
            <a:r>
              <a:rPr lang="ru-RU" sz="2400" i="0" u="none" strike="noStrike" dirty="0" err="1">
                <a:solidFill>
                  <a:srgbClr val="333333"/>
                </a:solidFill>
                <a:effectLst/>
                <a:latin typeface="Arial" panose="020B0604020202020204" pitchFamily="34" charset="0"/>
                <a:cs typeface="Arial" panose="020B0604020202020204" pitchFamily="34" charset="0"/>
              </a:rPr>
              <a:t>грудня</a:t>
            </a:r>
            <a:r>
              <a:rPr lang="ru-RU" sz="2400" i="0" u="none" strike="noStrike" dirty="0">
                <a:solidFill>
                  <a:srgbClr val="333333"/>
                </a:solidFill>
                <a:effectLst/>
                <a:latin typeface="Arial" panose="020B0604020202020204" pitchFamily="34" charset="0"/>
                <a:cs typeface="Arial" panose="020B0604020202020204" pitchFamily="34" charset="0"/>
              </a:rPr>
              <a:t> 2025 року</a:t>
            </a:r>
            <a:endParaRPr lang="uk-UA" sz="2400" dirty="0"/>
          </a:p>
        </p:txBody>
      </p:sp>
      <p:pic>
        <p:nvPicPr>
          <p:cNvPr id="5" name="Місце для вмісту 4">
            <a:extLst>
              <a:ext uri="{FF2B5EF4-FFF2-40B4-BE49-F238E27FC236}">
                <a16:creationId xmlns:a16="http://schemas.microsoft.com/office/drawing/2014/main" id="{2CDACE37-1CA1-4E7F-AB8C-01F79C593A13}"/>
              </a:ext>
            </a:extLst>
          </p:cNvPr>
          <p:cNvPicPr>
            <a:picLocks noGrp="1" noChangeAspect="1"/>
          </p:cNvPicPr>
          <p:nvPr>
            <p:ph idx="1"/>
          </p:nvPr>
        </p:nvPicPr>
        <p:blipFill>
          <a:blip r:embed="rId2"/>
          <a:stretch>
            <a:fillRect/>
          </a:stretch>
        </p:blipFill>
        <p:spPr>
          <a:xfrm>
            <a:off x="457200" y="1769687"/>
            <a:ext cx="8229600" cy="4186989"/>
          </a:xfrm>
        </p:spPr>
      </p:pic>
    </p:spTree>
    <p:extLst>
      <p:ext uri="{BB962C8B-B14F-4D97-AF65-F5344CB8AC3E}">
        <p14:creationId xmlns:p14="http://schemas.microsoft.com/office/powerpoint/2010/main" val="3853621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Основні</a:t>
            </a:r>
            <a:r>
              <a:rPr lang="ru-RU" dirty="0"/>
              <a:t> </a:t>
            </a:r>
            <a:r>
              <a:rPr lang="ru-RU" dirty="0" err="1"/>
              <a:t>терміни</a:t>
            </a:r>
            <a:r>
              <a:rPr lang="ru-RU" dirty="0"/>
              <a:t> та </a:t>
            </a:r>
            <a:r>
              <a:rPr lang="ru-RU" dirty="0" err="1"/>
              <a:t>визначення</a:t>
            </a:r>
            <a:endParaRPr lang="uk-UA" dirty="0"/>
          </a:p>
        </p:txBody>
      </p:sp>
      <p:sp>
        <p:nvSpPr>
          <p:cNvPr id="3" name="Объект 2"/>
          <p:cNvSpPr>
            <a:spLocks noGrp="1"/>
          </p:cNvSpPr>
          <p:nvPr>
            <p:ph idx="1"/>
          </p:nvPr>
        </p:nvSpPr>
        <p:spPr/>
        <p:txBody>
          <a:bodyPr/>
          <a:lstStyle/>
          <a:p>
            <a:pPr marL="0" indent="0">
              <a:buNone/>
            </a:pPr>
            <a:r>
              <a:rPr lang="ru-RU" dirty="0" err="1"/>
              <a:t>Наукова</a:t>
            </a:r>
            <a:r>
              <a:rPr lang="ru-RU" dirty="0"/>
              <a:t> </a:t>
            </a:r>
            <a:r>
              <a:rPr lang="ru-RU" dirty="0" err="1"/>
              <a:t>діяльність</a:t>
            </a:r>
            <a:r>
              <a:rPr lang="ru-RU" dirty="0"/>
              <a:t> - </a:t>
            </a:r>
            <a:r>
              <a:rPr lang="ru-RU" dirty="0" err="1"/>
              <a:t>інтелектуальна</a:t>
            </a:r>
            <a:r>
              <a:rPr lang="ru-RU" dirty="0"/>
              <a:t> </a:t>
            </a:r>
            <a:r>
              <a:rPr lang="ru-RU" dirty="0" err="1"/>
              <a:t>творча</a:t>
            </a:r>
            <a:r>
              <a:rPr lang="ru-RU" dirty="0"/>
              <a:t> </a:t>
            </a:r>
            <a:r>
              <a:rPr lang="ru-RU" dirty="0" err="1"/>
              <a:t>діяльність</a:t>
            </a:r>
            <a:r>
              <a:rPr lang="ru-RU" dirty="0"/>
              <a:t>, </a:t>
            </a:r>
            <a:r>
              <a:rPr lang="ru-RU" dirty="0" err="1"/>
              <a:t>спрямована</a:t>
            </a:r>
            <a:r>
              <a:rPr lang="ru-RU" dirty="0"/>
              <a:t> на </a:t>
            </a:r>
            <a:r>
              <a:rPr lang="ru-RU" dirty="0" err="1"/>
              <a:t>одержання</a:t>
            </a:r>
            <a:r>
              <a:rPr lang="ru-RU" dirty="0"/>
              <a:t> </a:t>
            </a:r>
            <a:r>
              <a:rPr lang="ru-RU" dirty="0" err="1"/>
              <a:t>нових</a:t>
            </a:r>
            <a:r>
              <a:rPr lang="ru-RU" dirty="0"/>
              <a:t> </a:t>
            </a:r>
            <a:r>
              <a:rPr lang="ru-RU" dirty="0" err="1"/>
              <a:t>знань</a:t>
            </a:r>
            <a:r>
              <a:rPr lang="ru-RU" dirty="0"/>
              <a:t> та (</a:t>
            </a:r>
            <a:r>
              <a:rPr lang="ru-RU" dirty="0" err="1"/>
              <a:t>або</a:t>
            </a:r>
            <a:r>
              <a:rPr lang="ru-RU" dirty="0"/>
              <a:t>) </a:t>
            </a:r>
            <a:r>
              <a:rPr lang="ru-RU" dirty="0" err="1"/>
              <a:t>пошук</a:t>
            </a:r>
            <a:r>
              <a:rPr lang="ru-RU" dirty="0"/>
              <a:t> </a:t>
            </a:r>
            <a:r>
              <a:rPr lang="ru-RU" dirty="0" err="1"/>
              <a:t>шляхів</a:t>
            </a:r>
            <a:r>
              <a:rPr lang="ru-RU" dirty="0"/>
              <a:t> </a:t>
            </a:r>
            <a:r>
              <a:rPr lang="ru-RU" dirty="0" err="1"/>
              <a:t>їх</a:t>
            </a:r>
            <a:r>
              <a:rPr lang="ru-RU" dirty="0"/>
              <a:t> </a:t>
            </a:r>
            <a:r>
              <a:rPr lang="ru-RU" dirty="0" err="1"/>
              <a:t>застосування</a:t>
            </a:r>
            <a:r>
              <a:rPr lang="ru-RU" dirty="0"/>
              <a:t>, </a:t>
            </a:r>
            <a:r>
              <a:rPr lang="ru-RU" dirty="0" err="1"/>
              <a:t>основними</a:t>
            </a:r>
            <a:r>
              <a:rPr lang="ru-RU" dirty="0"/>
              <a:t> видами </a:t>
            </a:r>
            <a:r>
              <a:rPr lang="ru-RU" dirty="0" err="1"/>
              <a:t>якої</a:t>
            </a:r>
            <a:r>
              <a:rPr lang="ru-RU" dirty="0"/>
              <a:t> є </a:t>
            </a:r>
            <a:r>
              <a:rPr lang="ru-RU" b="1" dirty="0" err="1">
                <a:solidFill>
                  <a:srgbClr val="FF0000"/>
                </a:solidFill>
              </a:rPr>
              <a:t>фундаментальні</a:t>
            </a:r>
            <a:r>
              <a:rPr lang="ru-RU" dirty="0">
                <a:solidFill>
                  <a:srgbClr val="FF0000"/>
                </a:solidFill>
              </a:rPr>
              <a:t> </a:t>
            </a:r>
            <a:r>
              <a:rPr lang="ru-RU" dirty="0"/>
              <a:t>та </a:t>
            </a:r>
            <a:r>
              <a:rPr lang="ru-RU" b="1" dirty="0" err="1">
                <a:solidFill>
                  <a:srgbClr val="FF0000"/>
                </a:solidFill>
              </a:rPr>
              <a:t>прикладні</a:t>
            </a:r>
            <a:r>
              <a:rPr lang="ru-RU" dirty="0">
                <a:solidFill>
                  <a:srgbClr val="FF0000"/>
                </a:solidFill>
              </a:rPr>
              <a:t> </a:t>
            </a:r>
            <a:r>
              <a:rPr lang="ru-RU" dirty="0" err="1"/>
              <a:t>наукові</a:t>
            </a:r>
            <a:r>
              <a:rPr lang="ru-RU" dirty="0"/>
              <a:t> </a:t>
            </a:r>
            <a:r>
              <a:rPr lang="ru-RU" dirty="0" err="1"/>
              <a:t>дослідження</a:t>
            </a:r>
            <a:endParaRPr lang="ru-RU" dirty="0"/>
          </a:p>
          <a:p>
            <a:pPr marL="0" indent="0">
              <a:buNone/>
            </a:pPr>
            <a:endParaRPr lang="ru-RU" dirty="0"/>
          </a:p>
          <a:p>
            <a:pPr marL="0" indent="0" algn="r">
              <a:buNone/>
            </a:pPr>
            <a:r>
              <a:rPr lang="ru-RU" sz="2000" dirty="0"/>
              <a:t>«Про </a:t>
            </a:r>
            <a:r>
              <a:rPr lang="ru-RU" sz="2000" dirty="0" err="1"/>
              <a:t>наукову</a:t>
            </a:r>
            <a:r>
              <a:rPr lang="ru-RU" sz="2000" dirty="0"/>
              <a:t> і </a:t>
            </a:r>
            <a:r>
              <a:rPr lang="ru-RU" sz="2000" dirty="0" err="1"/>
              <a:t>науково-технічну</a:t>
            </a:r>
            <a:r>
              <a:rPr lang="ru-RU" sz="2000" dirty="0"/>
              <a:t> </a:t>
            </a:r>
            <a:r>
              <a:rPr lang="ru-RU" sz="2000" dirty="0" err="1"/>
              <a:t>діяльність</a:t>
            </a:r>
            <a:r>
              <a:rPr lang="ru-RU" sz="2000" dirty="0"/>
              <a:t>»</a:t>
            </a:r>
          </a:p>
          <a:p>
            <a:pPr marL="0" indent="0">
              <a:buNone/>
            </a:pPr>
            <a:endParaRPr lang="uk-UA" dirty="0"/>
          </a:p>
          <a:p>
            <a:pPr marL="0" indent="0">
              <a:buNone/>
            </a:pPr>
            <a:endParaRPr lang="uk-UA" dirty="0"/>
          </a:p>
        </p:txBody>
      </p:sp>
    </p:spTree>
    <p:extLst>
      <p:ext uri="{BB962C8B-B14F-4D97-AF65-F5344CB8AC3E}">
        <p14:creationId xmlns:p14="http://schemas.microsoft.com/office/powerpoint/2010/main" val="2135913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Прикладні</a:t>
            </a:r>
            <a:r>
              <a:rPr lang="ru-RU" dirty="0"/>
              <a:t> </a:t>
            </a:r>
            <a:r>
              <a:rPr lang="ru-RU" dirty="0" err="1"/>
              <a:t>наукові</a:t>
            </a:r>
            <a:r>
              <a:rPr lang="ru-RU" dirty="0"/>
              <a:t> </a:t>
            </a:r>
            <a:r>
              <a:rPr lang="ru-RU" dirty="0" err="1"/>
              <a:t>дослідження</a:t>
            </a:r>
            <a:r>
              <a:rPr lang="ru-RU" dirty="0"/>
              <a:t> </a:t>
            </a:r>
            <a:endParaRPr lang="uk-UA" dirty="0"/>
          </a:p>
        </p:txBody>
      </p:sp>
      <p:sp>
        <p:nvSpPr>
          <p:cNvPr id="3" name="Объект 2"/>
          <p:cNvSpPr>
            <a:spLocks noGrp="1"/>
          </p:cNvSpPr>
          <p:nvPr>
            <p:ph idx="1"/>
          </p:nvPr>
        </p:nvSpPr>
        <p:spPr/>
        <p:txBody>
          <a:bodyPr>
            <a:normAutofit fontScale="92500" lnSpcReduction="10000"/>
          </a:bodyPr>
          <a:lstStyle/>
          <a:p>
            <a:pPr marL="0" indent="0">
              <a:buNone/>
            </a:pPr>
            <a:r>
              <a:rPr lang="ru-RU" dirty="0" err="1"/>
              <a:t>теоретичні</a:t>
            </a:r>
            <a:r>
              <a:rPr lang="ru-RU" dirty="0"/>
              <a:t> та </a:t>
            </a:r>
            <a:r>
              <a:rPr lang="ru-RU" dirty="0" err="1"/>
              <a:t>експериментальні</a:t>
            </a:r>
            <a:r>
              <a:rPr lang="ru-RU" dirty="0"/>
              <a:t> </a:t>
            </a:r>
            <a:r>
              <a:rPr lang="ru-RU" dirty="0" err="1"/>
              <a:t>наукові</a:t>
            </a:r>
            <a:r>
              <a:rPr lang="ru-RU" dirty="0"/>
              <a:t> </a:t>
            </a:r>
            <a:r>
              <a:rPr lang="ru-RU" dirty="0" err="1"/>
              <a:t>дослідження</a:t>
            </a:r>
            <a:r>
              <a:rPr lang="ru-RU" dirty="0"/>
              <a:t>, </a:t>
            </a:r>
            <a:r>
              <a:rPr lang="ru-RU" b="1" dirty="0" err="1">
                <a:solidFill>
                  <a:srgbClr val="FF0000"/>
                </a:solidFill>
              </a:rPr>
              <a:t>спрямовані</a:t>
            </a:r>
            <a:r>
              <a:rPr lang="ru-RU" b="1" dirty="0">
                <a:solidFill>
                  <a:srgbClr val="FF0000"/>
                </a:solidFill>
              </a:rPr>
              <a:t> на </a:t>
            </a:r>
            <a:r>
              <a:rPr lang="ru-RU" b="1" dirty="0" err="1">
                <a:solidFill>
                  <a:srgbClr val="FF0000"/>
                </a:solidFill>
              </a:rPr>
              <a:t>одержання</a:t>
            </a:r>
            <a:r>
              <a:rPr lang="ru-RU" b="1" dirty="0">
                <a:solidFill>
                  <a:srgbClr val="FF0000"/>
                </a:solidFill>
              </a:rPr>
              <a:t> і </a:t>
            </a:r>
            <a:r>
              <a:rPr lang="ru-RU" b="1" dirty="0" err="1">
                <a:solidFill>
                  <a:srgbClr val="FF0000"/>
                </a:solidFill>
              </a:rPr>
              <a:t>використання</a:t>
            </a:r>
            <a:r>
              <a:rPr lang="ru-RU" b="1" dirty="0">
                <a:solidFill>
                  <a:srgbClr val="FF0000"/>
                </a:solidFill>
              </a:rPr>
              <a:t> </a:t>
            </a:r>
            <a:r>
              <a:rPr lang="ru-RU" b="1" dirty="0" err="1">
                <a:solidFill>
                  <a:srgbClr val="FF0000"/>
                </a:solidFill>
              </a:rPr>
              <a:t>нових</a:t>
            </a:r>
            <a:r>
              <a:rPr lang="ru-RU" b="1" dirty="0">
                <a:solidFill>
                  <a:srgbClr val="FF0000"/>
                </a:solidFill>
              </a:rPr>
              <a:t> </a:t>
            </a:r>
            <a:r>
              <a:rPr lang="ru-RU" b="1" dirty="0" err="1">
                <a:solidFill>
                  <a:srgbClr val="FF0000"/>
                </a:solidFill>
              </a:rPr>
              <a:t>знань</a:t>
            </a:r>
            <a:r>
              <a:rPr lang="ru-RU" b="1" dirty="0">
                <a:solidFill>
                  <a:srgbClr val="FF0000"/>
                </a:solidFill>
              </a:rPr>
              <a:t> для </a:t>
            </a:r>
            <a:r>
              <a:rPr lang="ru-RU" b="1" dirty="0" err="1">
                <a:solidFill>
                  <a:srgbClr val="FF0000"/>
                </a:solidFill>
              </a:rPr>
              <a:t>практичних</a:t>
            </a:r>
            <a:r>
              <a:rPr lang="ru-RU" b="1" dirty="0">
                <a:solidFill>
                  <a:srgbClr val="FF0000"/>
                </a:solidFill>
              </a:rPr>
              <a:t> </a:t>
            </a:r>
            <a:r>
              <a:rPr lang="ru-RU" b="1" dirty="0" err="1">
                <a:solidFill>
                  <a:srgbClr val="FF0000"/>
                </a:solidFill>
              </a:rPr>
              <a:t>цілей</a:t>
            </a:r>
            <a:r>
              <a:rPr lang="ru-RU" dirty="0"/>
              <a:t>. </a:t>
            </a:r>
          </a:p>
          <a:p>
            <a:pPr marL="0" indent="0">
              <a:buNone/>
            </a:pPr>
            <a:r>
              <a:rPr lang="ru-RU" dirty="0"/>
              <a:t>Результатом </a:t>
            </a:r>
            <a:r>
              <a:rPr lang="ru-RU" dirty="0" err="1"/>
              <a:t>прикладних</a:t>
            </a:r>
            <a:r>
              <a:rPr lang="ru-RU" dirty="0"/>
              <a:t> </a:t>
            </a:r>
            <a:r>
              <a:rPr lang="ru-RU" dirty="0" err="1"/>
              <a:t>наукових</a:t>
            </a:r>
            <a:r>
              <a:rPr lang="ru-RU" dirty="0"/>
              <a:t> </a:t>
            </a:r>
            <a:r>
              <a:rPr lang="ru-RU" dirty="0" err="1"/>
              <a:t>досліджень</a:t>
            </a:r>
            <a:r>
              <a:rPr lang="ru-RU" dirty="0"/>
              <a:t> є </a:t>
            </a:r>
            <a:r>
              <a:rPr lang="ru-RU" dirty="0" err="1"/>
              <a:t>нові</a:t>
            </a:r>
            <a:r>
              <a:rPr lang="ru-RU" dirty="0"/>
              <a:t> </a:t>
            </a:r>
            <a:r>
              <a:rPr lang="ru-RU" dirty="0" err="1"/>
              <a:t>знання</a:t>
            </a:r>
            <a:r>
              <a:rPr lang="ru-RU" dirty="0"/>
              <a:t>, </a:t>
            </a:r>
            <a:r>
              <a:rPr lang="ru-RU" dirty="0" err="1"/>
              <a:t>призначені</a:t>
            </a:r>
            <a:r>
              <a:rPr lang="ru-RU" dirty="0"/>
              <a:t> для </a:t>
            </a:r>
            <a:r>
              <a:rPr lang="ru-RU" dirty="0" err="1"/>
              <a:t>створення</a:t>
            </a:r>
            <a:r>
              <a:rPr lang="ru-RU" dirty="0"/>
              <a:t> </a:t>
            </a:r>
            <a:r>
              <a:rPr lang="ru-RU" dirty="0" err="1"/>
              <a:t>нових</a:t>
            </a:r>
            <a:r>
              <a:rPr lang="ru-RU" dirty="0"/>
              <a:t> </a:t>
            </a:r>
            <a:r>
              <a:rPr lang="ru-RU" dirty="0" err="1"/>
              <a:t>або</a:t>
            </a:r>
            <a:r>
              <a:rPr lang="ru-RU" dirty="0"/>
              <a:t> </a:t>
            </a:r>
            <a:r>
              <a:rPr lang="ru-RU" dirty="0" err="1"/>
              <a:t>вдосконалення</a:t>
            </a:r>
            <a:r>
              <a:rPr lang="ru-RU" dirty="0"/>
              <a:t> </a:t>
            </a:r>
            <a:r>
              <a:rPr lang="ru-RU" dirty="0" err="1"/>
              <a:t>існуючих</a:t>
            </a:r>
            <a:r>
              <a:rPr lang="ru-RU" dirty="0"/>
              <a:t> </a:t>
            </a:r>
            <a:r>
              <a:rPr lang="ru-RU" dirty="0" err="1"/>
              <a:t>матеріалів</a:t>
            </a:r>
            <a:r>
              <a:rPr lang="ru-RU" dirty="0"/>
              <a:t>, </a:t>
            </a:r>
            <a:r>
              <a:rPr lang="ru-RU" dirty="0" err="1"/>
              <a:t>продуктів</a:t>
            </a:r>
            <a:r>
              <a:rPr lang="ru-RU" dirty="0"/>
              <a:t>, </a:t>
            </a:r>
            <a:r>
              <a:rPr lang="ru-RU" dirty="0" err="1"/>
              <a:t>пристроїв</a:t>
            </a:r>
            <a:r>
              <a:rPr lang="ru-RU" dirty="0"/>
              <a:t>, </a:t>
            </a:r>
            <a:r>
              <a:rPr lang="ru-RU" dirty="0" err="1"/>
              <a:t>методів</a:t>
            </a:r>
            <a:r>
              <a:rPr lang="ru-RU" dirty="0"/>
              <a:t>, систем, </a:t>
            </a:r>
            <a:r>
              <a:rPr lang="ru-RU" dirty="0" err="1"/>
              <a:t>технологій</a:t>
            </a:r>
            <a:r>
              <a:rPr lang="ru-RU" dirty="0"/>
              <a:t>, </a:t>
            </a:r>
            <a:r>
              <a:rPr lang="ru-RU" dirty="0" err="1"/>
              <a:t>конкретні</a:t>
            </a:r>
            <a:r>
              <a:rPr lang="ru-RU" dirty="0"/>
              <a:t> </a:t>
            </a:r>
            <a:r>
              <a:rPr lang="ru-RU" dirty="0" err="1"/>
              <a:t>пропозиції</a:t>
            </a:r>
            <a:r>
              <a:rPr lang="ru-RU" dirty="0"/>
              <a:t> </a:t>
            </a:r>
            <a:r>
              <a:rPr lang="ru-RU" dirty="0" err="1"/>
              <a:t>щодо</a:t>
            </a:r>
            <a:r>
              <a:rPr lang="ru-RU" dirty="0"/>
              <a:t> </a:t>
            </a:r>
            <a:r>
              <a:rPr lang="ru-RU" dirty="0" err="1"/>
              <a:t>виконання</a:t>
            </a:r>
            <a:r>
              <a:rPr lang="ru-RU" dirty="0"/>
              <a:t> </a:t>
            </a:r>
            <a:r>
              <a:rPr lang="ru-RU" dirty="0" err="1"/>
              <a:t>актуальних</a:t>
            </a:r>
            <a:r>
              <a:rPr lang="ru-RU" dirty="0"/>
              <a:t> </a:t>
            </a:r>
            <a:r>
              <a:rPr lang="ru-RU" dirty="0" err="1"/>
              <a:t>науково-технічних</a:t>
            </a:r>
            <a:r>
              <a:rPr lang="ru-RU" dirty="0"/>
              <a:t> та </a:t>
            </a:r>
            <a:r>
              <a:rPr lang="ru-RU" dirty="0" err="1"/>
              <a:t>суспільних</a:t>
            </a:r>
            <a:r>
              <a:rPr lang="ru-RU" dirty="0"/>
              <a:t> </a:t>
            </a:r>
            <a:r>
              <a:rPr lang="ru-RU" dirty="0" err="1"/>
              <a:t>завдань</a:t>
            </a:r>
            <a:endParaRPr lang="uk-UA" dirty="0"/>
          </a:p>
        </p:txBody>
      </p:sp>
    </p:spTree>
    <p:extLst>
      <p:ext uri="{BB962C8B-B14F-4D97-AF65-F5344CB8AC3E}">
        <p14:creationId xmlns:p14="http://schemas.microsoft.com/office/powerpoint/2010/main" val="938293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274638"/>
            <a:ext cx="8435280" cy="1143000"/>
          </a:xfrm>
        </p:spPr>
        <p:txBody>
          <a:bodyPr>
            <a:normAutofit fontScale="90000"/>
          </a:bodyPr>
          <a:lstStyle/>
          <a:p>
            <a:r>
              <a:rPr lang="ru-RU" dirty="0" err="1"/>
              <a:t>Фундаментальні</a:t>
            </a:r>
            <a:r>
              <a:rPr lang="ru-RU" dirty="0"/>
              <a:t> </a:t>
            </a:r>
            <a:r>
              <a:rPr lang="ru-RU" dirty="0" err="1"/>
              <a:t>наукові</a:t>
            </a:r>
            <a:r>
              <a:rPr lang="ru-RU" dirty="0"/>
              <a:t> </a:t>
            </a:r>
            <a:r>
              <a:rPr lang="ru-RU" dirty="0" err="1"/>
              <a:t>дослідження</a:t>
            </a:r>
            <a:r>
              <a:rPr lang="ru-RU" dirty="0"/>
              <a:t> </a:t>
            </a:r>
            <a:endParaRPr lang="uk-UA" dirty="0"/>
          </a:p>
        </p:txBody>
      </p:sp>
      <p:sp>
        <p:nvSpPr>
          <p:cNvPr id="3" name="Объект 2"/>
          <p:cNvSpPr>
            <a:spLocks noGrp="1"/>
          </p:cNvSpPr>
          <p:nvPr>
            <p:ph idx="1"/>
          </p:nvPr>
        </p:nvSpPr>
        <p:spPr/>
        <p:txBody>
          <a:bodyPr>
            <a:normAutofit fontScale="85000" lnSpcReduction="10000"/>
          </a:bodyPr>
          <a:lstStyle/>
          <a:p>
            <a:pPr marL="0" indent="0">
              <a:buNone/>
            </a:pPr>
            <a:r>
              <a:rPr lang="ru-RU" dirty="0" err="1"/>
              <a:t>теоретичні</a:t>
            </a:r>
            <a:r>
              <a:rPr lang="ru-RU" dirty="0"/>
              <a:t> та </a:t>
            </a:r>
            <a:r>
              <a:rPr lang="ru-RU" dirty="0" err="1"/>
              <a:t>експериментальні</a:t>
            </a:r>
            <a:r>
              <a:rPr lang="ru-RU" dirty="0"/>
              <a:t> </a:t>
            </a:r>
            <a:r>
              <a:rPr lang="ru-RU" dirty="0" err="1"/>
              <a:t>наукові</a:t>
            </a:r>
            <a:r>
              <a:rPr lang="ru-RU" dirty="0"/>
              <a:t> </a:t>
            </a:r>
            <a:r>
              <a:rPr lang="ru-RU" dirty="0" err="1"/>
              <a:t>дослідження</a:t>
            </a:r>
            <a:r>
              <a:rPr lang="ru-RU" dirty="0"/>
              <a:t>, </a:t>
            </a:r>
            <a:r>
              <a:rPr lang="ru-RU" b="1" dirty="0" err="1">
                <a:solidFill>
                  <a:srgbClr val="FF0000"/>
                </a:solidFill>
              </a:rPr>
              <a:t>спрямовані</a:t>
            </a:r>
            <a:r>
              <a:rPr lang="ru-RU" b="1" dirty="0">
                <a:solidFill>
                  <a:srgbClr val="FF0000"/>
                </a:solidFill>
              </a:rPr>
              <a:t> на </a:t>
            </a:r>
            <a:r>
              <a:rPr lang="ru-RU" b="1" dirty="0" err="1">
                <a:solidFill>
                  <a:srgbClr val="FF0000"/>
                </a:solidFill>
              </a:rPr>
              <a:t>одержання</a:t>
            </a:r>
            <a:r>
              <a:rPr lang="ru-RU" b="1" dirty="0">
                <a:solidFill>
                  <a:srgbClr val="FF0000"/>
                </a:solidFill>
              </a:rPr>
              <a:t> </a:t>
            </a:r>
            <a:r>
              <a:rPr lang="ru-RU" b="1" dirty="0" err="1">
                <a:solidFill>
                  <a:srgbClr val="FF0000"/>
                </a:solidFill>
              </a:rPr>
              <a:t>нових</a:t>
            </a:r>
            <a:r>
              <a:rPr lang="ru-RU" b="1" dirty="0">
                <a:solidFill>
                  <a:srgbClr val="FF0000"/>
                </a:solidFill>
              </a:rPr>
              <a:t> </a:t>
            </a:r>
            <a:r>
              <a:rPr lang="ru-RU" b="1" dirty="0" err="1">
                <a:solidFill>
                  <a:srgbClr val="FF0000"/>
                </a:solidFill>
              </a:rPr>
              <a:t>знань</a:t>
            </a:r>
            <a:r>
              <a:rPr lang="ru-RU" b="1" dirty="0">
                <a:solidFill>
                  <a:srgbClr val="FF0000"/>
                </a:solidFill>
              </a:rPr>
              <a:t> про </a:t>
            </a:r>
            <a:r>
              <a:rPr lang="ru-RU" b="1" dirty="0" err="1">
                <a:solidFill>
                  <a:srgbClr val="FF0000"/>
                </a:solidFill>
              </a:rPr>
              <a:t>закономірності</a:t>
            </a:r>
            <a:r>
              <a:rPr lang="ru-RU" b="1" dirty="0">
                <a:solidFill>
                  <a:srgbClr val="FF0000"/>
                </a:solidFill>
              </a:rPr>
              <a:t> </a:t>
            </a:r>
            <a:r>
              <a:rPr lang="ru-RU" b="1" dirty="0" err="1">
                <a:solidFill>
                  <a:srgbClr val="FF0000"/>
                </a:solidFill>
              </a:rPr>
              <a:t>організації</a:t>
            </a:r>
            <a:r>
              <a:rPr lang="ru-RU" b="1" dirty="0">
                <a:solidFill>
                  <a:srgbClr val="FF0000"/>
                </a:solidFill>
              </a:rPr>
              <a:t> та </a:t>
            </a:r>
            <a:r>
              <a:rPr lang="ru-RU" b="1" dirty="0" err="1">
                <a:solidFill>
                  <a:srgbClr val="FF0000"/>
                </a:solidFill>
              </a:rPr>
              <a:t>розвитку</a:t>
            </a:r>
            <a:r>
              <a:rPr lang="ru-RU" b="1" dirty="0">
                <a:solidFill>
                  <a:srgbClr val="FF0000"/>
                </a:solidFill>
              </a:rPr>
              <a:t> </a:t>
            </a:r>
            <a:r>
              <a:rPr lang="ru-RU" b="1" dirty="0" err="1">
                <a:solidFill>
                  <a:srgbClr val="FF0000"/>
                </a:solidFill>
              </a:rPr>
              <a:t>природи</a:t>
            </a:r>
            <a:r>
              <a:rPr lang="ru-RU" b="1" dirty="0">
                <a:solidFill>
                  <a:srgbClr val="FF0000"/>
                </a:solidFill>
              </a:rPr>
              <a:t>, </a:t>
            </a:r>
            <a:r>
              <a:rPr lang="ru-RU" b="1" dirty="0" err="1">
                <a:solidFill>
                  <a:srgbClr val="FF0000"/>
                </a:solidFill>
              </a:rPr>
              <a:t>суспільства</a:t>
            </a:r>
            <a:r>
              <a:rPr lang="ru-RU" b="1" dirty="0">
                <a:solidFill>
                  <a:srgbClr val="FF0000"/>
                </a:solidFill>
              </a:rPr>
              <a:t>, </a:t>
            </a:r>
            <a:r>
              <a:rPr lang="ru-RU" b="1" dirty="0" err="1">
                <a:solidFill>
                  <a:srgbClr val="FF0000"/>
                </a:solidFill>
              </a:rPr>
              <a:t>людини</a:t>
            </a:r>
            <a:r>
              <a:rPr lang="ru-RU" b="1" dirty="0">
                <a:solidFill>
                  <a:srgbClr val="FF0000"/>
                </a:solidFill>
              </a:rPr>
              <a:t>, </a:t>
            </a:r>
            <a:r>
              <a:rPr lang="ru-RU" b="1" dirty="0" err="1">
                <a:solidFill>
                  <a:srgbClr val="FF0000"/>
                </a:solidFill>
              </a:rPr>
              <a:t>їх</a:t>
            </a:r>
            <a:r>
              <a:rPr lang="ru-RU" b="1" dirty="0">
                <a:solidFill>
                  <a:srgbClr val="FF0000"/>
                </a:solidFill>
              </a:rPr>
              <a:t> </a:t>
            </a:r>
            <a:r>
              <a:rPr lang="ru-RU" b="1" dirty="0" err="1">
                <a:solidFill>
                  <a:srgbClr val="FF0000"/>
                </a:solidFill>
              </a:rPr>
              <a:t>взаємозв’язків</a:t>
            </a:r>
            <a:r>
              <a:rPr lang="ru-RU" dirty="0"/>
              <a:t>.</a:t>
            </a:r>
          </a:p>
          <a:p>
            <a:pPr marL="0" indent="0">
              <a:buNone/>
            </a:pPr>
            <a:r>
              <a:rPr lang="ru-RU" dirty="0"/>
              <a:t>Результатом </a:t>
            </a:r>
            <a:r>
              <a:rPr lang="ru-RU" dirty="0" err="1"/>
              <a:t>фундаментальних</a:t>
            </a:r>
            <a:r>
              <a:rPr lang="ru-RU" dirty="0"/>
              <a:t> </a:t>
            </a:r>
            <a:r>
              <a:rPr lang="ru-RU" dirty="0" err="1"/>
              <a:t>наукових</a:t>
            </a:r>
            <a:r>
              <a:rPr lang="ru-RU" dirty="0"/>
              <a:t> </a:t>
            </a:r>
            <a:r>
              <a:rPr lang="ru-RU" dirty="0" err="1"/>
              <a:t>досліджень</a:t>
            </a:r>
            <a:r>
              <a:rPr lang="ru-RU" dirty="0"/>
              <a:t> </a:t>
            </a:r>
            <a:r>
              <a:rPr lang="ru-RU" dirty="0">
                <a:effectLst>
                  <a:outerShdw blurRad="38100" dist="38100" dir="2700000" algn="tl">
                    <a:srgbClr val="000000">
                      <a:alpha val="43137"/>
                    </a:srgbClr>
                  </a:outerShdw>
                </a:effectLst>
              </a:rPr>
              <a:t>є </a:t>
            </a:r>
            <a:r>
              <a:rPr lang="ru-RU" dirty="0" err="1">
                <a:effectLst>
                  <a:outerShdw blurRad="38100" dist="38100" dir="2700000" algn="tl">
                    <a:srgbClr val="000000">
                      <a:alpha val="43137"/>
                    </a:srgbClr>
                  </a:outerShdw>
                </a:effectLst>
              </a:rPr>
              <a:t>гіпотези</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теорії</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нові</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методи</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пізнання</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відкриття</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законів</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природи</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невідомих</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раніше</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явищ</a:t>
            </a:r>
            <a:r>
              <a:rPr lang="ru-RU" dirty="0">
                <a:effectLst>
                  <a:outerShdw blurRad="38100" dist="38100" dir="2700000" algn="tl">
                    <a:srgbClr val="000000">
                      <a:alpha val="43137"/>
                    </a:srgbClr>
                  </a:outerShdw>
                </a:effectLst>
              </a:rPr>
              <a:t> і </a:t>
            </a:r>
            <a:r>
              <a:rPr lang="ru-RU" dirty="0" err="1">
                <a:effectLst>
                  <a:outerShdw blurRad="38100" dist="38100" dir="2700000" algn="tl">
                    <a:srgbClr val="000000">
                      <a:alpha val="43137"/>
                    </a:srgbClr>
                  </a:outerShdw>
                </a:effectLst>
              </a:rPr>
              <a:t>властивостей</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матерії</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виявлення</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закономірностей</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розвитку</a:t>
            </a:r>
            <a:r>
              <a:rPr lang="ru-RU" dirty="0">
                <a:effectLst>
                  <a:outerShdw blurRad="38100" dist="38100" dir="2700000" algn="tl">
                    <a:srgbClr val="000000">
                      <a:alpha val="43137"/>
                    </a:srgbClr>
                  </a:outerShdw>
                </a:effectLst>
              </a:rPr>
              <a:t> </a:t>
            </a:r>
            <a:r>
              <a:rPr lang="ru-RU" dirty="0" err="1">
                <a:effectLst>
                  <a:outerShdw blurRad="38100" dist="38100" dir="2700000" algn="tl">
                    <a:srgbClr val="000000">
                      <a:alpha val="43137"/>
                    </a:srgbClr>
                  </a:outerShdw>
                </a:effectLst>
              </a:rPr>
              <a:t>суспільства</a:t>
            </a:r>
            <a:r>
              <a:rPr lang="ru-RU" dirty="0"/>
              <a:t> </a:t>
            </a:r>
            <a:r>
              <a:rPr lang="ru-RU" dirty="0" err="1"/>
              <a:t>тощо</a:t>
            </a:r>
            <a:r>
              <a:rPr lang="ru-RU" dirty="0"/>
              <a:t>, </a:t>
            </a:r>
          </a:p>
          <a:p>
            <a:pPr marL="0" indent="0">
              <a:buNone/>
            </a:pPr>
            <a:r>
              <a:rPr lang="ru-RU" dirty="0" err="1">
                <a:solidFill>
                  <a:srgbClr val="FF0000"/>
                </a:solidFill>
                <a:effectLst>
                  <a:outerShdw blurRad="38100" dist="38100" dir="2700000" algn="tl">
                    <a:srgbClr val="000000">
                      <a:alpha val="43137"/>
                    </a:srgbClr>
                  </a:outerShdw>
                </a:effectLst>
              </a:rPr>
              <a:t>які</a:t>
            </a:r>
            <a:r>
              <a:rPr lang="ru-RU" dirty="0">
                <a:solidFill>
                  <a:srgbClr val="FF0000"/>
                </a:solidFill>
                <a:effectLst>
                  <a:outerShdw blurRad="38100" dist="38100" dir="2700000" algn="tl">
                    <a:srgbClr val="000000">
                      <a:alpha val="43137"/>
                    </a:srgbClr>
                  </a:outerShdw>
                </a:effectLst>
              </a:rPr>
              <a:t> не </a:t>
            </a:r>
            <a:r>
              <a:rPr lang="ru-RU" dirty="0" err="1">
                <a:solidFill>
                  <a:srgbClr val="FF0000"/>
                </a:solidFill>
                <a:effectLst>
                  <a:outerShdw blurRad="38100" dist="38100" dir="2700000" algn="tl">
                    <a:srgbClr val="000000">
                      <a:alpha val="43137"/>
                    </a:srgbClr>
                  </a:outerShdw>
                </a:effectLst>
              </a:rPr>
              <a:t>орієнтовані</a:t>
            </a:r>
            <a:r>
              <a:rPr lang="ru-RU" dirty="0">
                <a:solidFill>
                  <a:srgbClr val="FF0000"/>
                </a:solidFill>
                <a:effectLst>
                  <a:outerShdw blurRad="38100" dist="38100" dir="2700000" algn="tl">
                    <a:srgbClr val="000000">
                      <a:alpha val="43137"/>
                    </a:srgbClr>
                  </a:outerShdw>
                </a:effectLst>
              </a:rPr>
              <a:t> на </a:t>
            </a:r>
            <a:r>
              <a:rPr lang="ru-RU" dirty="0" err="1">
                <a:solidFill>
                  <a:srgbClr val="FF0000"/>
                </a:solidFill>
                <a:effectLst>
                  <a:outerShdw blurRad="38100" dist="38100" dir="2700000" algn="tl">
                    <a:srgbClr val="000000">
                      <a:alpha val="43137"/>
                    </a:srgbClr>
                  </a:outerShdw>
                </a:effectLst>
              </a:rPr>
              <a:t>безпосереднє</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практичне</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використання</a:t>
            </a:r>
            <a:r>
              <a:rPr lang="ru-RU" dirty="0">
                <a:solidFill>
                  <a:srgbClr val="FF0000"/>
                </a:solidFill>
                <a:effectLst>
                  <a:outerShdw blurRad="38100" dist="38100" dir="2700000" algn="tl">
                    <a:srgbClr val="000000">
                      <a:alpha val="43137"/>
                    </a:srgbClr>
                  </a:outerShdw>
                </a:effectLst>
              </a:rPr>
              <a:t> у </a:t>
            </a:r>
            <a:r>
              <a:rPr lang="ru-RU" dirty="0" err="1">
                <a:solidFill>
                  <a:srgbClr val="FF0000"/>
                </a:solidFill>
                <a:effectLst>
                  <a:outerShdw blurRad="38100" dist="38100" dir="2700000" algn="tl">
                    <a:srgbClr val="000000">
                      <a:alpha val="43137"/>
                    </a:srgbClr>
                  </a:outerShdw>
                </a:effectLst>
              </a:rPr>
              <a:t>сфері</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економіки</a:t>
            </a:r>
            <a:r>
              <a:rPr lang="ru-RU" dirty="0">
                <a:solidFill>
                  <a:srgbClr val="FF0000"/>
                </a:solidFill>
                <a:effectLst>
                  <a:outerShdw blurRad="38100" dist="38100" dir="2700000" algn="tl">
                    <a:srgbClr val="000000">
                      <a:alpha val="43137"/>
                    </a:srgbClr>
                  </a:outerShdw>
                </a:effectLst>
              </a:rPr>
              <a:t>.</a:t>
            </a:r>
            <a:endParaRPr lang="uk-UA"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82277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 </a:t>
            </a:r>
            <a:r>
              <a:rPr lang="ru-RU" dirty="0" err="1"/>
              <a:t>Основні</a:t>
            </a:r>
            <a:r>
              <a:rPr lang="ru-RU" dirty="0"/>
              <a:t> </a:t>
            </a:r>
            <a:r>
              <a:rPr lang="ru-RU" dirty="0" err="1"/>
              <a:t>терміни</a:t>
            </a:r>
            <a:r>
              <a:rPr lang="ru-RU" dirty="0"/>
              <a:t> та </a:t>
            </a:r>
            <a:r>
              <a:rPr lang="ru-RU" dirty="0" err="1"/>
              <a:t>визначення</a:t>
            </a:r>
            <a:endParaRPr lang="uk-UA" dirty="0"/>
          </a:p>
        </p:txBody>
      </p:sp>
      <p:sp>
        <p:nvSpPr>
          <p:cNvPr id="3" name="Объект 2"/>
          <p:cNvSpPr>
            <a:spLocks noGrp="1"/>
          </p:cNvSpPr>
          <p:nvPr>
            <p:ph idx="1"/>
          </p:nvPr>
        </p:nvSpPr>
        <p:spPr/>
        <p:txBody>
          <a:bodyPr>
            <a:normAutofit fontScale="85000" lnSpcReduction="10000"/>
          </a:bodyPr>
          <a:lstStyle/>
          <a:p>
            <a:pPr marL="0" indent="0">
              <a:buNone/>
            </a:pPr>
            <a:r>
              <a:rPr lang="ru-RU" b="1" dirty="0" err="1">
                <a:solidFill>
                  <a:srgbClr val="FF0000"/>
                </a:solidFill>
              </a:rPr>
              <a:t>аспірант</a:t>
            </a:r>
            <a:r>
              <a:rPr lang="ru-RU" dirty="0">
                <a:solidFill>
                  <a:srgbClr val="FF0000"/>
                </a:solidFill>
              </a:rPr>
              <a:t> </a:t>
            </a:r>
            <a:r>
              <a:rPr lang="ru-RU" dirty="0"/>
              <a:t>- </a:t>
            </a:r>
            <a:r>
              <a:rPr lang="ru-RU" dirty="0" err="1"/>
              <a:t>вчений</a:t>
            </a:r>
            <a:r>
              <a:rPr lang="ru-RU" dirty="0"/>
              <a:t>, </a:t>
            </a:r>
            <a:r>
              <a:rPr lang="ru-RU" dirty="0" err="1"/>
              <a:t>який</a:t>
            </a:r>
            <a:r>
              <a:rPr lang="ru-RU" dirty="0"/>
              <a:t> проводить </a:t>
            </a:r>
            <a:r>
              <a:rPr lang="ru-RU" dirty="0" err="1"/>
              <a:t>фундаментальні</a:t>
            </a:r>
            <a:r>
              <a:rPr lang="ru-RU" dirty="0"/>
              <a:t> та (</a:t>
            </a:r>
            <a:r>
              <a:rPr lang="ru-RU" dirty="0" err="1"/>
              <a:t>або</a:t>
            </a:r>
            <a:r>
              <a:rPr lang="ru-RU" dirty="0"/>
              <a:t>) </a:t>
            </a:r>
            <a:r>
              <a:rPr lang="ru-RU" dirty="0" err="1"/>
              <a:t>прикладні</a:t>
            </a:r>
            <a:r>
              <a:rPr lang="ru-RU" dirty="0"/>
              <a:t> </a:t>
            </a:r>
            <a:r>
              <a:rPr lang="ru-RU" dirty="0" err="1"/>
              <a:t>наукові</a:t>
            </a:r>
            <a:r>
              <a:rPr lang="ru-RU" dirty="0"/>
              <a:t> </a:t>
            </a:r>
            <a:r>
              <a:rPr lang="ru-RU" dirty="0" err="1"/>
              <a:t>дослідження</a:t>
            </a:r>
            <a:r>
              <a:rPr lang="ru-RU" dirty="0"/>
              <a:t> у рамках </a:t>
            </a:r>
            <a:r>
              <a:rPr lang="ru-RU" dirty="0" err="1"/>
              <a:t>підготовки</a:t>
            </a:r>
            <a:r>
              <a:rPr lang="ru-RU" dirty="0"/>
              <a:t> в </a:t>
            </a:r>
            <a:r>
              <a:rPr lang="ru-RU" dirty="0" err="1"/>
              <a:t>аспірантурі</a:t>
            </a:r>
            <a:r>
              <a:rPr lang="ru-RU" dirty="0"/>
              <a:t> у </a:t>
            </a:r>
            <a:r>
              <a:rPr lang="ru-RU" dirty="0" err="1"/>
              <a:t>закладі</a:t>
            </a:r>
            <a:r>
              <a:rPr lang="ru-RU" dirty="0"/>
              <a:t> </a:t>
            </a:r>
            <a:r>
              <a:rPr lang="ru-RU" dirty="0" err="1"/>
              <a:t>вищої</a:t>
            </a:r>
            <a:r>
              <a:rPr lang="ru-RU" dirty="0"/>
              <a:t> </a:t>
            </a:r>
            <a:r>
              <a:rPr lang="ru-RU" dirty="0" err="1"/>
              <a:t>освіти</a:t>
            </a:r>
            <a:r>
              <a:rPr lang="ru-RU" dirty="0"/>
              <a:t>/</a:t>
            </a:r>
            <a:r>
              <a:rPr lang="ru-RU" dirty="0" err="1"/>
              <a:t>науковій</a:t>
            </a:r>
            <a:r>
              <a:rPr lang="ru-RU" dirty="0"/>
              <a:t> </a:t>
            </a:r>
            <a:r>
              <a:rPr lang="ru-RU" dirty="0" err="1"/>
              <a:t>установі</a:t>
            </a:r>
            <a:r>
              <a:rPr lang="ru-RU" dirty="0"/>
              <a:t> для </a:t>
            </a:r>
            <a:r>
              <a:rPr lang="ru-RU" dirty="0" err="1"/>
              <a:t>здобуття</a:t>
            </a:r>
            <a:r>
              <a:rPr lang="ru-RU" dirty="0"/>
              <a:t> </a:t>
            </a:r>
            <a:r>
              <a:rPr lang="ru-RU" dirty="0" err="1"/>
              <a:t>ступеня</a:t>
            </a:r>
            <a:r>
              <a:rPr lang="ru-RU" dirty="0"/>
              <a:t> доктора </a:t>
            </a:r>
            <a:r>
              <a:rPr lang="ru-RU" dirty="0" err="1"/>
              <a:t>філософії</a:t>
            </a:r>
            <a:endParaRPr lang="ru-RU" dirty="0"/>
          </a:p>
          <a:p>
            <a:pPr marL="0" indent="0">
              <a:buNone/>
            </a:pPr>
            <a:endParaRPr lang="ru-RU" dirty="0"/>
          </a:p>
          <a:p>
            <a:pPr marL="0" indent="0">
              <a:buNone/>
            </a:pPr>
            <a:r>
              <a:rPr lang="ru-RU" b="1" dirty="0">
                <a:solidFill>
                  <a:srgbClr val="FF0000"/>
                </a:solidFill>
              </a:rPr>
              <a:t>докторант</a:t>
            </a:r>
            <a:r>
              <a:rPr lang="ru-RU" dirty="0">
                <a:solidFill>
                  <a:srgbClr val="FF0000"/>
                </a:solidFill>
              </a:rPr>
              <a:t> </a:t>
            </a:r>
            <a:r>
              <a:rPr lang="ru-RU" dirty="0"/>
              <a:t>- </a:t>
            </a:r>
            <a:r>
              <a:rPr lang="ru-RU" dirty="0" err="1"/>
              <a:t>вчений</a:t>
            </a:r>
            <a:r>
              <a:rPr lang="ru-RU" dirty="0"/>
              <a:t>, </a:t>
            </a:r>
            <a:r>
              <a:rPr lang="ru-RU" dirty="0" err="1"/>
              <a:t>який</a:t>
            </a:r>
            <a:r>
              <a:rPr lang="ru-RU" dirty="0"/>
              <a:t> проходить </a:t>
            </a:r>
            <a:r>
              <a:rPr lang="ru-RU" dirty="0" err="1"/>
              <a:t>підготовку</a:t>
            </a:r>
            <a:r>
              <a:rPr lang="ru-RU" dirty="0"/>
              <a:t> в </a:t>
            </a:r>
            <a:r>
              <a:rPr lang="ru-RU" dirty="0" err="1"/>
              <a:t>докторантурі</a:t>
            </a:r>
            <a:r>
              <a:rPr lang="ru-RU" dirty="0"/>
              <a:t> </a:t>
            </a:r>
            <a:r>
              <a:rPr lang="ru-RU" dirty="0" err="1"/>
              <a:t>наукової</a:t>
            </a:r>
            <a:r>
              <a:rPr lang="ru-RU" dirty="0"/>
              <a:t> установи (закладу </a:t>
            </a:r>
            <a:r>
              <a:rPr lang="ru-RU" dirty="0" err="1"/>
              <a:t>вищої</a:t>
            </a:r>
            <a:r>
              <a:rPr lang="ru-RU" dirty="0"/>
              <a:t> </a:t>
            </a:r>
            <a:r>
              <a:rPr lang="ru-RU" dirty="0" err="1"/>
              <a:t>освіти</a:t>
            </a:r>
            <a:r>
              <a:rPr lang="ru-RU" dirty="0"/>
              <a:t>) для </a:t>
            </a:r>
            <a:r>
              <a:rPr lang="ru-RU" dirty="0" err="1"/>
              <a:t>здобуття</a:t>
            </a:r>
            <a:r>
              <a:rPr lang="ru-RU" dirty="0"/>
              <a:t> </a:t>
            </a:r>
            <a:r>
              <a:rPr lang="ru-RU" dirty="0" err="1"/>
              <a:t>наукового</a:t>
            </a:r>
            <a:r>
              <a:rPr lang="ru-RU" dirty="0"/>
              <a:t> </a:t>
            </a:r>
            <a:r>
              <a:rPr lang="ru-RU" dirty="0" err="1"/>
              <a:t>ступеня</a:t>
            </a:r>
            <a:r>
              <a:rPr lang="ru-RU" dirty="0"/>
              <a:t> доктора наук</a:t>
            </a:r>
          </a:p>
          <a:p>
            <a:pPr marL="0" indent="0">
              <a:buNone/>
            </a:pPr>
            <a:endParaRPr lang="ru-RU" dirty="0"/>
          </a:p>
          <a:p>
            <a:pPr marL="0" indent="0" algn="r">
              <a:buNone/>
            </a:pPr>
            <a:r>
              <a:rPr lang="ru-RU" sz="2000" dirty="0"/>
              <a:t>«Про </a:t>
            </a:r>
            <a:r>
              <a:rPr lang="ru-RU" sz="2000" dirty="0" err="1"/>
              <a:t>наукову</a:t>
            </a:r>
            <a:r>
              <a:rPr lang="ru-RU" sz="2000" dirty="0"/>
              <a:t> і </a:t>
            </a:r>
            <a:r>
              <a:rPr lang="ru-RU" sz="2000" dirty="0" err="1"/>
              <a:t>науково-технічну</a:t>
            </a:r>
            <a:r>
              <a:rPr lang="ru-RU" sz="2000" dirty="0"/>
              <a:t> </a:t>
            </a:r>
            <a:r>
              <a:rPr lang="ru-RU" sz="2000" dirty="0" err="1"/>
              <a:t>діяльність</a:t>
            </a:r>
            <a:r>
              <a:rPr lang="ru-RU" sz="2000" dirty="0"/>
              <a:t>»</a:t>
            </a:r>
          </a:p>
          <a:p>
            <a:pPr marL="0" indent="0">
              <a:buNone/>
            </a:pPr>
            <a:endParaRPr lang="uk-UA" dirty="0"/>
          </a:p>
        </p:txBody>
      </p:sp>
    </p:spTree>
    <p:extLst>
      <p:ext uri="{BB962C8B-B14F-4D97-AF65-F5344CB8AC3E}">
        <p14:creationId xmlns:p14="http://schemas.microsoft.com/office/powerpoint/2010/main" val="4212824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Основні</a:t>
            </a:r>
            <a:r>
              <a:rPr lang="ru-RU" dirty="0"/>
              <a:t> </a:t>
            </a:r>
            <a:r>
              <a:rPr lang="ru-RU" dirty="0" err="1"/>
              <a:t>терміни</a:t>
            </a:r>
            <a:r>
              <a:rPr lang="ru-RU" dirty="0"/>
              <a:t> та </a:t>
            </a:r>
            <a:r>
              <a:rPr lang="ru-RU" dirty="0" err="1"/>
              <a:t>визначення</a:t>
            </a:r>
            <a:endParaRPr lang="uk-UA" dirty="0"/>
          </a:p>
        </p:txBody>
      </p:sp>
      <p:sp>
        <p:nvSpPr>
          <p:cNvPr id="3" name="Объект 2"/>
          <p:cNvSpPr>
            <a:spLocks noGrp="1"/>
          </p:cNvSpPr>
          <p:nvPr>
            <p:ph idx="1"/>
          </p:nvPr>
        </p:nvSpPr>
        <p:spPr/>
        <p:txBody>
          <a:bodyPr/>
          <a:lstStyle/>
          <a:p>
            <a:pPr marL="0" indent="0">
              <a:buNone/>
            </a:pPr>
            <a:r>
              <a:rPr lang="ru-RU" dirty="0" err="1">
                <a:solidFill>
                  <a:srgbClr val="FF0000"/>
                </a:solidFill>
              </a:rPr>
              <a:t>Молодий</a:t>
            </a:r>
            <a:r>
              <a:rPr lang="ru-RU" dirty="0">
                <a:solidFill>
                  <a:srgbClr val="FF0000"/>
                </a:solidFill>
              </a:rPr>
              <a:t> </a:t>
            </a:r>
            <a:r>
              <a:rPr lang="ru-RU" dirty="0" err="1">
                <a:solidFill>
                  <a:srgbClr val="FF0000"/>
                </a:solidFill>
              </a:rPr>
              <a:t>вчений</a:t>
            </a:r>
            <a:r>
              <a:rPr lang="ru-RU" dirty="0">
                <a:solidFill>
                  <a:srgbClr val="FF0000"/>
                </a:solidFill>
              </a:rPr>
              <a:t> </a:t>
            </a:r>
            <a:r>
              <a:rPr lang="ru-RU" dirty="0"/>
              <a:t>- </a:t>
            </a:r>
            <a:r>
              <a:rPr lang="ru-RU" dirty="0" err="1"/>
              <a:t>вчений</a:t>
            </a:r>
            <a:r>
              <a:rPr lang="ru-RU" dirty="0"/>
              <a:t> </a:t>
            </a:r>
            <a:r>
              <a:rPr lang="ru-RU" dirty="0" err="1"/>
              <a:t>віком</a:t>
            </a:r>
            <a:r>
              <a:rPr lang="ru-RU" dirty="0"/>
              <a:t> до 35 </a:t>
            </a:r>
            <a:r>
              <a:rPr lang="ru-RU" dirty="0" err="1"/>
              <a:t>років</a:t>
            </a:r>
            <a:r>
              <a:rPr lang="ru-RU" dirty="0"/>
              <a:t> </a:t>
            </a:r>
            <a:r>
              <a:rPr lang="ru-RU" dirty="0" err="1"/>
              <a:t>включно</a:t>
            </a:r>
            <a:r>
              <a:rPr lang="ru-RU" dirty="0"/>
              <a:t>, </a:t>
            </a:r>
            <a:r>
              <a:rPr lang="ru-RU" dirty="0" err="1"/>
              <a:t>який</a:t>
            </a:r>
            <a:r>
              <a:rPr lang="ru-RU" dirty="0"/>
              <a:t> </a:t>
            </a:r>
            <a:r>
              <a:rPr lang="ru-RU" dirty="0" err="1"/>
              <a:t>має</a:t>
            </a:r>
            <a:r>
              <a:rPr lang="ru-RU" dirty="0"/>
              <a:t> </a:t>
            </a:r>
            <a:r>
              <a:rPr lang="ru-RU" dirty="0" err="1"/>
              <a:t>вищу</a:t>
            </a:r>
            <a:r>
              <a:rPr lang="ru-RU" dirty="0"/>
              <a:t> </a:t>
            </a:r>
            <a:r>
              <a:rPr lang="ru-RU" dirty="0" err="1"/>
              <a:t>освіту</a:t>
            </a:r>
            <a:r>
              <a:rPr lang="ru-RU" dirty="0"/>
              <a:t> не </a:t>
            </a:r>
            <a:r>
              <a:rPr lang="ru-RU" dirty="0" err="1"/>
              <a:t>нижче</a:t>
            </a:r>
            <a:r>
              <a:rPr lang="ru-RU" dirty="0"/>
              <a:t> другого (</a:t>
            </a:r>
            <a:r>
              <a:rPr lang="ru-RU" dirty="0" err="1"/>
              <a:t>магістерського</a:t>
            </a:r>
            <a:r>
              <a:rPr lang="ru-RU" dirty="0"/>
              <a:t>) </a:t>
            </a:r>
            <a:r>
              <a:rPr lang="ru-RU" dirty="0" err="1"/>
              <a:t>рівня</a:t>
            </a:r>
            <a:r>
              <a:rPr lang="ru-RU" dirty="0"/>
              <a:t>, </a:t>
            </a:r>
            <a:r>
              <a:rPr lang="ru-RU" dirty="0" err="1"/>
              <a:t>або</a:t>
            </a:r>
            <a:r>
              <a:rPr lang="ru-RU" dirty="0"/>
              <a:t> </a:t>
            </a:r>
            <a:r>
              <a:rPr lang="ru-RU" dirty="0" err="1"/>
              <a:t>вчений</a:t>
            </a:r>
            <a:r>
              <a:rPr lang="ru-RU" dirty="0"/>
              <a:t> </a:t>
            </a:r>
            <a:r>
              <a:rPr lang="ru-RU" dirty="0" err="1"/>
              <a:t>віком</a:t>
            </a:r>
            <a:r>
              <a:rPr lang="ru-RU" dirty="0"/>
              <a:t> до 40 </a:t>
            </a:r>
            <a:r>
              <a:rPr lang="ru-RU" dirty="0" err="1"/>
              <a:t>років</a:t>
            </a:r>
            <a:r>
              <a:rPr lang="ru-RU" dirty="0"/>
              <a:t> </a:t>
            </a:r>
            <a:r>
              <a:rPr lang="ru-RU" dirty="0" err="1"/>
              <a:t>включно</a:t>
            </a:r>
            <a:r>
              <a:rPr lang="ru-RU" dirty="0"/>
              <a:t>, </a:t>
            </a:r>
            <a:r>
              <a:rPr lang="ru-RU" dirty="0" err="1"/>
              <a:t>який</a:t>
            </a:r>
            <a:r>
              <a:rPr lang="ru-RU" dirty="0"/>
              <a:t> </a:t>
            </a:r>
            <a:r>
              <a:rPr lang="ru-RU" dirty="0" err="1"/>
              <a:t>має</a:t>
            </a:r>
            <a:r>
              <a:rPr lang="ru-RU" dirty="0"/>
              <a:t> </a:t>
            </a:r>
            <a:r>
              <a:rPr lang="ru-RU" dirty="0" err="1"/>
              <a:t>науковий</a:t>
            </a:r>
            <a:r>
              <a:rPr lang="ru-RU" dirty="0"/>
              <a:t> </a:t>
            </a:r>
            <a:r>
              <a:rPr lang="ru-RU" dirty="0" err="1"/>
              <a:t>ступінь</a:t>
            </a:r>
            <a:r>
              <a:rPr lang="ru-RU" dirty="0"/>
              <a:t> доктора наук</a:t>
            </a:r>
          </a:p>
          <a:p>
            <a:pPr marL="0" indent="0">
              <a:buNone/>
            </a:pPr>
            <a:endParaRPr lang="ru-RU" dirty="0"/>
          </a:p>
          <a:p>
            <a:pPr marL="0" indent="0" algn="r">
              <a:buNone/>
            </a:pPr>
            <a:r>
              <a:rPr lang="ru-RU" sz="2000" dirty="0"/>
              <a:t>«Про </a:t>
            </a:r>
            <a:r>
              <a:rPr lang="ru-RU" sz="2000" dirty="0" err="1"/>
              <a:t>наукову</a:t>
            </a:r>
            <a:r>
              <a:rPr lang="ru-RU" sz="2000" dirty="0"/>
              <a:t> і </a:t>
            </a:r>
            <a:r>
              <a:rPr lang="ru-RU" sz="2000" dirty="0" err="1"/>
              <a:t>науково-технічну</a:t>
            </a:r>
            <a:r>
              <a:rPr lang="ru-RU" sz="2000" dirty="0"/>
              <a:t> </a:t>
            </a:r>
            <a:r>
              <a:rPr lang="ru-RU" sz="2000" dirty="0" err="1"/>
              <a:t>діяльність</a:t>
            </a:r>
            <a:r>
              <a:rPr lang="ru-RU" sz="2000" dirty="0"/>
              <a:t>»</a:t>
            </a:r>
          </a:p>
          <a:p>
            <a:pPr marL="0" indent="0">
              <a:buNone/>
            </a:pPr>
            <a:endParaRPr lang="uk-UA" dirty="0"/>
          </a:p>
        </p:txBody>
      </p:sp>
    </p:spTree>
    <p:extLst>
      <p:ext uri="{BB962C8B-B14F-4D97-AF65-F5344CB8AC3E}">
        <p14:creationId xmlns:p14="http://schemas.microsoft.com/office/powerpoint/2010/main" val="1526863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Основні</a:t>
            </a:r>
            <a:r>
              <a:rPr lang="ru-RU" dirty="0"/>
              <a:t> </a:t>
            </a:r>
            <a:r>
              <a:rPr lang="ru-RU" dirty="0" err="1"/>
              <a:t>терміни</a:t>
            </a:r>
            <a:r>
              <a:rPr lang="ru-RU" dirty="0"/>
              <a:t> та </a:t>
            </a:r>
            <a:r>
              <a:rPr lang="ru-RU" dirty="0" err="1"/>
              <a:t>визначення</a:t>
            </a:r>
            <a:endParaRPr lang="uk-UA" dirty="0"/>
          </a:p>
        </p:txBody>
      </p:sp>
      <p:sp>
        <p:nvSpPr>
          <p:cNvPr id="3" name="Объект 2"/>
          <p:cNvSpPr>
            <a:spLocks noGrp="1"/>
          </p:cNvSpPr>
          <p:nvPr>
            <p:ph idx="1"/>
          </p:nvPr>
        </p:nvSpPr>
        <p:spPr>
          <a:xfrm>
            <a:off x="395536" y="1124744"/>
            <a:ext cx="8291264" cy="5001419"/>
          </a:xfrm>
        </p:spPr>
        <p:txBody>
          <a:bodyPr>
            <a:noAutofit/>
          </a:bodyPr>
          <a:lstStyle/>
          <a:p>
            <a:r>
              <a:rPr lang="ru-RU" sz="200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наукова</a:t>
            </a:r>
            <a:r>
              <a:rPr lang="ru-RU" sz="20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ru-RU" sz="200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науково-технічна</a:t>
            </a:r>
            <a:r>
              <a:rPr lang="ru-RU" sz="20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робота </a:t>
            </a:r>
            <a:r>
              <a:rPr lang="ru-RU" sz="2000" dirty="0">
                <a:latin typeface="Arial" panose="020B0604020202020204" pitchFamily="34" charset="0"/>
                <a:cs typeface="Arial" panose="020B0604020202020204" pitchFamily="34" charset="0"/>
              </a:rPr>
              <a:t>- </a:t>
            </a:r>
            <a:r>
              <a:rPr lang="uk-UA" sz="2000" b="0" i="0" dirty="0">
                <a:solidFill>
                  <a:srgbClr val="333333"/>
                </a:solidFill>
                <a:effectLst/>
                <a:latin typeface="Arial" panose="020B0604020202020204" pitchFamily="34" charset="0"/>
                <a:cs typeface="Arial" panose="020B0604020202020204" pitchFamily="34" charset="0"/>
              </a:rPr>
              <a:t>наукова (науково-технічна) робота - наукові дослідження та науково-технічні (експериментальні) розробки, проведені з метою одержання наукового, науково-технічного (прикладного) результату. Основними видами наукової (науково-технічної) роботи є науково-дослідні, дослідно-конструкторські, проектно-конструкторські, дослідно-технологічні, технологічні, пошукові та проектно-пошукові роботи, виготовлення дослідних зразків або партій науково-технічної продукції, а також інші роботи, пов’язані з доведенням нових наукових і науково-технічних знань до стадії практичного використання, керівництво науковою роботою/наукове консультування аспірантів (ад’юнктів), докторантів; </a:t>
            </a:r>
          </a:p>
          <a:p>
            <a:r>
              <a:rPr lang="ru-RU" sz="200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наукова</a:t>
            </a:r>
            <a:r>
              <a:rPr lang="ru-RU" sz="20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ru-RU" sz="200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науково-технічна</a:t>
            </a:r>
            <a:r>
              <a:rPr lang="ru-RU" sz="20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ru-RU" sz="200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продукція</a:t>
            </a:r>
            <a:r>
              <a:rPr lang="ru-RU" sz="20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 </a:t>
            </a:r>
            <a:r>
              <a:rPr lang="ru-RU" sz="2000" dirty="0" err="1">
                <a:latin typeface="Arial" panose="020B0604020202020204" pitchFamily="34" charset="0"/>
                <a:cs typeface="Arial" panose="020B0604020202020204" pitchFamily="34" charset="0"/>
              </a:rPr>
              <a:t>науковий</a:t>
            </a:r>
            <a:r>
              <a:rPr lang="ru-RU" sz="2000" dirty="0">
                <a:latin typeface="Arial" panose="020B0604020202020204" pitchFamily="34" charset="0"/>
                <a:cs typeface="Arial" panose="020B0604020202020204" pitchFamily="34" charset="0"/>
              </a:rPr>
              <a:t> та (</a:t>
            </a:r>
            <a:r>
              <a:rPr lang="ru-RU" sz="2000" dirty="0" err="1">
                <a:latin typeface="Arial" panose="020B0604020202020204" pitchFamily="34" charset="0"/>
                <a:cs typeface="Arial" panose="020B0604020202020204" pitchFamily="34" charset="0"/>
              </a:rPr>
              <a:t>або</a:t>
            </a:r>
            <a:r>
              <a:rPr lang="ru-RU" sz="2000" dirty="0">
                <a:latin typeface="Arial" panose="020B0604020202020204" pitchFamily="34" charset="0"/>
                <a:cs typeface="Arial" panose="020B0604020202020204" pitchFamily="34" charset="0"/>
              </a:rPr>
              <a:t>) </a:t>
            </a:r>
            <a:r>
              <a:rPr lang="ru-RU" sz="2000" dirty="0" err="1">
                <a:latin typeface="Arial" panose="020B0604020202020204" pitchFamily="34" charset="0"/>
                <a:cs typeface="Arial" panose="020B0604020202020204" pitchFamily="34" charset="0"/>
              </a:rPr>
              <a:t>науково-технічний</a:t>
            </a:r>
            <a:r>
              <a:rPr lang="ru-RU" sz="2000" dirty="0">
                <a:latin typeface="Arial" panose="020B0604020202020204" pitchFamily="34" charset="0"/>
                <a:cs typeface="Arial" panose="020B0604020202020204" pitchFamily="34" charset="0"/>
              </a:rPr>
              <a:t> (</a:t>
            </a:r>
            <a:r>
              <a:rPr lang="ru-RU" sz="2000" dirty="0" err="1">
                <a:latin typeface="Arial" panose="020B0604020202020204" pitchFamily="34" charset="0"/>
                <a:cs typeface="Arial" panose="020B0604020202020204" pitchFamily="34" charset="0"/>
              </a:rPr>
              <a:t>прикладний</a:t>
            </a:r>
            <a:r>
              <a:rPr lang="ru-RU" sz="2000" dirty="0">
                <a:latin typeface="Arial" panose="020B0604020202020204" pitchFamily="34" charset="0"/>
                <a:cs typeface="Arial" panose="020B0604020202020204" pitchFamily="34" charset="0"/>
              </a:rPr>
              <a:t>) результат, </a:t>
            </a:r>
            <a:r>
              <a:rPr lang="ru-RU" sz="2000" dirty="0" err="1">
                <a:latin typeface="Arial" panose="020B0604020202020204" pitchFamily="34" charset="0"/>
                <a:cs typeface="Arial" panose="020B0604020202020204" pitchFamily="34" charset="0"/>
              </a:rPr>
              <a:t>призначений</a:t>
            </a:r>
            <a:r>
              <a:rPr lang="ru-RU" sz="2000" dirty="0">
                <a:latin typeface="Arial" panose="020B0604020202020204" pitchFamily="34" charset="0"/>
                <a:cs typeface="Arial" panose="020B0604020202020204" pitchFamily="34" charset="0"/>
              </a:rPr>
              <a:t> для </a:t>
            </a:r>
            <a:r>
              <a:rPr lang="ru-RU" sz="2000" dirty="0" err="1">
                <a:latin typeface="Arial" panose="020B0604020202020204" pitchFamily="34" charset="0"/>
                <a:cs typeface="Arial" panose="020B0604020202020204" pitchFamily="34" charset="0"/>
              </a:rPr>
              <a:t>реалізації</a:t>
            </a:r>
            <a:endParaRPr lang="ru-RU" sz="2000" dirty="0">
              <a:latin typeface="Arial" panose="020B0604020202020204" pitchFamily="34" charset="0"/>
              <a:cs typeface="Arial" panose="020B0604020202020204" pitchFamily="34" charset="0"/>
            </a:endParaRPr>
          </a:p>
          <a:p>
            <a:pPr marL="0" indent="0" algn="r">
              <a:buNone/>
            </a:pPr>
            <a:r>
              <a:rPr lang="ru-RU" sz="2000" dirty="0">
                <a:latin typeface="Arial" panose="020B0604020202020204" pitchFamily="34" charset="0"/>
                <a:cs typeface="Arial" panose="020B0604020202020204" pitchFamily="34" charset="0"/>
              </a:rPr>
              <a:t>«Про </a:t>
            </a:r>
            <a:r>
              <a:rPr lang="ru-RU" sz="2000" dirty="0" err="1">
                <a:latin typeface="Arial" panose="020B0604020202020204" pitchFamily="34" charset="0"/>
                <a:cs typeface="Arial" panose="020B0604020202020204" pitchFamily="34" charset="0"/>
              </a:rPr>
              <a:t>наукову</a:t>
            </a:r>
            <a:r>
              <a:rPr lang="ru-RU" sz="2000" dirty="0">
                <a:latin typeface="Arial" panose="020B0604020202020204" pitchFamily="34" charset="0"/>
                <a:cs typeface="Arial" panose="020B0604020202020204" pitchFamily="34" charset="0"/>
              </a:rPr>
              <a:t> і </a:t>
            </a:r>
            <a:r>
              <a:rPr lang="ru-RU" sz="2000" dirty="0" err="1">
                <a:latin typeface="Arial" panose="020B0604020202020204" pitchFamily="34" charset="0"/>
                <a:cs typeface="Arial" panose="020B0604020202020204" pitchFamily="34" charset="0"/>
              </a:rPr>
              <a:t>науково-технічну</a:t>
            </a:r>
            <a:r>
              <a:rPr lang="ru-RU" sz="2000" dirty="0">
                <a:latin typeface="Arial" panose="020B0604020202020204" pitchFamily="34" charset="0"/>
                <a:cs typeface="Arial" panose="020B0604020202020204" pitchFamily="34" charset="0"/>
              </a:rPr>
              <a:t> </a:t>
            </a:r>
            <a:r>
              <a:rPr lang="ru-RU" sz="2000" dirty="0" err="1">
                <a:latin typeface="Arial" panose="020B0604020202020204" pitchFamily="34" charset="0"/>
                <a:cs typeface="Arial" panose="020B0604020202020204" pitchFamily="34" charset="0"/>
              </a:rPr>
              <a:t>діяльність</a:t>
            </a:r>
            <a:r>
              <a:rPr lang="ru-RU" sz="2000" dirty="0">
                <a:latin typeface="Arial" panose="020B0604020202020204" pitchFamily="34" charset="0"/>
                <a:cs typeface="Arial" panose="020B0604020202020204" pitchFamily="34" charset="0"/>
              </a:rPr>
              <a:t>»</a:t>
            </a:r>
          </a:p>
          <a:p>
            <a:endParaRPr lang="ru-RU" sz="2000" dirty="0">
              <a:latin typeface="Arial" panose="020B0604020202020204" pitchFamily="34" charset="0"/>
              <a:cs typeface="Arial" panose="020B0604020202020204" pitchFamily="34" charset="0"/>
            </a:endParaRPr>
          </a:p>
          <a:p>
            <a:endParaRPr lang="uk-UA"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956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Основні</a:t>
            </a:r>
            <a:r>
              <a:rPr lang="ru-RU" dirty="0"/>
              <a:t> </a:t>
            </a:r>
            <a:r>
              <a:rPr lang="ru-RU" dirty="0" err="1"/>
              <a:t>терміни</a:t>
            </a:r>
            <a:r>
              <a:rPr lang="ru-RU" dirty="0"/>
              <a:t> та </a:t>
            </a:r>
            <a:r>
              <a:rPr lang="ru-RU" dirty="0" err="1"/>
              <a:t>визначення</a:t>
            </a:r>
            <a:endParaRPr lang="uk-UA" dirty="0"/>
          </a:p>
        </p:txBody>
      </p:sp>
      <p:sp>
        <p:nvSpPr>
          <p:cNvPr id="3" name="Объект 2"/>
          <p:cNvSpPr>
            <a:spLocks noGrp="1"/>
          </p:cNvSpPr>
          <p:nvPr>
            <p:ph idx="1"/>
          </p:nvPr>
        </p:nvSpPr>
        <p:spPr/>
        <p:txBody>
          <a:bodyPr>
            <a:normAutofit fontScale="70000" lnSpcReduction="20000"/>
          </a:bodyPr>
          <a:lstStyle/>
          <a:p>
            <a:r>
              <a:rPr lang="ru-RU" dirty="0" err="1">
                <a:solidFill>
                  <a:srgbClr val="FF0000"/>
                </a:solidFill>
                <a:effectLst>
                  <a:outerShdw blurRad="38100" dist="38100" dir="2700000" algn="tl">
                    <a:srgbClr val="000000">
                      <a:alpha val="43137"/>
                    </a:srgbClr>
                  </a:outerShdw>
                </a:effectLst>
              </a:rPr>
              <a:t>науковий</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науково-технічний</a:t>
            </a:r>
            <a:r>
              <a:rPr lang="ru-RU" dirty="0">
                <a:solidFill>
                  <a:srgbClr val="FF0000"/>
                </a:solidFill>
                <a:effectLst>
                  <a:outerShdw blurRad="38100" dist="38100" dir="2700000" algn="tl">
                    <a:srgbClr val="000000">
                      <a:alpha val="43137"/>
                    </a:srgbClr>
                  </a:outerShdw>
                </a:effectLst>
              </a:rPr>
              <a:t>) проект </a:t>
            </a:r>
            <a:r>
              <a:rPr lang="ru-RU" dirty="0"/>
              <a:t>- комплекс </a:t>
            </a:r>
            <a:r>
              <a:rPr lang="ru-RU" dirty="0" err="1"/>
              <a:t>заходів</a:t>
            </a:r>
            <a:r>
              <a:rPr lang="ru-RU" dirty="0"/>
              <a:t>, </a:t>
            </a:r>
            <a:r>
              <a:rPr lang="ru-RU" dirty="0" err="1"/>
              <a:t>пов’язаних</a:t>
            </a:r>
            <a:r>
              <a:rPr lang="ru-RU" dirty="0"/>
              <a:t> </a:t>
            </a:r>
            <a:r>
              <a:rPr lang="ru-RU" dirty="0" err="1"/>
              <a:t>із</a:t>
            </a:r>
            <a:r>
              <a:rPr lang="ru-RU" dirty="0"/>
              <a:t> </a:t>
            </a:r>
            <a:r>
              <a:rPr lang="ru-RU" dirty="0" err="1"/>
              <a:t>забезпеченням</a:t>
            </a:r>
            <a:r>
              <a:rPr lang="ru-RU" dirty="0"/>
              <a:t> </a:t>
            </a:r>
            <a:r>
              <a:rPr lang="ru-RU" dirty="0" err="1"/>
              <a:t>виконання</a:t>
            </a:r>
            <a:r>
              <a:rPr lang="ru-RU" dirty="0"/>
              <a:t> та </a:t>
            </a:r>
            <a:r>
              <a:rPr lang="ru-RU" dirty="0" err="1"/>
              <a:t>безпосереднім</a:t>
            </a:r>
            <a:r>
              <a:rPr lang="ru-RU" dirty="0"/>
              <a:t> </a:t>
            </a:r>
            <a:r>
              <a:rPr lang="ru-RU" dirty="0" err="1"/>
              <a:t>проведенням</a:t>
            </a:r>
            <a:r>
              <a:rPr lang="ru-RU" dirty="0"/>
              <a:t> </a:t>
            </a:r>
            <a:r>
              <a:rPr lang="ru-RU" dirty="0" err="1"/>
              <a:t>наукових</a:t>
            </a:r>
            <a:r>
              <a:rPr lang="ru-RU" dirty="0"/>
              <a:t> </a:t>
            </a:r>
            <a:r>
              <a:rPr lang="ru-RU" dirty="0" err="1"/>
              <a:t>досліджень</a:t>
            </a:r>
            <a:r>
              <a:rPr lang="ru-RU" dirty="0"/>
              <a:t> та (</a:t>
            </a:r>
            <a:r>
              <a:rPr lang="ru-RU" dirty="0" err="1"/>
              <a:t>або</a:t>
            </a:r>
            <a:r>
              <a:rPr lang="ru-RU" dirty="0"/>
              <a:t>) </a:t>
            </a:r>
            <a:r>
              <a:rPr lang="ru-RU" dirty="0" err="1"/>
              <a:t>науково-технічних</a:t>
            </a:r>
            <a:r>
              <a:rPr lang="ru-RU" dirty="0"/>
              <a:t> </a:t>
            </a:r>
            <a:r>
              <a:rPr lang="ru-RU" dirty="0" err="1"/>
              <a:t>розробок</a:t>
            </a:r>
            <a:r>
              <a:rPr lang="ru-RU" dirty="0"/>
              <a:t> з метою </a:t>
            </a:r>
            <a:r>
              <a:rPr lang="ru-RU" dirty="0" err="1"/>
              <a:t>досягнення</a:t>
            </a:r>
            <a:r>
              <a:rPr lang="ru-RU" dirty="0"/>
              <a:t> конкретного </a:t>
            </a:r>
            <a:r>
              <a:rPr lang="ru-RU" dirty="0" err="1"/>
              <a:t>наукового</a:t>
            </a:r>
            <a:r>
              <a:rPr lang="ru-RU" dirty="0"/>
              <a:t> </a:t>
            </a:r>
            <a:r>
              <a:rPr lang="ru-RU" dirty="0" err="1"/>
              <a:t>або</a:t>
            </a:r>
            <a:r>
              <a:rPr lang="ru-RU" dirty="0"/>
              <a:t> </a:t>
            </a:r>
            <a:r>
              <a:rPr lang="ru-RU" dirty="0" err="1"/>
              <a:t>науково-технічного</a:t>
            </a:r>
            <a:r>
              <a:rPr lang="ru-RU" dirty="0"/>
              <a:t> (прикладного) результату;</a:t>
            </a:r>
          </a:p>
          <a:p>
            <a:r>
              <a:rPr lang="ru-RU" dirty="0"/>
              <a:t> </a:t>
            </a:r>
            <a:r>
              <a:rPr lang="ru-RU" dirty="0" err="1">
                <a:solidFill>
                  <a:srgbClr val="FF0000"/>
                </a:solidFill>
                <a:effectLst>
                  <a:outerShdw blurRad="38100" dist="38100" dir="2700000" algn="tl">
                    <a:srgbClr val="000000">
                      <a:alpha val="43137"/>
                    </a:srgbClr>
                  </a:outerShdw>
                </a:effectLst>
              </a:rPr>
              <a:t>науковий</a:t>
            </a:r>
            <a:r>
              <a:rPr lang="ru-RU" dirty="0">
                <a:solidFill>
                  <a:srgbClr val="FF0000"/>
                </a:solidFill>
                <a:effectLst>
                  <a:outerShdw blurRad="38100" dist="38100" dir="2700000" algn="tl">
                    <a:srgbClr val="000000">
                      <a:alpha val="43137"/>
                    </a:srgbClr>
                  </a:outerShdw>
                </a:effectLst>
              </a:rPr>
              <a:t> результат </a:t>
            </a:r>
            <a:r>
              <a:rPr lang="ru-RU" dirty="0"/>
              <a:t>- </a:t>
            </a:r>
            <a:r>
              <a:rPr lang="ru-RU" dirty="0" err="1"/>
              <a:t>нове</a:t>
            </a:r>
            <a:r>
              <a:rPr lang="ru-RU" dirty="0"/>
              <a:t> </a:t>
            </a:r>
            <a:r>
              <a:rPr lang="ru-RU" dirty="0" err="1"/>
              <a:t>наукове</a:t>
            </a:r>
            <a:r>
              <a:rPr lang="ru-RU" dirty="0"/>
              <a:t> </a:t>
            </a:r>
            <a:r>
              <a:rPr lang="ru-RU" dirty="0" err="1"/>
              <a:t>знання</a:t>
            </a:r>
            <a:r>
              <a:rPr lang="ru-RU" dirty="0"/>
              <a:t>, </a:t>
            </a:r>
            <a:r>
              <a:rPr lang="ru-RU" dirty="0" err="1"/>
              <a:t>одержане</a:t>
            </a:r>
            <a:r>
              <a:rPr lang="ru-RU" dirty="0"/>
              <a:t> в </a:t>
            </a:r>
            <a:r>
              <a:rPr lang="ru-RU" dirty="0" err="1"/>
              <a:t>процесі</a:t>
            </a:r>
            <a:r>
              <a:rPr lang="ru-RU" dirty="0"/>
              <a:t> </a:t>
            </a:r>
            <a:r>
              <a:rPr lang="ru-RU" dirty="0" err="1"/>
              <a:t>фундаментальних</a:t>
            </a:r>
            <a:r>
              <a:rPr lang="ru-RU" dirty="0"/>
              <a:t> </a:t>
            </a:r>
            <a:r>
              <a:rPr lang="ru-RU" dirty="0" err="1"/>
              <a:t>або</a:t>
            </a:r>
            <a:r>
              <a:rPr lang="ru-RU" dirty="0"/>
              <a:t> </a:t>
            </a:r>
            <a:r>
              <a:rPr lang="ru-RU" dirty="0" err="1"/>
              <a:t>прикладних</a:t>
            </a:r>
            <a:r>
              <a:rPr lang="ru-RU" dirty="0"/>
              <a:t> </a:t>
            </a:r>
            <a:r>
              <a:rPr lang="ru-RU" dirty="0" err="1"/>
              <a:t>наукових</a:t>
            </a:r>
            <a:r>
              <a:rPr lang="ru-RU" dirty="0"/>
              <a:t> </a:t>
            </a:r>
            <a:r>
              <a:rPr lang="ru-RU" dirty="0" err="1"/>
              <a:t>досліджень</a:t>
            </a:r>
            <a:r>
              <a:rPr lang="ru-RU" dirty="0"/>
              <a:t> та </a:t>
            </a:r>
            <a:r>
              <a:rPr lang="ru-RU" dirty="0" err="1"/>
              <a:t>зафіксоване</a:t>
            </a:r>
            <a:r>
              <a:rPr lang="ru-RU" dirty="0"/>
              <a:t> на </a:t>
            </a:r>
            <a:r>
              <a:rPr lang="ru-RU" dirty="0" err="1"/>
              <a:t>носіях</a:t>
            </a:r>
            <a:r>
              <a:rPr lang="ru-RU" dirty="0"/>
              <a:t> </a:t>
            </a:r>
            <a:r>
              <a:rPr lang="ru-RU" dirty="0" err="1"/>
              <a:t>інформації</a:t>
            </a:r>
            <a:r>
              <a:rPr lang="ru-RU" dirty="0"/>
              <a:t>. </a:t>
            </a:r>
            <a:r>
              <a:rPr lang="ru-RU" dirty="0" err="1"/>
              <a:t>Науковий</a:t>
            </a:r>
            <a:r>
              <a:rPr lang="ru-RU" dirty="0"/>
              <a:t> результат </a:t>
            </a:r>
            <a:r>
              <a:rPr lang="ru-RU" dirty="0" err="1"/>
              <a:t>може</a:t>
            </a:r>
            <a:r>
              <a:rPr lang="ru-RU" dirty="0"/>
              <a:t> бути у </a:t>
            </a:r>
            <a:r>
              <a:rPr lang="ru-RU" dirty="0" err="1"/>
              <a:t>формі</a:t>
            </a:r>
            <a:r>
              <a:rPr lang="ru-RU" dirty="0"/>
              <a:t> </a:t>
            </a:r>
            <a:r>
              <a:rPr lang="ru-RU" dirty="0" err="1"/>
              <a:t>звіту</a:t>
            </a:r>
            <a:r>
              <a:rPr lang="ru-RU" dirty="0"/>
              <a:t>, </a:t>
            </a:r>
            <a:r>
              <a:rPr lang="ru-RU" dirty="0" err="1"/>
              <a:t>опублікованої</a:t>
            </a:r>
            <a:r>
              <a:rPr lang="ru-RU" dirty="0"/>
              <a:t> </a:t>
            </a:r>
            <a:r>
              <a:rPr lang="ru-RU" dirty="0" err="1"/>
              <a:t>наукової</a:t>
            </a:r>
            <a:r>
              <a:rPr lang="ru-RU" dirty="0"/>
              <a:t> </a:t>
            </a:r>
            <a:r>
              <a:rPr lang="ru-RU" dirty="0" err="1"/>
              <a:t>статті</a:t>
            </a:r>
            <a:r>
              <a:rPr lang="ru-RU" dirty="0"/>
              <a:t>, </a:t>
            </a:r>
            <a:r>
              <a:rPr lang="ru-RU" dirty="0" err="1"/>
              <a:t>наукової</a:t>
            </a:r>
            <a:r>
              <a:rPr lang="ru-RU" dirty="0"/>
              <a:t> </a:t>
            </a:r>
            <a:r>
              <a:rPr lang="ru-RU" dirty="0" err="1"/>
              <a:t>доповіді</a:t>
            </a:r>
            <a:r>
              <a:rPr lang="ru-RU" dirty="0"/>
              <a:t>, </a:t>
            </a:r>
            <a:r>
              <a:rPr lang="ru-RU" dirty="0" err="1"/>
              <a:t>наукового</a:t>
            </a:r>
            <a:r>
              <a:rPr lang="ru-RU" dirty="0"/>
              <a:t> </a:t>
            </a:r>
            <a:r>
              <a:rPr lang="ru-RU" dirty="0" err="1"/>
              <a:t>повідомлення</a:t>
            </a:r>
            <a:r>
              <a:rPr lang="ru-RU" dirty="0"/>
              <a:t> про </a:t>
            </a:r>
            <a:r>
              <a:rPr lang="ru-RU" dirty="0" err="1"/>
              <a:t>науково-дослідну</a:t>
            </a:r>
            <a:r>
              <a:rPr lang="ru-RU" dirty="0"/>
              <a:t> роботу, </a:t>
            </a:r>
            <a:r>
              <a:rPr lang="ru-RU" dirty="0" err="1"/>
              <a:t>монографічного</a:t>
            </a:r>
            <a:r>
              <a:rPr lang="ru-RU" dirty="0"/>
              <a:t> </a:t>
            </a:r>
            <a:r>
              <a:rPr lang="ru-RU" dirty="0" err="1"/>
              <a:t>дослідження</a:t>
            </a:r>
            <a:r>
              <a:rPr lang="ru-RU" dirty="0"/>
              <a:t>, </a:t>
            </a:r>
            <a:r>
              <a:rPr lang="ru-RU" dirty="0" err="1"/>
              <a:t>наукового</a:t>
            </a:r>
            <a:r>
              <a:rPr lang="ru-RU" dirty="0"/>
              <a:t> </a:t>
            </a:r>
            <a:r>
              <a:rPr lang="ru-RU" dirty="0" err="1"/>
              <a:t>відкриття</a:t>
            </a:r>
            <a:r>
              <a:rPr lang="ru-RU" dirty="0"/>
              <a:t>, проекту нормативно-правового акта, нормативного документа </a:t>
            </a:r>
            <a:r>
              <a:rPr lang="ru-RU" dirty="0" err="1"/>
              <a:t>або</a:t>
            </a:r>
            <a:r>
              <a:rPr lang="ru-RU" dirty="0"/>
              <a:t> </a:t>
            </a:r>
            <a:r>
              <a:rPr lang="ru-RU" dirty="0" err="1"/>
              <a:t>науково-методичних</a:t>
            </a:r>
            <a:r>
              <a:rPr lang="ru-RU" dirty="0"/>
              <a:t> </a:t>
            </a:r>
            <a:r>
              <a:rPr lang="ru-RU" dirty="0" err="1"/>
              <a:t>документів</a:t>
            </a:r>
            <a:r>
              <a:rPr lang="ru-RU" dirty="0"/>
              <a:t>, </a:t>
            </a:r>
            <a:r>
              <a:rPr lang="ru-RU" dirty="0" err="1"/>
              <a:t>підготовка</a:t>
            </a:r>
            <a:r>
              <a:rPr lang="ru-RU" dirty="0"/>
              <a:t> </a:t>
            </a:r>
            <a:r>
              <a:rPr lang="ru-RU" dirty="0" err="1"/>
              <a:t>яких</a:t>
            </a:r>
            <a:r>
              <a:rPr lang="ru-RU" dirty="0"/>
              <a:t> </a:t>
            </a:r>
            <a:r>
              <a:rPr lang="ru-RU" dirty="0" err="1"/>
              <a:t>потребує</a:t>
            </a:r>
            <a:r>
              <a:rPr lang="ru-RU" dirty="0"/>
              <a:t> </a:t>
            </a:r>
            <a:r>
              <a:rPr lang="ru-RU" dirty="0" err="1"/>
              <a:t>проведення</a:t>
            </a:r>
            <a:r>
              <a:rPr lang="ru-RU" dirty="0"/>
              <a:t> </a:t>
            </a:r>
            <a:r>
              <a:rPr lang="ru-RU" dirty="0" err="1"/>
              <a:t>відповідних</a:t>
            </a:r>
            <a:r>
              <a:rPr lang="ru-RU" dirty="0"/>
              <a:t> </a:t>
            </a:r>
            <a:r>
              <a:rPr lang="ru-RU" dirty="0" err="1"/>
              <a:t>наукових</a:t>
            </a:r>
            <a:r>
              <a:rPr lang="ru-RU" dirty="0"/>
              <a:t> </a:t>
            </a:r>
            <a:r>
              <a:rPr lang="ru-RU" dirty="0" err="1"/>
              <a:t>досліджень</a:t>
            </a:r>
            <a:r>
              <a:rPr lang="ru-RU" dirty="0"/>
              <a:t> </a:t>
            </a:r>
            <a:r>
              <a:rPr lang="ru-RU" dirty="0" err="1"/>
              <a:t>або</a:t>
            </a:r>
            <a:r>
              <a:rPr lang="ru-RU" dirty="0"/>
              <a:t> </a:t>
            </a:r>
            <a:r>
              <a:rPr lang="ru-RU" dirty="0" err="1"/>
              <a:t>містить</a:t>
            </a:r>
            <a:r>
              <a:rPr lang="ru-RU" dirty="0"/>
              <a:t> </a:t>
            </a:r>
            <a:r>
              <a:rPr lang="ru-RU" dirty="0" err="1"/>
              <a:t>наукову</a:t>
            </a:r>
            <a:r>
              <a:rPr lang="ru-RU" dirty="0"/>
              <a:t> </a:t>
            </a:r>
            <a:r>
              <a:rPr lang="ru-RU" dirty="0" err="1"/>
              <a:t>складову</a:t>
            </a:r>
            <a:r>
              <a:rPr lang="ru-RU" dirty="0"/>
              <a:t>, </a:t>
            </a:r>
            <a:r>
              <a:rPr lang="ru-RU" dirty="0" err="1"/>
              <a:t>тощо</a:t>
            </a:r>
            <a:endParaRPr lang="ru-RU" dirty="0"/>
          </a:p>
          <a:p>
            <a:pPr marL="0" indent="0" algn="r">
              <a:buNone/>
            </a:pPr>
            <a:r>
              <a:rPr lang="ru-RU" i="1" dirty="0"/>
              <a:t>«Про </a:t>
            </a:r>
            <a:r>
              <a:rPr lang="ru-RU" i="1" dirty="0" err="1"/>
              <a:t>наукову</a:t>
            </a:r>
            <a:r>
              <a:rPr lang="ru-RU" i="1" dirty="0"/>
              <a:t> і </a:t>
            </a:r>
            <a:r>
              <a:rPr lang="ru-RU" i="1" dirty="0" err="1"/>
              <a:t>науково-технічну</a:t>
            </a:r>
            <a:r>
              <a:rPr lang="ru-RU" i="1" dirty="0"/>
              <a:t> </a:t>
            </a:r>
            <a:r>
              <a:rPr lang="ru-RU" i="1" dirty="0" err="1"/>
              <a:t>діяльність</a:t>
            </a:r>
            <a:r>
              <a:rPr lang="ru-RU" i="1" dirty="0"/>
              <a:t>»</a:t>
            </a:r>
          </a:p>
          <a:p>
            <a:endParaRPr lang="ru-RU" dirty="0"/>
          </a:p>
          <a:p>
            <a:endParaRPr lang="uk-UA" dirty="0"/>
          </a:p>
        </p:txBody>
      </p:sp>
    </p:spTree>
    <p:extLst>
      <p:ext uri="{BB962C8B-B14F-4D97-AF65-F5344CB8AC3E}">
        <p14:creationId xmlns:p14="http://schemas.microsoft.com/office/powerpoint/2010/main" val="3404805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Основні</a:t>
            </a:r>
            <a:r>
              <a:rPr lang="ru-RU" dirty="0"/>
              <a:t> </a:t>
            </a:r>
            <a:r>
              <a:rPr lang="ru-RU" dirty="0" err="1"/>
              <a:t>терміни</a:t>
            </a:r>
            <a:r>
              <a:rPr lang="ru-RU" dirty="0"/>
              <a:t> та </a:t>
            </a:r>
            <a:r>
              <a:rPr lang="ru-RU" dirty="0" err="1"/>
              <a:t>визначення</a:t>
            </a:r>
            <a:endParaRPr lang="uk-UA" dirty="0"/>
          </a:p>
        </p:txBody>
      </p:sp>
      <p:sp>
        <p:nvSpPr>
          <p:cNvPr id="3" name="Объект 2"/>
          <p:cNvSpPr>
            <a:spLocks noGrp="1"/>
          </p:cNvSpPr>
          <p:nvPr>
            <p:ph idx="1"/>
          </p:nvPr>
        </p:nvSpPr>
        <p:spPr/>
        <p:txBody>
          <a:bodyPr>
            <a:normAutofit fontScale="70000" lnSpcReduction="20000"/>
          </a:bodyPr>
          <a:lstStyle/>
          <a:p>
            <a:r>
              <a:rPr lang="ru-RU" dirty="0" err="1">
                <a:solidFill>
                  <a:srgbClr val="FF0000"/>
                </a:solidFill>
                <a:effectLst>
                  <a:outerShdw blurRad="38100" dist="38100" dir="2700000" algn="tl">
                    <a:srgbClr val="000000">
                      <a:alpha val="43137"/>
                    </a:srgbClr>
                  </a:outerShdw>
                </a:effectLst>
              </a:rPr>
              <a:t>науково-технічний</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прикладний</a:t>
            </a:r>
            <a:r>
              <a:rPr lang="ru-RU" dirty="0">
                <a:solidFill>
                  <a:srgbClr val="FF0000"/>
                </a:solidFill>
                <a:effectLst>
                  <a:outerShdw blurRad="38100" dist="38100" dir="2700000" algn="tl">
                    <a:srgbClr val="000000">
                      <a:alpha val="43137"/>
                    </a:srgbClr>
                  </a:outerShdw>
                </a:effectLst>
              </a:rPr>
              <a:t>) результат </a:t>
            </a:r>
            <a:r>
              <a:rPr lang="ru-RU" dirty="0"/>
              <a:t>- </a:t>
            </a:r>
            <a:r>
              <a:rPr lang="ru-RU" dirty="0" err="1"/>
              <a:t>одержані</a:t>
            </a:r>
            <a:r>
              <a:rPr lang="ru-RU" dirty="0"/>
              <a:t> </a:t>
            </a:r>
            <a:r>
              <a:rPr lang="ru-RU" dirty="0" err="1"/>
              <a:t>під</a:t>
            </a:r>
            <a:r>
              <a:rPr lang="ru-RU" dirty="0"/>
              <a:t> час </a:t>
            </a:r>
            <a:r>
              <a:rPr lang="ru-RU" dirty="0" err="1"/>
              <a:t>проведення</a:t>
            </a:r>
            <a:r>
              <a:rPr lang="ru-RU" dirty="0"/>
              <a:t> </a:t>
            </a:r>
            <a:r>
              <a:rPr lang="ru-RU" dirty="0" err="1"/>
              <a:t>прикладних</a:t>
            </a:r>
            <a:r>
              <a:rPr lang="ru-RU" dirty="0"/>
              <a:t> </a:t>
            </a:r>
            <a:r>
              <a:rPr lang="ru-RU" dirty="0" err="1"/>
              <a:t>наукових</a:t>
            </a:r>
            <a:r>
              <a:rPr lang="ru-RU" dirty="0"/>
              <a:t> </a:t>
            </a:r>
            <a:r>
              <a:rPr lang="ru-RU" dirty="0" err="1"/>
              <a:t>досліджень</a:t>
            </a:r>
            <a:r>
              <a:rPr lang="ru-RU" dirty="0"/>
              <a:t>, </a:t>
            </a:r>
            <a:r>
              <a:rPr lang="ru-RU" dirty="0" err="1"/>
              <a:t>науково-технічних</a:t>
            </a:r>
            <a:r>
              <a:rPr lang="ru-RU" dirty="0"/>
              <a:t> (</a:t>
            </a:r>
            <a:r>
              <a:rPr lang="ru-RU" dirty="0" err="1"/>
              <a:t>експериментальних</a:t>
            </a:r>
            <a:r>
              <a:rPr lang="ru-RU" dirty="0"/>
              <a:t>) </a:t>
            </a:r>
            <a:r>
              <a:rPr lang="ru-RU" dirty="0" err="1"/>
              <a:t>розробок</a:t>
            </a:r>
            <a:r>
              <a:rPr lang="ru-RU" dirty="0"/>
              <a:t> </a:t>
            </a:r>
            <a:r>
              <a:rPr lang="ru-RU" dirty="0" err="1"/>
              <a:t>нові</a:t>
            </a:r>
            <a:r>
              <a:rPr lang="ru-RU" dirty="0"/>
              <a:t> </a:t>
            </a:r>
            <a:r>
              <a:rPr lang="ru-RU" dirty="0" err="1"/>
              <a:t>або</a:t>
            </a:r>
            <a:r>
              <a:rPr lang="ru-RU" dirty="0"/>
              <a:t> </a:t>
            </a:r>
            <a:r>
              <a:rPr lang="ru-RU" dirty="0" err="1"/>
              <a:t>істотно</a:t>
            </a:r>
            <a:r>
              <a:rPr lang="ru-RU" dirty="0"/>
              <a:t> </a:t>
            </a:r>
            <a:r>
              <a:rPr lang="ru-RU" dirty="0" err="1"/>
              <a:t>вдосконалені</a:t>
            </a:r>
            <a:r>
              <a:rPr lang="ru-RU" dirty="0"/>
              <a:t> </a:t>
            </a:r>
            <a:r>
              <a:rPr lang="ru-RU" dirty="0" err="1"/>
              <a:t>матеріали</a:t>
            </a:r>
            <a:r>
              <a:rPr lang="ru-RU" dirty="0"/>
              <a:t>, </a:t>
            </a:r>
            <a:r>
              <a:rPr lang="ru-RU" dirty="0" err="1"/>
              <a:t>продукти</a:t>
            </a:r>
            <a:r>
              <a:rPr lang="ru-RU" dirty="0"/>
              <a:t>, </a:t>
            </a:r>
            <a:r>
              <a:rPr lang="ru-RU" dirty="0" err="1"/>
              <a:t>процеси</a:t>
            </a:r>
            <a:r>
              <a:rPr lang="ru-RU" dirty="0"/>
              <a:t>, </a:t>
            </a:r>
            <a:r>
              <a:rPr lang="ru-RU" dirty="0" err="1"/>
              <a:t>пристрої</a:t>
            </a:r>
            <a:r>
              <a:rPr lang="ru-RU" dirty="0"/>
              <a:t>, </a:t>
            </a:r>
            <a:r>
              <a:rPr lang="ru-RU" dirty="0" err="1"/>
              <a:t>технології</a:t>
            </a:r>
            <a:r>
              <a:rPr lang="ru-RU" dirty="0"/>
              <a:t>, </a:t>
            </a:r>
            <a:r>
              <a:rPr lang="ru-RU" dirty="0" err="1"/>
              <a:t>системи</a:t>
            </a:r>
            <a:r>
              <a:rPr lang="ru-RU" dirty="0"/>
              <a:t>, </a:t>
            </a:r>
            <a:r>
              <a:rPr lang="ru-RU" dirty="0" err="1"/>
              <a:t>нові</a:t>
            </a:r>
            <a:r>
              <a:rPr lang="ru-RU" dirty="0"/>
              <a:t> </a:t>
            </a:r>
            <a:r>
              <a:rPr lang="ru-RU" dirty="0" err="1"/>
              <a:t>або</a:t>
            </a:r>
            <a:r>
              <a:rPr lang="ru-RU" dirty="0"/>
              <a:t> </a:t>
            </a:r>
            <a:r>
              <a:rPr lang="ru-RU" dirty="0" err="1"/>
              <a:t>істотно</a:t>
            </a:r>
            <a:r>
              <a:rPr lang="ru-RU" dirty="0"/>
              <a:t> </a:t>
            </a:r>
            <a:r>
              <a:rPr lang="ru-RU" dirty="0" err="1"/>
              <a:t>вдосконалені</a:t>
            </a:r>
            <a:r>
              <a:rPr lang="ru-RU" dirty="0"/>
              <a:t> </a:t>
            </a:r>
            <a:r>
              <a:rPr lang="ru-RU" dirty="0" err="1"/>
              <a:t>послуги</a:t>
            </a:r>
            <a:r>
              <a:rPr lang="ru-RU" dirty="0"/>
              <a:t>, </a:t>
            </a:r>
            <a:r>
              <a:rPr lang="ru-RU" dirty="0" err="1"/>
              <a:t>введені</a:t>
            </a:r>
            <a:r>
              <a:rPr lang="ru-RU" dirty="0"/>
              <a:t> в </a:t>
            </a:r>
            <a:r>
              <a:rPr lang="ru-RU" dirty="0" err="1"/>
              <a:t>дію</a:t>
            </a:r>
            <a:r>
              <a:rPr lang="ru-RU" dirty="0"/>
              <a:t> </a:t>
            </a:r>
            <a:r>
              <a:rPr lang="ru-RU" dirty="0" err="1"/>
              <a:t>нові</a:t>
            </a:r>
            <a:r>
              <a:rPr lang="ru-RU" dirty="0"/>
              <a:t> </a:t>
            </a:r>
            <a:r>
              <a:rPr lang="ru-RU" dirty="0" err="1"/>
              <a:t>конструктивні</a:t>
            </a:r>
            <a:r>
              <a:rPr lang="ru-RU" dirty="0"/>
              <a:t> </a:t>
            </a:r>
            <a:r>
              <a:rPr lang="ru-RU" dirty="0" err="1"/>
              <a:t>чи</a:t>
            </a:r>
            <a:r>
              <a:rPr lang="ru-RU" dirty="0"/>
              <a:t> </a:t>
            </a:r>
            <a:r>
              <a:rPr lang="ru-RU" dirty="0" err="1"/>
              <a:t>технологічні</a:t>
            </a:r>
            <a:r>
              <a:rPr lang="ru-RU" dirty="0"/>
              <a:t> </a:t>
            </a:r>
            <a:r>
              <a:rPr lang="ru-RU" dirty="0" err="1"/>
              <a:t>рішення</a:t>
            </a:r>
            <a:r>
              <a:rPr lang="ru-RU" dirty="0"/>
              <a:t>, </a:t>
            </a:r>
            <a:r>
              <a:rPr lang="ru-RU" dirty="0" err="1"/>
              <a:t>завершені</a:t>
            </a:r>
            <a:r>
              <a:rPr lang="ru-RU" dirty="0"/>
              <a:t> </a:t>
            </a:r>
            <a:r>
              <a:rPr lang="ru-RU" dirty="0" err="1"/>
              <a:t>випробування</a:t>
            </a:r>
            <a:r>
              <a:rPr lang="ru-RU" dirty="0"/>
              <a:t>, </a:t>
            </a:r>
            <a:r>
              <a:rPr lang="ru-RU" dirty="0" err="1"/>
              <a:t>розробки</a:t>
            </a:r>
            <a:r>
              <a:rPr lang="ru-RU" dirty="0"/>
              <a:t>, </a:t>
            </a:r>
            <a:r>
              <a:rPr lang="ru-RU" dirty="0" err="1"/>
              <a:t>що</a:t>
            </a:r>
            <a:r>
              <a:rPr lang="ru-RU" dirty="0"/>
              <a:t> </a:t>
            </a:r>
            <a:r>
              <a:rPr lang="ru-RU" dirty="0" err="1"/>
              <a:t>впроваджені</a:t>
            </a:r>
            <a:r>
              <a:rPr lang="ru-RU" dirty="0"/>
              <a:t> </a:t>
            </a:r>
            <a:r>
              <a:rPr lang="ru-RU" dirty="0" err="1"/>
              <a:t>або</a:t>
            </a:r>
            <a:r>
              <a:rPr lang="ru-RU" dirty="0"/>
              <a:t> </a:t>
            </a:r>
            <a:r>
              <a:rPr lang="ru-RU" dirty="0" err="1"/>
              <a:t>можуть</a:t>
            </a:r>
            <a:r>
              <a:rPr lang="ru-RU" dirty="0"/>
              <a:t> бути </a:t>
            </a:r>
            <a:r>
              <a:rPr lang="ru-RU" dirty="0" err="1"/>
              <a:t>впроваджені</a:t>
            </a:r>
            <a:r>
              <a:rPr lang="ru-RU" dirty="0"/>
              <a:t> в </a:t>
            </a:r>
            <a:r>
              <a:rPr lang="ru-RU" dirty="0" err="1"/>
              <a:t>суспільну</a:t>
            </a:r>
            <a:r>
              <a:rPr lang="ru-RU" dirty="0"/>
              <a:t> практику</a:t>
            </a:r>
          </a:p>
          <a:p>
            <a:r>
              <a:rPr lang="ru-RU" dirty="0" err="1">
                <a:solidFill>
                  <a:srgbClr val="FF0000"/>
                </a:solidFill>
                <a:effectLst>
                  <a:outerShdw blurRad="38100" dist="38100" dir="2700000" algn="tl">
                    <a:srgbClr val="000000">
                      <a:alpha val="43137"/>
                    </a:srgbClr>
                  </a:outerShdw>
                </a:effectLst>
              </a:rPr>
              <a:t>Науково-технічний</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прикладний</a:t>
            </a:r>
            <a:r>
              <a:rPr lang="ru-RU" dirty="0">
                <a:solidFill>
                  <a:srgbClr val="FF0000"/>
                </a:solidFill>
                <a:effectLst>
                  <a:outerShdw blurRad="38100" dist="38100" dir="2700000" algn="tl">
                    <a:srgbClr val="000000">
                      <a:alpha val="43137"/>
                    </a:srgbClr>
                  </a:outerShdw>
                </a:effectLst>
              </a:rPr>
              <a:t>) результат </a:t>
            </a:r>
            <a:r>
              <a:rPr lang="ru-RU" dirty="0" err="1">
                <a:solidFill>
                  <a:srgbClr val="FF0000"/>
                </a:solidFill>
                <a:effectLst>
                  <a:outerShdw blurRad="38100" dist="38100" dir="2700000" algn="tl">
                    <a:srgbClr val="000000">
                      <a:alpha val="43137"/>
                    </a:srgbClr>
                  </a:outerShdw>
                </a:effectLst>
              </a:rPr>
              <a:t>може</a:t>
            </a:r>
            <a:r>
              <a:rPr lang="ru-RU" dirty="0">
                <a:solidFill>
                  <a:srgbClr val="FF0000"/>
                </a:solidFill>
                <a:effectLst>
                  <a:outerShdw blurRad="38100" dist="38100" dir="2700000" algn="tl">
                    <a:srgbClr val="000000">
                      <a:alpha val="43137"/>
                    </a:srgbClr>
                  </a:outerShdw>
                </a:effectLst>
              </a:rPr>
              <a:t> бути у </a:t>
            </a:r>
            <a:r>
              <a:rPr lang="ru-RU" dirty="0" err="1">
                <a:solidFill>
                  <a:srgbClr val="FF0000"/>
                </a:solidFill>
                <a:effectLst>
                  <a:outerShdw blurRad="38100" dist="38100" dir="2700000" algn="tl">
                    <a:srgbClr val="000000">
                      <a:alpha val="43137"/>
                    </a:srgbClr>
                  </a:outerShdw>
                </a:effectLst>
              </a:rPr>
              <a:t>формі</a:t>
            </a:r>
            <a:r>
              <a:rPr lang="ru-RU" dirty="0">
                <a:solidFill>
                  <a:srgbClr val="FF0000"/>
                </a:solidFill>
                <a:effectLst>
                  <a:outerShdw blurRad="38100" dist="38100" dir="2700000" algn="tl">
                    <a:srgbClr val="000000">
                      <a:alpha val="43137"/>
                    </a:srgbClr>
                  </a:outerShdw>
                </a:effectLst>
              </a:rPr>
              <a:t> </a:t>
            </a:r>
            <a:r>
              <a:rPr lang="ru-RU" dirty="0" err="1"/>
              <a:t>ескізного</a:t>
            </a:r>
            <a:r>
              <a:rPr lang="ru-RU" dirty="0"/>
              <a:t> проекту, </a:t>
            </a:r>
            <a:r>
              <a:rPr lang="ru-RU" dirty="0" err="1"/>
              <a:t>експериментального</a:t>
            </a:r>
            <a:r>
              <a:rPr lang="ru-RU" dirty="0"/>
              <a:t> (</a:t>
            </a:r>
            <a:r>
              <a:rPr lang="ru-RU" dirty="0" err="1"/>
              <a:t>дослідного</a:t>
            </a:r>
            <a:r>
              <a:rPr lang="ru-RU" dirty="0"/>
              <a:t>) </a:t>
            </a:r>
            <a:r>
              <a:rPr lang="ru-RU" dirty="0" err="1"/>
              <a:t>зразка</a:t>
            </a:r>
            <a:r>
              <a:rPr lang="ru-RU" dirty="0"/>
              <a:t> </a:t>
            </a:r>
            <a:r>
              <a:rPr lang="ru-RU" dirty="0" err="1"/>
              <a:t>або</a:t>
            </a:r>
            <a:r>
              <a:rPr lang="ru-RU" dirty="0"/>
              <a:t> </a:t>
            </a:r>
            <a:r>
              <a:rPr lang="ru-RU" dirty="0" err="1"/>
              <a:t>його</a:t>
            </a:r>
            <a:r>
              <a:rPr lang="ru-RU" dirty="0"/>
              <a:t> </a:t>
            </a:r>
            <a:r>
              <a:rPr lang="ru-RU" dirty="0" err="1"/>
              <a:t>діючої</a:t>
            </a:r>
            <a:r>
              <a:rPr lang="ru-RU" dirty="0"/>
              <a:t> </a:t>
            </a:r>
            <a:r>
              <a:rPr lang="ru-RU" dirty="0" err="1"/>
              <a:t>моделі</a:t>
            </a:r>
            <a:r>
              <a:rPr lang="ru-RU" dirty="0"/>
              <a:t>, </a:t>
            </a:r>
            <a:r>
              <a:rPr lang="ru-RU" dirty="0" err="1"/>
              <a:t>конструкторської</a:t>
            </a:r>
            <a:r>
              <a:rPr lang="ru-RU" dirty="0"/>
              <a:t> </a:t>
            </a:r>
            <a:r>
              <a:rPr lang="ru-RU" dirty="0" err="1"/>
              <a:t>або</a:t>
            </a:r>
            <a:r>
              <a:rPr lang="ru-RU" dirty="0"/>
              <a:t> </a:t>
            </a:r>
            <a:r>
              <a:rPr lang="ru-RU" dirty="0" err="1"/>
              <a:t>технологічної</a:t>
            </a:r>
            <a:r>
              <a:rPr lang="ru-RU" dirty="0"/>
              <a:t> </a:t>
            </a:r>
            <a:r>
              <a:rPr lang="ru-RU" dirty="0" err="1"/>
              <a:t>документації</a:t>
            </a:r>
            <a:r>
              <a:rPr lang="ru-RU" dirty="0"/>
              <a:t> на </a:t>
            </a:r>
            <a:r>
              <a:rPr lang="ru-RU" dirty="0" err="1"/>
              <a:t>науково-технічну</a:t>
            </a:r>
            <a:r>
              <a:rPr lang="ru-RU" dirty="0"/>
              <a:t> </a:t>
            </a:r>
            <a:r>
              <a:rPr lang="ru-RU" dirty="0" err="1"/>
              <a:t>продукцію</a:t>
            </a:r>
            <a:r>
              <a:rPr lang="ru-RU" dirty="0"/>
              <a:t>, </a:t>
            </a:r>
            <a:r>
              <a:rPr lang="ru-RU" dirty="0" err="1"/>
              <a:t>дослідного</a:t>
            </a:r>
            <a:r>
              <a:rPr lang="ru-RU" dirty="0"/>
              <a:t> </a:t>
            </a:r>
            <a:r>
              <a:rPr lang="ru-RU" dirty="0" err="1"/>
              <a:t>зразка</a:t>
            </a:r>
            <a:r>
              <a:rPr lang="ru-RU" dirty="0"/>
              <a:t>, проекту нормативно-правового акта, нормативного документа </a:t>
            </a:r>
            <a:r>
              <a:rPr lang="ru-RU" dirty="0" err="1"/>
              <a:t>або</a:t>
            </a:r>
            <a:r>
              <a:rPr lang="ru-RU" dirty="0"/>
              <a:t> </a:t>
            </a:r>
            <a:r>
              <a:rPr lang="ru-RU" dirty="0" err="1"/>
              <a:t>науково-методичних</a:t>
            </a:r>
            <a:r>
              <a:rPr lang="ru-RU" dirty="0"/>
              <a:t> </a:t>
            </a:r>
            <a:r>
              <a:rPr lang="ru-RU" dirty="0" err="1"/>
              <a:t>документів</a:t>
            </a:r>
            <a:r>
              <a:rPr lang="ru-RU" dirty="0"/>
              <a:t> </a:t>
            </a:r>
            <a:r>
              <a:rPr lang="ru-RU" dirty="0" err="1"/>
              <a:t>тощо</a:t>
            </a:r>
            <a:endParaRPr lang="ru-RU" dirty="0"/>
          </a:p>
          <a:p>
            <a:pPr marL="0" indent="0" algn="r">
              <a:buNone/>
            </a:pPr>
            <a:r>
              <a:rPr lang="ru-RU" i="1" dirty="0"/>
              <a:t>«Про </a:t>
            </a:r>
            <a:r>
              <a:rPr lang="ru-RU" i="1" dirty="0" err="1"/>
              <a:t>наукову</a:t>
            </a:r>
            <a:r>
              <a:rPr lang="ru-RU" i="1" dirty="0"/>
              <a:t> і </a:t>
            </a:r>
            <a:r>
              <a:rPr lang="ru-RU" i="1" dirty="0" err="1"/>
              <a:t>науково-технічну</a:t>
            </a:r>
            <a:r>
              <a:rPr lang="ru-RU" i="1" dirty="0"/>
              <a:t> </a:t>
            </a:r>
            <a:r>
              <a:rPr lang="ru-RU" i="1" dirty="0" err="1"/>
              <a:t>діяльність</a:t>
            </a:r>
            <a:r>
              <a:rPr lang="ru-RU" i="1" dirty="0"/>
              <a:t>»</a:t>
            </a:r>
          </a:p>
          <a:p>
            <a:endParaRPr lang="uk-UA" dirty="0"/>
          </a:p>
        </p:txBody>
      </p:sp>
    </p:spTree>
    <p:extLst>
      <p:ext uri="{BB962C8B-B14F-4D97-AF65-F5344CB8AC3E}">
        <p14:creationId xmlns:p14="http://schemas.microsoft.com/office/powerpoint/2010/main" val="2194278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Основні</a:t>
            </a:r>
            <a:r>
              <a:rPr lang="ru-RU" dirty="0"/>
              <a:t> </a:t>
            </a:r>
            <a:r>
              <a:rPr lang="ru-RU" dirty="0" err="1"/>
              <a:t>терміни</a:t>
            </a:r>
            <a:r>
              <a:rPr lang="ru-RU" dirty="0"/>
              <a:t> та </a:t>
            </a:r>
            <a:r>
              <a:rPr lang="ru-RU" dirty="0" err="1"/>
              <a:t>визначення</a:t>
            </a:r>
            <a:endParaRPr lang="uk-UA" dirty="0"/>
          </a:p>
        </p:txBody>
      </p:sp>
      <p:sp>
        <p:nvSpPr>
          <p:cNvPr id="3" name="Объект 2"/>
          <p:cNvSpPr>
            <a:spLocks noGrp="1"/>
          </p:cNvSpPr>
          <p:nvPr>
            <p:ph idx="1"/>
          </p:nvPr>
        </p:nvSpPr>
        <p:spPr/>
        <p:txBody>
          <a:bodyPr>
            <a:normAutofit fontScale="85000" lnSpcReduction="10000"/>
          </a:bodyPr>
          <a:lstStyle/>
          <a:p>
            <a:r>
              <a:rPr lang="ru-RU" dirty="0" err="1">
                <a:solidFill>
                  <a:srgbClr val="FF0000"/>
                </a:solidFill>
                <a:effectLst>
                  <a:outerShdw blurRad="38100" dist="38100" dir="2700000" algn="tl">
                    <a:srgbClr val="000000">
                      <a:alpha val="43137"/>
                    </a:srgbClr>
                  </a:outerShdw>
                </a:effectLst>
              </a:rPr>
              <a:t>науково-технічні</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експериментальні</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розробки</a:t>
            </a:r>
            <a:r>
              <a:rPr lang="ru-RU" dirty="0">
                <a:solidFill>
                  <a:srgbClr val="FF0000"/>
                </a:solidFill>
                <a:effectLst>
                  <a:outerShdw blurRad="38100" dist="38100" dir="2700000" algn="tl">
                    <a:srgbClr val="000000">
                      <a:alpha val="43137"/>
                    </a:srgbClr>
                  </a:outerShdw>
                </a:effectLst>
              </a:rPr>
              <a:t> </a:t>
            </a:r>
            <a:r>
              <a:rPr lang="ru-RU" dirty="0"/>
              <a:t>- </a:t>
            </a:r>
            <a:r>
              <a:rPr lang="ru-RU" dirty="0" err="1"/>
              <a:t>науково-технічна</a:t>
            </a:r>
            <a:r>
              <a:rPr lang="ru-RU" dirty="0"/>
              <a:t> </a:t>
            </a:r>
            <a:r>
              <a:rPr lang="ru-RU" dirty="0" err="1"/>
              <a:t>діяльність</a:t>
            </a:r>
            <a:r>
              <a:rPr lang="ru-RU" dirty="0"/>
              <a:t>, </a:t>
            </a:r>
            <a:r>
              <a:rPr lang="ru-RU" dirty="0" err="1"/>
              <a:t>що</a:t>
            </a:r>
            <a:r>
              <a:rPr lang="ru-RU" dirty="0"/>
              <a:t> </a:t>
            </a:r>
            <a:r>
              <a:rPr lang="ru-RU" dirty="0" err="1"/>
              <a:t>базується</a:t>
            </a:r>
            <a:r>
              <a:rPr lang="ru-RU" dirty="0"/>
              <a:t> на </a:t>
            </a:r>
            <a:r>
              <a:rPr lang="ru-RU" dirty="0" err="1"/>
              <a:t>наукових</a:t>
            </a:r>
            <a:r>
              <a:rPr lang="ru-RU" dirty="0"/>
              <a:t> </a:t>
            </a:r>
            <a:r>
              <a:rPr lang="ru-RU" dirty="0" err="1"/>
              <a:t>знаннях</a:t>
            </a:r>
            <a:r>
              <a:rPr lang="ru-RU" dirty="0"/>
              <a:t>, </a:t>
            </a:r>
            <a:r>
              <a:rPr lang="ru-RU" dirty="0" err="1"/>
              <a:t>отриманих</a:t>
            </a:r>
            <a:r>
              <a:rPr lang="ru-RU" dirty="0"/>
              <a:t> у </a:t>
            </a:r>
            <a:r>
              <a:rPr lang="ru-RU" dirty="0" err="1"/>
              <a:t>результаті</a:t>
            </a:r>
            <a:r>
              <a:rPr lang="ru-RU" dirty="0"/>
              <a:t> </a:t>
            </a:r>
            <a:r>
              <a:rPr lang="ru-RU" dirty="0" err="1"/>
              <a:t>наукових</a:t>
            </a:r>
            <a:r>
              <a:rPr lang="ru-RU" dirty="0"/>
              <a:t> </a:t>
            </a:r>
            <a:r>
              <a:rPr lang="ru-RU" dirty="0" err="1"/>
              <a:t>досліджень</a:t>
            </a:r>
            <a:r>
              <a:rPr lang="ru-RU" dirty="0"/>
              <a:t> </a:t>
            </a:r>
            <a:r>
              <a:rPr lang="ru-RU" dirty="0" err="1"/>
              <a:t>чи</a:t>
            </a:r>
            <a:r>
              <a:rPr lang="ru-RU" dirty="0"/>
              <a:t> практичного </a:t>
            </a:r>
            <a:r>
              <a:rPr lang="ru-RU" dirty="0" err="1"/>
              <a:t>досвіду</a:t>
            </a:r>
            <a:r>
              <a:rPr lang="ru-RU" dirty="0"/>
              <a:t>, та </a:t>
            </a:r>
            <a:r>
              <a:rPr lang="ru-RU" dirty="0" err="1"/>
              <a:t>провадиться</a:t>
            </a:r>
            <a:r>
              <a:rPr lang="ru-RU" dirty="0"/>
              <a:t> з метою </a:t>
            </a:r>
            <a:r>
              <a:rPr lang="ru-RU" dirty="0" err="1"/>
              <a:t>доведення</a:t>
            </a:r>
            <a:r>
              <a:rPr lang="ru-RU" dirty="0"/>
              <a:t> таких </a:t>
            </a:r>
            <a:r>
              <a:rPr lang="ru-RU" dirty="0" err="1"/>
              <a:t>знань</a:t>
            </a:r>
            <a:r>
              <a:rPr lang="ru-RU" dirty="0"/>
              <a:t> до </a:t>
            </a:r>
            <a:r>
              <a:rPr lang="ru-RU" dirty="0" err="1"/>
              <a:t>стадії</a:t>
            </a:r>
            <a:r>
              <a:rPr lang="ru-RU" dirty="0"/>
              <a:t> практичного </a:t>
            </a:r>
            <a:r>
              <a:rPr lang="ru-RU" dirty="0" err="1"/>
              <a:t>використання</a:t>
            </a:r>
            <a:r>
              <a:rPr lang="ru-RU" dirty="0"/>
              <a:t>. </a:t>
            </a:r>
            <a:r>
              <a:rPr lang="ru-RU" dirty="0">
                <a:solidFill>
                  <a:srgbClr val="FF0000"/>
                </a:solidFill>
                <a:effectLst>
                  <a:outerShdw blurRad="38100" dist="38100" dir="2700000" algn="tl">
                    <a:srgbClr val="000000">
                      <a:alpha val="43137"/>
                    </a:srgbClr>
                  </a:outerShdw>
                </a:effectLst>
              </a:rPr>
              <a:t>Результатом </a:t>
            </a:r>
            <a:r>
              <a:rPr lang="ru-RU" dirty="0" err="1">
                <a:solidFill>
                  <a:srgbClr val="FF0000"/>
                </a:solidFill>
                <a:effectLst>
                  <a:outerShdw blurRad="38100" dist="38100" dir="2700000" algn="tl">
                    <a:srgbClr val="000000">
                      <a:alpha val="43137"/>
                    </a:srgbClr>
                  </a:outerShdw>
                </a:effectLst>
              </a:rPr>
              <a:t>науково-технічних</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експериментальних</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розробок</a:t>
            </a:r>
            <a:r>
              <a:rPr lang="ru-RU" dirty="0"/>
              <a:t> є </a:t>
            </a:r>
            <a:r>
              <a:rPr lang="ru-RU" dirty="0" err="1"/>
              <a:t>нові</a:t>
            </a:r>
            <a:r>
              <a:rPr lang="ru-RU" dirty="0"/>
              <a:t> </a:t>
            </a:r>
            <a:r>
              <a:rPr lang="ru-RU" dirty="0" err="1"/>
              <a:t>або</a:t>
            </a:r>
            <a:r>
              <a:rPr lang="ru-RU" dirty="0"/>
              <a:t> </a:t>
            </a:r>
            <a:r>
              <a:rPr lang="ru-RU" dirty="0" err="1"/>
              <a:t>істотно</a:t>
            </a:r>
            <a:r>
              <a:rPr lang="ru-RU" dirty="0"/>
              <a:t> </a:t>
            </a:r>
            <a:r>
              <a:rPr lang="ru-RU" dirty="0" err="1"/>
              <a:t>вдосконалені</a:t>
            </a:r>
            <a:r>
              <a:rPr lang="ru-RU" dirty="0"/>
              <a:t> </a:t>
            </a:r>
            <a:r>
              <a:rPr lang="ru-RU" dirty="0" err="1"/>
              <a:t>матеріали</a:t>
            </a:r>
            <a:r>
              <a:rPr lang="ru-RU" dirty="0"/>
              <a:t>, </a:t>
            </a:r>
            <a:r>
              <a:rPr lang="ru-RU" dirty="0" err="1"/>
              <a:t>продукти</a:t>
            </a:r>
            <a:r>
              <a:rPr lang="ru-RU" dirty="0"/>
              <a:t>, </a:t>
            </a:r>
            <a:r>
              <a:rPr lang="ru-RU" dirty="0" err="1"/>
              <a:t>процеси</a:t>
            </a:r>
            <a:r>
              <a:rPr lang="ru-RU" dirty="0"/>
              <a:t>, </a:t>
            </a:r>
            <a:r>
              <a:rPr lang="ru-RU" dirty="0" err="1"/>
              <a:t>пристрої</a:t>
            </a:r>
            <a:r>
              <a:rPr lang="ru-RU" dirty="0"/>
              <a:t>, </a:t>
            </a:r>
            <a:r>
              <a:rPr lang="ru-RU" dirty="0" err="1"/>
              <a:t>технології</a:t>
            </a:r>
            <a:r>
              <a:rPr lang="ru-RU" dirty="0"/>
              <a:t>, </a:t>
            </a:r>
            <a:r>
              <a:rPr lang="ru-RU" dirty="0" err="1"/>
              <a:t>системи</a:t>
            </a:r>
            <a:r>
              <a:rPr lang="ru-RU" dirty="0"/>
              <a:t>, </a:t>
            </a:r>
            <a:r>
              <a:rPr lang="ru-RU" dirty="0" err="1"/>
              <a:t>об’єкти</a:t>
            </a:r>
            <a:r>
              <a:rPr lang="ru-RU" dirty="0"/>
              <a:t> права </a:t>
            </a:r>
            <a:r>
              <a:rPr lang="ru-RU" dirty="0" err="1"/>
              <a:t>інтелектуальної</a:t>
            </a:r>
            <a:r>
              <a:rPr lang="ru-RU" dirty="0"/>
              <a:t> </a:t>
            </a:r>
            <a:r>
              <a:rPr lang="ru-RU" dirty="0" err="1"/>
              <a:t>власності</a:t>
            </a:r>
            <a:r>
              <a:rPr lang="ru-RU" dirty="0"/>
              <a:t>, </a:t>
            </a:r>
            <a:r>
              <a:rPr lang="ru-RU" dirty="0" err="1"/>
              <a:t>нові</a:t>
            </a:r>
            <a:r>
              <a:rPr lang="ru-RU" dirty="0"/>
              <a:t> </a:t>
            </a:r>
            <a:r>
              <a:rPr lang="ru-RU" dirty="0" err="1"/>
              <a:t>або</a:t>
            </a:r>
            <a:r>
              <a:rPr lang="ru-RU" dirty="0"/>
              <a:t> </a:t>
            </a:r>
            <a:r>
              <a:rPr lang="ru-RU" dirty="0" err="1"/>
              <a:t>істотно</a:t>
            </a:r>
            <a:r>
              <a:rPr lang="ru-RU" dirty="0"/>
              <a:t> </a:t>
            </a:r>
            <a:r>
              <a:rPr lang="ru-RU" dirty="0" err="1"/>
              <a:t>вдосконалені</a:t>
            </a:r>
            <a:r>
              <a:rPr lang="ru-RU" dirty="0"/>
              <a:t> </a:t>
            </a:r>
            <a:r>
              <a:rPr lang="ru-RU" dirty="0" err="1"/>
              <a:t>послуги</a:t>
            </a:r>
            <a:endParaRPr lang="ru-RU" dirty="0"/>
          </a:p>
          <a:p>
            <a:pPr marL="0" indent="0" algn="r">
              <a:buNone/>
            </a:pPr>
            <a:r>
              <a:rPr lang="ru-RU" sz="2400" i="1" dirty="0"/>
              <a:t>«Про </a:t>
            </a:r>
            <a:r>
              <a:rPr lang="ru-RU" sz="2400" i="1" dirty="0" err="1"/>
              <a:t>наукову</a:t>
            </a:r>
            <a:r>
              <a:rPr lang="ru-RU" sz="2400" i="1" dirty="0"/>
              <a:t> і </a:t>
            </a:r>
            <a:r>
              <a:rPr lang="ru-RU" sz="2400" i="1" dirty="0" err="1"/>
              <a:t>науково-технічну</a:t>
            </a:r>
            <a:r>
              <a:rPr lang="ru-RU" sz="2400" i="1" dirty="0"/>
              <a:t> </a:t>
            </a:r>
            <a:r>
              <a:rPr lang="ru-RU" sz="2400" i="1" dirty="0" err="1"/>
              <a:t>діяльність</a:t>
            </a:r>
            <a:r>
              <a:rPr lang="ru-RU" sz="2400" i="1" dirty="0"/>
              <a:t>»</a:t>
            </a:r>
          </a:p>
          <a:p>
            <a:endParaRPr lang="ru-RU" dirty="0"/>
          </a:p>
          <a:p>
            <a:endParaRPr lang="uk-UA" dirty="0"/>
          </a:p>
        </p:txBody>
      </p:sp>
    </p:spTree>
    <p:extLst>
      <p:ext uri="{BB962C8B-B14F-4D97-AF65-F5344CB8AC3E}">
        <p14:creationId xmlns:p14="http://schemas.microsoft.com/office/powerpoint/2010/main" val="2423960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err="1"/>
              <a:t>Фінансове</a:t>
            </a:r>
            <a:r>
              <a:rPr lang="ru-RU" dirty="0"/>
              <a:t> </a:t>
            </a:r>
            <a:r>
              <a:rPr lang="ru-RU" dirty="0" err="1"/>
              <a:t>забезпечення</a:t>
            </a:r>
            <a:r>
              <a:rPr lang="ru-RU" dirty="0"/>
              <a:t> </a:t>
            </a:r>
            <a:r>
              <a:rPr lang="ru-RU" dirty="0" err="1"/>
              <a:t>наукової</a:t>
            </a:r>
            <a:r>
              <a:rPr lang="ru-RU" dirty="0"/>
              <a:t> і </a:t>
            </a:r>
            <a:r>
              <a:rPr lang="ru-RU" dirty="0" err="1"/>
              <a:t>науково-технічної</a:t>
            </a:r>
            <a:r>
              <a:rPr lang="ru-RU" dirty="0"/>
              <a:t> </a:t>
            </a:r>
            <a:r>
              <a:rPr lang="ru-RU" dirty="0" err="1"/>
              <a:t>діяльності</a:t>
            </a:r>
            <a:endParaRPr lang="uk-UA" dirty="0"/>
          </a:p>
        </p:txBody>
      </p:sp>
      <p:sp>
        <p:nvSpPr>
          <p:cNvPr id="3" name="Объект 2"/>
          <p:cNvSpPr>
            <a:spLocks noGrp="1"/>
          </p:cNvSpPr>
          <p:nvPr>
            <p:ph idx="1"/>
          </p:nvPr>
        </p:nvSpPr>
        <p:spPr/>
        <p:txBody>
          <a:bodyPr>
            <a:normAutofit fontScale="70000" lnSpcReduction="20000"/>
          </a:bodyPr>
          <a:lstStyle/>
          <a:p>
            <a:pPr marL="0" indent="0">
              <a:buNone/>
            </a:pPr>
            <a:r>
              <a:rPr lang="ru-RU" dirty="0" err="1"/>
              <a:t>Фінансове</a:t>
            </a:r>
            <a:r>
              <a:rPr lang="ru-RU" dirty="0"/>
              <a:t> </a:t>
            </a:r>
            <a:r>
              <a:rPr lang="ru-RU" dirty="0" err="1"/>
              <a:t>забезпечення</a:t>
            </a:r>
            <a:r>
              <a:rPr lang="ru-RU" dirty="0"/>
              <a:t> </a:t>
            </a:r>
            <a:r>
              <a:rPr lang="ru-RU" dirty="0" err="1"/>
              <a:t>наукової</a:t>
            </a:r>
            <a:r>
              <a:rPr lang="ru-RU" dirty="0"/>
              <a:t> і </a:t>
            </a:r>
            <a:r>
              <a:rPr lang="ru-RU" dirty="0" err="1"/>
              <a:t>науково-технічної</a:t>
            </a:r>
            <a:r>
              <a:rPr lang="ru-RU" dirty="0"/>
              <a:t> </a:t>
            </a:r>
            <a:r>
              <a:rPr lang="ru-RU" dirty="0" err="1"/>
              <a:t>діяльності</a:t>
            </a:r>
            <a:r>
              <a:rPr lang="ru-RU" dirty="0"/>
              <a:t> </a:t>
            </a:r>
          </a:p>
          <a:p>
            <a:pPr marL="0" indent="0">
              <a:buNone/>
            </a:pPr>
            <a:r>
              <a:rPr lang="ru-RU" dirty="0"/>
              <a:t>в </a:t>
            </a:r>
            <a:r>
              <a:rPr lang="ru-RU" dirty="0" err="1"/>
              <a:t>Україні</a:t>
            </a:r>
            <a:r>
              <a:rPr lang="ru-RU" dirty="0"/>
              <a:t> </a:t>
            </a:r>
            <a:r>
              <a:rPr lang="ru-RU" dirty="0" err="1"/>
              <a:t>здійснюється</a:t>
            </a:r>
            <a:r>
              <a:rPr lang="ru-RU" dirty="0"/>
              <a:t> за </a:t>
            </a:r>
            <a:r>
              <a:rPr lang="ru-RU" dirty="0" err="1"/>
              <a:t>рахунок</a:t>
            </a:r>
            <a:endParaRPr lang="ru-RU" dirty="0"/>
          </a:p>
          <a:p>
            <a:pPr marL="0" indent="0" algn="ctr">
              <a:buNone/>
            </a:pPr>
            <a:r>
              <a:rPr lang="ru-RU" dirty="0"/>
              <a:t> </a:t>
            </a:r>
            <a:r>
              <a:rPr lang="ru-RU" dirty="0" err="1">
                <a:solidFill>
                  <a:srgbClr val="FF0000"/>
                </a:solidFill>
                <a:effectLst>
                  <a:outerShdw blurRad="38100" dist="38100" dir="2700000" algn="tl">
                    <a:srgbClr val="000000">
                      <a:alpha val="43137"/>
                    </a:srgbClr>
                  </a:outerShdw>
                </a:effectLst>
              </a:rPr>
              <a:t>коштів</a:t>
            </a:r>
            <a:r>
              <a:rPr lang="ru-RU" dirty="0">
                <a:solidFill>
                  <a:srgbClr val="FF0000"/>
                </a:solidFill>
                <a:effectLst>
                  <a:outerShdw blurRad="38100" dist="38100" dir="2700000" algn="tl">
                    <a:srgbClr val="000000">
                      <a:alpha val="43137"/>
                    </a:srgbClr>
                  </a:outerShdw>
                </a:effectLst>
              </a:rPr>
              <a:t> державного та </a:t>
            </a:r>
            <a:r>
              <a:rPr lang="ru-RU" dirty="0" err="1">
                <a:solidFill>
                  <a:srgbClr val="FF0000"/>
                </a:solidFill>
                <a:effectLst>
                  <a:outerShdw blurRad="38100" dist="38100" dir="2700000" algn="tl">
                    <a:srgbClr val="000000">
                      <a:alpha val="43137"/>
                    </a:srgbClr>
                  </a:outerShdw>
                </a:effectLst>
              </a:rPr>
              <a:t>місцевих</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бюджетів</a:t>
            </a:r>
            <a:endParaRPr lang="ru-RU" dirty="0">
              <a:solidFill>
                <a:srgbClr val="FF0000"/>
              </a:solidFill>
              <a:effectLst>
                <a:outerShdw blurRad="38100" dist="38100" dir="2700000" algn="tl">
                  <a:srgbClr val="000000">
                    <a:alpha val="43137"/>
                  </a:srgbClr>
                </a:outerShdw>
              </a:effectLst>
            </a:endParaRPr>
          </a:p>
          <a:p>
            <a:pPr marL="0" indent="0" algn="ctr">
              <a:buNone/>
            </a:pPr>
            <a:r>
              <a:rPr lang="ru-RU" dirty="0"/>
              <a:t> </a:t>
            </a:r>
            <a:r>
              <a:rPr lang="ru-RU" dirty="0" err="1">
                <a:solidFill>
                  <a:srgbClr val="FF0000"/>
                </a:solidFill>
                <a:effectLst>
                  <a:outerShdw blurRad="38100" dist="38100" dir="2700000" algn="tl">
                    <a:srgbClr val="000000">
                      <a:alpha val="43137"/>
                    </a:srgbClr>
                  </a:outerShdw>
                </a:effectLst>
              </a:rPr>
              <a:t>коштів</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установ</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організацій</a:t>
            </a:r>
            <a:r>
              <a:rPr lang="ru-RU" dirty="0">
                <a:solidFill>
                  <a:srgbClr val="FF0000"/>
                </a:solidFill>
                <a:effectLst>
                  <a:outerShdw blurRad="38100" dist="38100" dir="2700000" algn="tl">
                    <a:srgbClr val="000000">
                      <a:alpha val="43137"/>
                    </a:srgbClr>
                  </a:outerShdw>
                </a:effectLst>
              </a:rPr>
              <a:t> та </a:t>
            </a:r>
            <a:r>
              <a:rPr lang="ru-RU" dirty="0" err="1">
                <a:solidFill>
                  <a:srgbClr val="FF0000"/>
                </a:solidFill>
                <a:effectLst>
                  <a:outerShdw blurRad="38100" dist="38100" dir="2700000" algn="tl">
                    <a:srgbClr val="000000">
                      <a:alpha val="43137"/>
                    </a:srgbClr>
                  </a:outerShdw>
                </a:effectLst>
              </a:rPr>
              <a:t>підприємств</a:t>
            </a:r>
            <a:endParaRPr lang="ru-RU" dirty="0">
              <a:solidFill>
                <a:srgbClr val="FF0000"/>
              </a:solidFill>
              <a:effectLst>
                <a:outerShdw blurRad="38100" dist="38100" dir="2700000" algn="tl">
                  <a:srgbClr val="000000">
                    <a:alpha val="43137"/>
                  </a:srgbClr>
                </a:outerShdw>
              </a:effectLst>
            </a:endParaRPr>
          </a:p>
          <a:p>
            <a:pPr marL="0" indent="0" algn="ctr">
              <a:buNone/>
            </a:pP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вітчизняних</a:t>
            </a:r>
            <a:r>
              <a:rPr lang="ru-RU" dirty="0">
                <a:solidFill>
                  <a:srgbClr val="FF0000"/>
                </a:solidFill>
                <a:effectLst>
                  <a:outerShdw blurRad="38100" dist="38100" dir="2700000" algn="tl">
                    <a:srgbClr val="000000">
                      <a:alpha val="43137"/>
                    </a:srgbClr>
                  </a:outerShdw>
                </a:effectLst>
              </a:rPr>
              <a:t> та </a:t>
            </a:r>
            <a:r>
              <a:rPr lang="ru-RU" dirty="0" err="1">
                <a:solidFill>
                  <a:srgbClr val="FF0000"/>
                </a:solidFill>
                <a:effectLst>
                  <a:outerShdw blurRad="38100" dist="38100" dir="2700000" algn="tl">
                    <a:srgbClr val="000000">
                      <a:alpha val="43137"/>
                    </a:srgbClr>
                  </a:outerShdw>
                </a:effectLst>
              </a:rPr>
              <a:t>іноземних</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замовників</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робіт</a:t>
            </a:r>
            <a:r>
              <a:rPr lang="ru-RU" dirty="0">
                <a:solidFill>
                  <a:srgbClr val="FF0000"/>
                </a:solidFill>
                <a:effectLst>
                  <a:outerShdw blurRad="38100" dist="38100" dir="2700000" algn="tl">
                    <a:srgbClr val="000000">
                      <a:alpha val="43137"/>
                    </a:srgbClr>
                  </a:outerShdw>
                </a:effectLst>
              </a:rPr>
              <a:t>,</a:t>
            </a:r>
          </a:p>
          <a:p>
            <a:pPr marL="0" indent="0" algn="ctr">
              <a:buNone/>
            </a:pPr>
            <a:r>
              <a:rPr lang="ru-RU" dirty="0" err="1">
                <a:solidFill>
                  <a:srgbClr val="FF0000"/>
                </a:solidFill>
                <a:effectLst>
                  <a:outerShdw blurRad="38100" dist="38100" dir="2700000" algn="tl">
                    <a:srgbClr val="000000">
                      <a:alpha val="43137"/>
                    </a:srgbClr>
                  </a:outerShdw>
                </a:effectLst>
              </a:rPr>
              <a:t>Грантів</a:t>
            </a:r>
            <a:endParaRPr lang="ru-RU" dirty="0">
              <a:solidFill>
                <a:srgbClr val="FF0000"/>
              </a:solidFill>
              <a:effectLst>
                <a:outerShdw blurRad="38100" dist="38100" dir="2700000" algn="tl">
                  <a:srgbClr val="000000">
                    <a:alpha val="43137"/>
                  </a:srgbClr>
                </a:outerShdw>
              </a:effectLst>
            </a:endParaRPr>
          </a:p>
          <a:p>
            <a:pPr marL="0" indent="0" algn="ctr">
              <a:buNone/>
            </a:pP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інших</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джерел</a:t>
            </a:r>
            <a:r>
              <a:rPr lang="ru-RU" dirty="0">
                <a:solidFill>
                  <a:srgbClr val="FF0000"/>
                </a:solidFill>
                <a:effectLst>
                  <a:outerShdw blurRad="38100" dist="38100" dir="2700000" algn="tl">
                    <a:srgbClr val="000000">
                      <a:alpha val="43137"/>
                    </a:srgbClr>
                  </a:outerShdw>
                </a:effectLst>
              </a:rPr>
              <a:t>, не </a:t>
            </a:r>
            <a:r>
              <a:rPr lang="ru-RU" dirty="0" err="1">
                <a:solidFill>
                  <a:srgbClr val="FF0000"/>
                </a:solidFill>
                <a:effectLst>
                  <a:outerShdw blurRad="38100" dist="38100" dir="2700000" algn="tl">
                    <a:srgbClr val="000000">
                      <a:alpha val="43137"/>
                    </a:srgbClr>
                  </a:outerShdw>
                </a:effectLst>
              </a:rPr>
              <a:t>заборонених</a:t>
            </a:r>
            <a:r>
              <a:rPr lang="ru-RU" dirty="0">
                <a:solidFill>
                  <a:srgbClr val="FF0000"/>
                </a:solidFill>
                <a:effectLst>
                  <a:outerShdw blurRad="38100" dist="38100" dir="2700000" algn="tl">
                    <a:srgbClr val="000000">
                      <a:alpha val="43137"/>
                    </a:srgbClr>
                  </a:outerShdw>
                </a:effectLst>
              </a:rPr>
              <a:t> законом.</a:t>
            </a:r>
          </a:p>
          <a:p>
            <a:pPr marL="0" indent="0">
              <a:buNone/>
            </a:pPr>
            <a:r>
              <a:rPr lang="ru-RU" dirty="0"/>
              <a:t>Одним </a:t>
            </a:r>
            <a:r>
              <a:rPr lang="ru-RU" dirty="0" err="1"/>
              <a:t>із</a:t>
            </a:r>
            <a:r>
              <a:rPr lang="ru-RU" dirty="0"/>
              <a:t> </a:t>
            </a:r>
            <a:r>
              <a:rPr lang="ru-RU" dirty="0" err="1"/>
              <a:t>основних</a:t>
            </a:r>
            <a:r>
              <a:rPr lang="ru-RU" dirty="0"/>
              <a:t> </a:t>
            </a:r>
            <a:r>
              <a:rPr lang="ru-RU" dirty="0" err="1"/>
              <a:t>інструментів</a:t>
            </a:r>
            <a:r>
              <a:rPr lang="ru-RU" dirty="0"/>
              <a:t> </a:t>
            </a:r>
            <a:r>
              <a:rPr lang="ru-RU" dirty="0" err="1"/>
              <a:t>реалізації</a:t>
            </a:r>
            <a:r>
              <a:rPr lang="ru-RU" dirty="0"/>
              <a:t> </a:t>
            </a:r>
            <a:r>
              <a:rPr lang="ru-RU" dirty="0" err="1"/>
              <a:t>державної</a:t>
            </a:r>
            <a:r>
              <a:rPr lang="ru-RU" dirty="0"/>
              <a:t> </a:t>
            </a:r>
            <a:r>
              <a:rPr lang="ru-RU" dirty="0" err="1"/>
              <a:t>політики</a:t>
            </a:r>
            <a:r>
              <a:rPr lang="ru-RU" dirty="0"/>
              <a:t> у </a:t>
            </a:r>
            <a:r>
              <a:rPr lang="ru-RU" dirty="0" err="1"/>
              <a:t>сфері</a:t>
            </a:r>
            <a:r>
              <a:rPr lang="ru-RU" dirty="0"/>
              <a:t> </a:t>
            </a:r>
            <a:r>
              <a:rPr lang="ru-RU" dirty="0" err="1"/>
              <a:t>наукової</a:t>
            </a:r>
            <a:r>
              <a:rPr lang="ru-RU" dirty="0"/>
              <a:t> і </a:t>
            </a:r>
            <a:r>
              <a:rPr lang="ru-RU" dirty="0" err="1"/>
              <a:t>науково-технічної</a:t>
            </a:r>
            <a:r>
              <a:rPr lang="ru-RU" dirty="0"/>
              <a:t> </a:t>
            </a:r>
            <a:r>
              <a:rPr lang="ru-RU" dirty="0" err="1"/>
              <a:t>діяльності</a:t>
            </a:r>
            <a:r>
              <a:rPr lang="ru-RU" dirty="0"/>
              <a:t> є </a:t>
            </a:r>
            <a:r>
              <a:rPr lang="ru-RU" dirty="0" err="1"/>
              <a:t>бюджетне</a:t>
            </a:r>
            <a:r>
              <a:rPr lang="ru-RU" dirty="0"/>
              <a:t> </a:t>
            </a:r>
            <a:r>
              <a:rPr lang="ru-RU" dirty="0" err="1"/>
              <a:t>фінансування</a:t>
            </a:r>
            <a:r>
              <a:rPr lang="ru-RU" dirty="0"/>
              <a:t>. </a:t>
            </a:r>
            <a:r>
              <a:rPr lang="ru-RU" dirty="0" err="1"/>
              <a:t>Бюджетне</a:t>
            </a:r>
            <a:r>
              <a:rPr lang="ru-RU" dirty="0"/>
              <a:t> </a:t>
            </a:r>
            <a:r>
              <a:rPr lang="ru-RU" dirty="0" err="1"/>
              <a:t>фінансування</a:t>
            </a:r>
            <a:r>
              <a:rPr lang="ru-RU" dirty="0"/>
              <a:t> </a:t>
            </a:r>
            <a:r>
              <a:rPr lang="ru-RU" dirty="0" err="1"/>
              <a:t>наукової</a:t>
            </a:r>
            <a:r>
              <a:rPr lang="ru-RU" dirty="0"/>
              <a:t> і </a:t>
            </a:r>
            <a:r>
              <a:rPr lang="ru-RU" dirty="0" err="1"/>
              <a:t>науково-технічної</a:t>
            </a:r>
            <a:r>
              <a:rPr lang="ru-RU" dirty="0"/>
              <a:t> </a:t>
            </a:r>
            <a:r>
              <a:rPr lang="ru-RU" dirty="0" err="1"/>
              <a:t>діяльності</a:t>
            </a:r>
            <a:r>
              <a:rPr lang="ru-RU" dirty="0"/>
              <a:t> </a:t>
            </a:r>
            <a:r>
              <a:rPr lang="ru-RU" dirty="0" err="1"/>
              <a:t>здійснюється</a:t>
            </a:r>
            <a:r>
              <a:rPr lang="ru-RU" dirty="0"/>
              <a:t> за </a:t>
            </a:r>
            <a:r>
              <a:rPr lang="ru-RU" dirty="0" err="1"/>
              <a:t>рахунок</a:t>
            </a:r>
            <a:r>
              <a:rPr lang="ru-RU" dirty="0"/>
              <a:t> </a:t>
            </a:r>
            <a:r>
              <a:rPr lang="ru-RU" dirty="0" err="1"/>
              <a:t>коштів</a:t>
            </a:r>
            <a:r>
              <a:rPr lang="ru-RU" dirty="0"/>
              <a:t> державного бюджету.</a:t>
            </a:r>
          </a:p>
          <a:p>
            <a:pPr marL="0" indent="0">
              <a:buNone/>
            </a:pPr>
            <a:endParaRPr lang="ru-RU" dirty="0"/>
          </a:p>
          <a:p>
            <a:endParaRPr lang="uk-UA" dirty="0"/>
          </a:p>
        </p:txBody>
      </p:sp>
    </p:spTree>
    <p:extLst>
      <p:ext uri="{BB962C8B-B14F-4D97-AF65-F5344CB8AC3E}">
        <p14:creationId xmlns:p14="http://schemas.microsoft.com/office/powerpoint/2010/main" val="3171237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err="1"/>
              <a:t>Фінансове</a:t>
            </a:r>
            <a:r>
              <a:rPr lang="ru-RU" dirty="0"/>
              <a:t> </a:t>
            </a:r>
            <a:r>
              <a:rPr lang="ru-RU" dirty="0" err="1"/>
              <a:t>забезпечення</a:t>
            </a:r>
            <a:r>
              <a:rPr lang="ru-RU" dirty="0"/>
              <a:t> </a:t>
            </a:r>
            <a:r>
              <a:rPr lang="ru-RU" dirty="0" err="1"/>
              <a:t>наукової</a:t>
            </a:r>
            <a:r>
              <a:rPr lang="ru-RU" dirty="0"/>
              <a:t> і </a:t>
            </a:r>
            <a:r>
              <a:rPr lang="ru-RU" dirty="0" err="1"/>
              <a:t>науково-технічної</a:t>
            </a:r>
            <a:r>
              <a:rPr lang="ru-RU" dirty="0"/>
              <a:t> </a:t>
            </a:r>
            <a:r>
              <a:rPr lang="ru-RU" dirty="0" err="1"/>
              <a:t>діяльності</a:t>
            </a:r>
            <a:endParaRPr lang="uk-UA" dirty="0"/>
          </a:p>
        </p:txBody>
      </p:sp>
      <p:sp>
        <p:nvSpPr>
          <p:cNvPr id="3" name="Объект 2"/>
          <p:cNvSpPr>
            <a:spLocks noGrp="1"/>
          </p:cNvSpPr>
          <p:nvPr>
            <p:ph idx="1"/>
          </p:nvPr>
        </p:nvSpPr>
        <p:spPr/>
        <p:txBody>
          <a:bodyPr/>
          <a:lstStyle/>
          <a:p>
            <a:pPr marL="0" indent="0" algn="ctr">
              <a:buNone/>
            </a:pPr>
            <a:r>
              <a:rPr lang="ru-RU" dirty="0" err="1"/>
              <a:t>Обсяг</a:t>
            </a:r>
            <a:r>
              <a:rPr lang="ru-RU" dirty="0"/>
              <a:t> </a:t>
            </a:r>
            <a:r>
              <a:rPr lang="ru-RU" dirty="0" err="1"/>
              <a:t>коштів</a:t>
            </a:r>
            <a:r>
              <a:rPr lang="ru-RU" dirty="0"/>
              <a:t> державного бюджету, </a:t>
            </a:r>
            <a:r>
              <a:rPr lang="ru-RU" dirty="0" err="1"/>
              <a:t>що</a:t>
            </a:r>
            <a:r>
              <a:rPr lang="ru-RU" dirty="0"/>
              <a:t> </a:t>
            </a:r>
            <a:r>
              <a:rPr lang="ru-RU" dirty="0" err="1"/>
              <a:t>спрямовується</a:t>
            </a:r>
            <a:r>
              <a:rPr lang="ru-RU" dirty="0"/>
              <a:t> на </a:t>
            </a:r>
            <a:r>
              <a:rPr lang="ru-RU" dirty="0" err="1"/>
              <a:t>наукову</a:t>
            </a:r>
            <a:r>
              <a:rPr lang="ru-RU" dirty="0"/>
              <a:t> і </a:t>
            </a:r>
            <a:r>
              <a:rPr lang="ru-RU" dirty="0" err="1"/>
              <a:t>науково-технічну</a:t>
            </a:r>
            <a:r>
              <a:rPr lang="ru-RU" dirty="0"/>
              <a:t> </a:t>
            </a:r>
            <a:r>
              <a:rPr lang="ru-RU" dirty="0" err="1"/>
              <a:t>діяльність</a:t>
            </a:r>
            <a:r>
              <a:rPr lang="ru-RU" dirty="0"/>
              <a:t>, </a:t>
            </a:r>
          </a:p>
          <a:p>
            <a:pPr marL="0" indent="0" algn="ctr">
              <a:buNone/>
            </a:pPr>
            <a:r>
              <a:rPr lang="ru-RU" dirty="0" err="1"/>
              <a:t>щорічно</a:t>
            </a:r>
            <a:r>
              <a:rPr lang="ru-RU" dirty="0"/>
              <a:t> </a:t>
            </a:r>
            <a:r>
              <a:rPr lang="ru-RU" dirty="0" err="1"/>
              <a:t>визначається</a:t>
            </a:r>
            <a:endParaRPr lang="ru-RU" dirty="0"/>
          </a:p>
          <a:p>
            <a:pPr marL="0" indent="0" algn="ctr">
              <a:buNone/>
            </a:pPr>
            <a:r>
              <a:rPr lang="ru-RU" dirty="0"/>
              <a:t> у </a:t>
            </a:r>
            <a:r>
              <a:rPr lang="ru-RU" dirty="0" err="1"/>
              <a:t>законі</a:t>
            </a:r>
            <a:r>
              <a:rPr lang="ru-RU" dirty="0"/>
              <a:t> </a:t>
            </a:r>
            <a:r>
              <a:rPr lang="ru-RU" dirty="0" err="1"/>
              <a:t>України</a:t>
            </a:r>
            <a:r>
              <a:rPr lang="ru-RU" dirty="0"/>
              <a:t> про </a:t>
            </a:r>
            <a:r>
              <a:rPr lang="ru-RU" dirty="0" err="1"/>
              <a:t>Державний</a:t>
            </a:r>
            <a:r>
              <a:rPr lang="ru-RU" dirty="0"/>
              <a:t> бюджет </a:t>
            </a:r>
            <a:r>
              <a:rPr lang="ru-RU" dirty="0" err="1"/>
              <a:t>України</a:t>
            </a:r>
            <a:r>
              <a:rPr lang="ru-RU" dirty="0"/>
              <a:t> </a:t>
            </a:r>
            <a:r>
              <a:rPr lang="ru-RU" dirty="0" err="1"/>
              <a:t>окремим</a:t>
            </a:r>
            <a:r>
              <a:rPr lang="ru-RU" dirty="0"/>
              <a:t> рядком </a:t>
            </a:r>
            <a:r>
              <a:rPr lang="ru-RU" dirty="0">
                <a:solidFill>
                  <a:srgbClr val="FF0000"/>
                </a:solidFill>
                <a:effectLst>
                  <a:outerShdw blurRad="38100" dist="38100" dir="2700000" algn="tl">
                    <a:srgbClr val="000000">
                      <a:alpha val="43137"/>
                    </a:srgbClr>
                  </a:outerShdw>
                </a:effectLst>
              </a:rPr>
              <a:t>як </a:t>
            </a:r>
            <a:r>
              <a:rPr lang="ru-RU" dirty="0" err="1">
                <a:solidFill>
                  <a:srgbClr val="FF0000"/>
                </a:solidFill>
                <a:effectLst>
                  <a:outerShdw blurRad="38100" dist="38100" dir="2700000" algn="tl">
                    <a:srgbClr val="000000">
                      <a:alpha val="43137"/>
                    </a:srgbClr>
                  </a:outerShdw>
                </a:effectLst>
              </a:rPr>
              <a:t>частка</a:t>
            </a:r>
            <a:r>
              <a:rPr lang="ru-RU" dirty="0">
                <a:solidFill>
                  <a:srgbClr val="FF0000"/>
                </a:solidFill>
                <a:effectLst>
                  <a:outerShdw blurRad="38100" dist="38100" dir="2700000" algn="tl">
                    <a:srgbClr val="000000">
                      <a:alpha val="43137"/>
                    </a:srgbClr>
                  </a:outerShdw>
                </a:effectLst>
              </a:rPr>
              <a:t> валового </a:t>
            </a:r>
            <a:r>
              <a:rPr lang="ru-RU" dirty="0" err="1">
                <a:solidFill>
                  <a:srgbClr val="FF0000"/>
                </a:solidFill>
                <a:effectLst>
                  <a:outerShdw blurRad="38100" dist="38100" dir="2700000" algn="tl">
                    <a:srgbClr val="000000">
                      <a:alpha val="43137"/>
                    </a:srgbClr>
                  </a:outerShdw>
                </a:effectLst>
              </a:rPr>
              <a:t>внутрішнього</a:t>
            </a:r>
            <a:r>
              <a:rPr lang="ru-RU" dirty="0">
                <a:solidFill>
                  <a:srgbClr val="FF0000"/>
                </a:solidFill>
                <a:effectLst>
                  <a:outerShdw blurRad="38100" dist="38100" dir="2700000" algn="tl">
                    <a:srgbClr val="000000">
                      <a:alpha val="43137"/>
                    </a:srgbClr>
                  </a:outerShdw>
                </a:effectLst>
              </a:rPr>
              <a:t> продукту</a:t>
            </a:r>
            <a:endParaRPr lang="uk-UA"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86302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23CF171-ECC7-4BA2-9C34-FC41D50936E3}"/>
              </a:ext>
            </a:extLst>
          </p:cNvPr>
          <p:cNvSpPr>
            <a:spLocks noGrp="1"/>
          </p:cNvSpPr>
          <p:nvPr>
            <p:ph type="title"/>
          </p:nvPr>
        </p:nvSpPr>
        <p:spPr/>
        <p:txBody>
          <a:bodyPr/>
          <a:lstStyle/>
          <a:p>
            <a:endParaRPr lang="uk-UA"/>
          </a:p>
        </p:txBody>
      </p:sp>
      <p:sp>
        <p:nvSpPr>
          <p:cNvPr id="3" name="Місце для вмісту 2">
            <a:extLst>
              <a:ext uri="{FF2B5EF4-FFF2-40B4-BE49-F238E27FC236}">
                <a16:creationId xmlns:a16="http://schemas.microsoft.com/office/drawing/2014/main" id="{2651B665-C923-49A4-9CFF-82812EB3FE68}"/>
              </a:ext>
            </a:extLst>
          </p:cNvPr>
          <p:cNvSpPr>
            <a:spLocks noGrp="1"/>
          </p:cNvSpPr>
          <p:nvPr>
            <p:ph idx="1"/>
          </p:nvPr>
        </p:nvSpPr>
        <p:spPr/>
        <p:txBody>
          <a:bodyPr/>
          <a:lstStyle/>
          <a:p>
            <a:r>
              <a:rPr lang="uk-UA" dirty="0">
                <a:latin typeface="Arial" panose="020B0604020202020204" pitchFamily="34" charset="0"/>
                <a:cs typeface="Arial" panose="020B0604020202020204" pitchFamily="34" charset="0"/>
              </a:rPr>
              <a:t>ВРУ </a:t>
            </a:r>
            <a:r>
              <a:rPr lang="ru-RU" b="0" i="0" dirty="0" err="1">
                <a:solidFill>
                  <a:srgbClr val="333333"/>
                </a:solidFill>
                <a:effectLst/>
                <a:latin typeface="Arial" panose="020B0604020202020204" pitchFamily="34" charset="0"/>
                <a:cs typeface="Arial" panose="020B0604020202020204" pitchFamily="34" charset="0"/>
              </a:rPr>
              <a:t>затверджує</a:t>
            </a:r>
            <a:r>
              <a:rPr lang="ru-RU" b="0" i="0" dirty="0">
                <a:solidFill>
                  <a:srgbClr val="333333"/>
                </a:solidFill>
                <a:effectLst/>
                <a:latin typeface="Arial" panose="020B0604020202020204" pitchFamily="34" charset="0"/>
                <a:cs typeface="Arial" panose="020B0604020202020204" pitchFamily="34" charset="0"/>
              </a:rPr>
              <a:t> </a:t>
            </a:r>
            <a:r>
              <a:rPr lang="ru-RU" b="0" i="0" dirty="0" err="1">
                <a:solidFill>
                  <a:srgbClr val="333333"/>
                </a:solidFill>
                <a:effectLst/>
                <a:latin typeface="Arial" panose="020B0604020202020204" pitchFamily="34" charset="0"/>
                <a:cs typeface="Arial" panose="020B0604020202020204" pitchFamily="34" charset="0"/>
              </a:rPr>
              <a:t>пріоритетні</a:t>
            </a:r>
            <a:r>
              <a:rPr lang="ru-RU" b="0" i="0" dirty="0">
                <a:solidFill>
                  <a:srgbClr val="333333"/>
                </a:solidFill>
                <a:effectLst/>
                <a:latin typeface="Arial" panose="020B0604020202020204" pitchFamily="34" charset="0"/>
                <a:cs typeface="Arial" panose="020B0604020202020204" pitchFamily="34" charset="0"/>
              </a:rPr>
              <a:t> </a:t>
            </a:r>
            <a:r>
              <a:rPr lang="ru-RU" b="0" i="0" dirty="0" err="1">
                <a:solidFill>
                  <a:srgbClr val="333333"/>
                </a:solidFill>
                <a:effectLst/>
                <a:latin typeface="Arial" panose="020B0604020202020204" pitchFamily="34" charset="0"/>
                <a:cs typeface="Arial" panose="020B0604020202020204" pitchFamily="34" charset="0"/>
              </a:rPr>
              <a:t>напрями</a:t>
            </a:r>
            <a:r>
              <a:rPr lang="ru-RU" b="0" i="0" dirty="0">
                <a:solidFill>
                  <a:srgbClr val="333333"/>
                </a:solidFill>
                <a:effectLst/>
                <a:latin typeface="Arial" panose="020B0604020202020204" pitchFamily="34" charset="0"/>
                <a:cs typeface="Arial" panose="020B0604020202020204" pitchFamily="34" charset="0"/>
              </a:rPr>
              <a:t> </a:t>
            </a:r>
            <a:r>
              <a:rPr lang="ru-RU" b="0" i="0" dirty="0" err="1">
                <a:solidFill>
                  <a:srgbClr val="333333"/>
                </a:solidFill>
                <a:effectLst/>
                <a:latin typeface="Arial" panose="020B0604020202020204" pitchFamily="34" charset="0"/>
                <a:cs typeface="Arial" panose="020B0604020202020204" pitchFamily="34" charset="0"/>
              </a:rPr>
              <a:t>розвитку</a:t>
            </a:r>
            <a:r>
              <a:rPr lang="ru-RU" b="0" i="0" dirty="0">
                <a:solidFill>
                  <a:srgbClr val="333333"/>
                </a:solidFill>
                <a:effectLst/>
                <a:latin typeface="Arial" panose="020B0604020202020204" pitchFamily="34" charset="0"/>
                <a:cs typeface="Arial" panose="020B0604020202020204" pitchFamily="34" charset="0"/>
              </a:rPr>
              <a:t> науки і </a:t>
            </a:r>
            <a:r>
              <a:rPr lang="ru-RU" b="0" i="0" dirty="0" err="1">
                <a:solidFill>
                  <a:srgbClr val="333333"/>
                </a:solidFill>
                <a:effectLst/>
                <a:latin typeface="Arial" panose="020B0604020202020204" pitchFamily="34" charset="0"/>
                <a:cs typeface="Arial" panose="020B0604020202020204" pitchFamily="34" charset="0"/>
              </a:rPr>
              <a:t>техніки</a:t>
            </a:r>
            <a:r>
              <a:rPr lang="ru-RU" b="0" i="0" dirty="0">
                <a:solidFill>
                  <a:srgbClr val="333333"/>
                </a:solidFill>
                <a:effectLst/>
                <a:latin typeface="Arial" panose="020B0604020202020204" pitchFamily="34" charset="0"/>
                <a:cs typeface="Arial" panose="020B0604020202020204" pitchFamily="34" charset="0"/>
              </a:rPr>
              <a:t> та </a:t>
            </a:r>
            <a:r>
              <a:rPr lang="ru-RU" b="0" i="0" dirty="0" err="1">
                <a:solidFill>
                  <a:srgbClr val="333333"/>
                </a:solidFill>
                <a:effectLst/>
                <a:latin typeface="Arial" panose="020B0604020202020204" pitchFamily="34" charset="0"/>
                <a:cs typeface="Arial" panose="020B0604020202020204" pitchFamily="34" charset="0"/>
              </a:rPr>
              <a:t>загальнодержавні</a:t>
            </a:r>
            <a:r>
              <a:rPr lang="ru-RU" b="0" i="0" dirty="0">
                <a:solidFill>
                  <a:srgbClr val="333333"/>
                </a:solidFill>
                <a:effectLst/>
                <a:latin typeface="Arial" panose="020B0604020202020204" pitchFamily="34" charset="0"/>
                <a:cs typeface="Arial" panose="020B0604020202020204" pitchFamily="34" charset="0"/>
              </a:rPr>
              <a:t> </a:t>
            </a:r>
            <a:r>
              <a:rPr lang="ru-RU" b="0" i="0" dirty="0" err="1">
                <a:solidFill>
                  <a:srgbClr val="333333"/>
                </a:solidFill>
                <a:effectLst/>
                <a:latin typeface="Arial" panose="020B0604020202020204" pitchFamily="34" charset="0"/>
                <a:cs typeface="Arial" panose="020B0604020202020204" pitchFamily="34" charset="0"/>
              </a:rPr>
              <a:t>програми</a:t>
            </a:r>
            <a:r>
              <a:rPr lang="ru-RU" b="0" i="0" dirty="0">
                <a:solidFill>
                  <a:srgbClr val="333333"/>
                </a:solidFill>
                <a:effectLst/>
                <a:latin typeface="Arial" panose="020B0604020202020204" pitchFamily="34" charset="0"/>
                <a:cs typeface="Arial" panose="020B0604020202020204" pitchFamily="34" charset="0"/>
              </a:rPr>
              <a:t> </a:t>
            </a:r>
            <a:r>
              <a:rPr lang="ru-RU" b="0" i="0" dirty="0" err="1">
                <a:solidFill>
                  <a:srgbClr val="333333"/>
                </a:solidFill>
                <a:effectLst/>
                <a:latin typeface="Arial" panose="020B0604020202020204" pitchFamily="34" charset="0"/>
                <a:cs typeface="Arial" panose="020B0604020202020204" pitchFamily="34" charset="0"/>
              </a:rPr>
              <a:t>науково-технічного</a:t>
            </a:r>
            <a:r>
              <a:rPr lang="ru-RU" b="0" i="0" dirty="0">
                <a:solidFill>
                  <a:srgbClr val="333333"/>
                </a:solidFill>
                <a:effectLst/>
                <a:latin typeface="Arial" panose="020B0604020202020204" pitchFamily="34" charset="0"/>
                <a:cs typeface="Arial" panose="020B0604020202020204" pitchFamily="34" charset="0"/>
              </a:rPr>
              <a:t> </a:t>
            </a:r>
            <a:r>
              <a:rPr lang="ru-RU" b="0" i="0" dirty="0" err="1">
                <a:solidFill>
                  <a:srgbClr val="333333"/>
                </a:solidFill>
                <a:effectLst/>
                <a:latin typeface="Arial" panose="020B0604020202020204" pitchFamily="34" charset="0"/>
                <a:cs typeface="Arial" panose="020B0604020202020204" pitchFamily="34" charset="0"/>
              </a:rPr>
              <a:t>розвитку</a:t>
            </a:r>
            <a:r>
              <a:rPr lang="ru-RU" b="0" i="0" dirty="0">
                <a:solidFill>
                  <a:srgbClr val="333333"/>
                </a:solidFill>
                <a:effectLst/>
                <a:latin typeface="Arial" panose="020B0604020202020204" pitchFamily="34" charset="0"/>
                <a:cs typeface="Arial" panose="020B0604020202020204" pitchFamily="34" charset="0"/>
              </a:rPr>
              <a:t> </a:t>
            </a:r>
            <a:r>
              <a:rPr lang="ru-RU" b="0" i="0" dirty="0" err="1">
                <a:solidFill>
                  <a:srgbClr val="333333"/>
                </a:solidFill>
                <a:effectLst/>
                <a:latin typeface="Arial" panose="020B0604020202020204" pitchFamily="34" charset="0"/>
                <a:cs typeface="Arial" panose="020B0604020202020204" pitchFamily="34" charset="0"/>
              </a:rPr>
              <a:t>України</a:t>
            </a:r>
            <a:endParaRPr lang="ru-RU" dirty="0">
              <a:solidFill>
                <a:srgbClr val="333333"/>
              </a:solidFill>
              <a:latin typeface="Arial" panose="020B0604020202020204" pitchFamily="34" charset="0"/>
              <a:cs typeface="Arial" panose="020B0604020202020204" pitchFamily="34" charset="0"/>
            </a:endParaRPr>
          </a:p>
          <a:p>
            <a:r>
              <a:rPr lang="ru-RU" b="1" i="0" dirty="0" err="1">
                <a:solidFill>
                  <a:srgbClr val="333333"/>
                </a:solidFill>
                <a:effectLst/>
                <a:latin typeface="Times New Roman" panose="02020603050405020304" pitchFamily="18" charset="0"/>
              </a:rPr>
              <a:t>Заков</a:t>
            </a:r>
            <a:r>
              <a:rPr lang="ru-RU" b="1" i="0" dirty="0">
                <a:solidFill>
                  <a:srgbClr val="333333"/>
                </a:solidFill>
                <a:effectLst/>
                <a:latin typeface="Times New Roman" panose="02020603050405020304" pitchFamily="18" charset="0"/>
              </a:rPr>
              <a:t> </a:t>
            </a:r>
            <a:r>
              <a:rPr lang="ru-RU" b="1" i="0" dirty="0" err="1">
                <a:solidFill>
                  <a:srgbClr val="333333"/>
                </a:solidFill>
                <a:effectLst/>
                <a:latin typeface="Times New Roman" panose="02020603050405020304" pitchFamily="18" charset="0"/>
              </a:rPr>
              <a:t>України</a:t>
            </a:r>
            <a:r>
              <a:rPr lang="ru-RU" b="1" i="0" dirty="0">
                <a:solidFill>
                  <a:srgbClr val="333333"/>
                </a:solidFill>
                <a:effectLst/>
                <a:latin typeface="Times New Roman" panose="02020603050405020304" pitchFamily="18" charset="0"/>
              </a:rPr>
              <a:t> «Про </a:t>
            </a:r>
            <a:r>
              <a:rPr lang="ru-RU" b="1" i="0" dirty="0" err="1">
                <a:solidFill>
                  <a:srgbClr val="333333"/>
                </a:solidFill>
                <a:effectLst/>
                <a:latin typeface="Times New Roman" panose="02020603050405020304" pitchFamily="18" charset="0"/>
              </a:rPr>
              <a:t>пріоритетні</a:t>
            </a:r>
            <a:r>
              <a:rPr lang="ru-RU" b="1" i="0" dirty="0">
                <a:solidFill>
                  <a:srgbClr val="333333"/>
                </a:solidFill>
                <a:effectLst/>
                <a:latin typeface="Times New Roman" panose="02020603050405020304" pitchFamily="18" charset="0"/>
              </a:rPr>
              <a:t> </a:t>
            </a:r>
            <a:r>
              <a:rPr lang="ru-RU" b="1" i="0" dirty="0" err="1">
                <a:solidFill>
                  <a:srgbClr val="333333"/>
                </a:solidFill>
                <a:effectLst/>
                <a:latin typeface="Times New Roman" panose="02020603050405020304" pitchFamily="18" charset="0"/>
              </a:rPr>
              <a:t>напрями</a:t>
            </a:r>
            <a:r>
              <a:rPr lang="ru-RU" b="1" i="0" dirty="0">
                <a:solidFill>
                  <a:srgbClr val="333333"/>
                </a:solidFill>
                <a:effectLst/>
                <a:latin typeface="Times New Roman" panose="02020603050405020304" pitchFamily="18" charset="0"/>
              </a:rPr>
              <a:t> </a:t>
            </a:r>
            <a:r>
              <a:rPr lang="ru-RU" b="1" i="0" dirty="0" err="1">
                <a:solidFill>
                  <a:srgbClr val="333333"/>
                </a:solidFill>
                <a:effectLst/>
                <a:latin typeface="Times New Roman" panose="02020603050405020304" pitchFamily="18" charset="0"/>
              </a:rPr>
              <a:t>розвитку</a:t>
            </a:r>
            <a:r>
              <a:rPr lang="ru-RU" b="1" i="0" dirty="0">
                <a:solidFill>
                  <a:srgbClr val="333333"/>
                </a:solidFill>
                <a:effectLst/>
                <a:latin typeface="Times New Roman" panose="02020603050405020304" pitchFamily="18" charset="0"/>
              </a:rPr>
              <a:t> науки і </a:t>
            </a:r>
            <a:r>
              <a:rPr lang="ru-RU" b="1" i="0" dirty="0" err="1">
                <a:solidFill>
                  <a:srgbClr val="333333"/>
                </a:solidFill>
                <a:effectLst/>
                <a:latin typeface="Times New Roman" panose="02020603050405020304" pitchFamily="18" charset="0"/>
              </a:rPr>
              <a:t>техніки</a:t>
            </a:r>
            <a:r>
              <a:rPr lang="ru-RU" b="1" i="0" dirty="0">
                <a:solidFill>
                  <a:srgbClr val="333333"/>
                </a:solidFill>
                <a:effectLst/>
                <a:latin typeface="Times New Roman" panose="02020603050405020304" pitchFamily="18" charset="0"/>
              </a:rPr>
              <a:t>» </a:t>
            </a:r>
            <a:r>
              <a:rPr lang="en-GB" b="1" i="0" dirty="0">
                <a:solidFill>
                  <a:srgbClr val="333333"/>
                </a:solidFill>
                <a:effectLst/>
                <a:latin typeface="Times New Roman" panose="02020603050405020304" pitchFamily="18" charset="0"/>
                <a:hlinkClick r:id="rId2"/>
              </a:rPr>
              <a:t>https://zakon.rada.gov.ua/laws/show/2623-14#Text</a:t>
            </a:r>
            <a:endParaRPr lang="uk-UA" b="1" i="0" dirty="0">
              <a:solidFill>
                <a:srgbClr val="333333"/>
              </a:solidFill>
              <a:effectLst/>
              <a:latin typeface="Times New Roman" panose="02020603050405020304" pitchFamily="18" charset="0"/>
            </a:endParaRPr>
          </a:p>
          <a:p>
            <a:endParaRPr lang="uk-UA"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9055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err="1"/>
              <a:t>Пріоритетні</a:t>
            </a:r>
            <a:r>
              <a:rPr lang="ru-RU" dirty="0"/>
              <a:t> </a:t>
            </a:r>
            <a:r>
              <a:rPr lang="ru-RU" dirty="0" err="1"/>
              <a:t>напрями</a:t>
            </a:r>
            <a:r>
              <a:rPr lang="ru-RU" dirty="0"/>
              <a:t> </a:t>
            </a:r>
            <a:r>
              <a:rPr lang="ru-RU" dirty="0" err="1"/>
              <a:t>розвитку</a:t>
            </a:r>
            <a:r>
              <a:rPr lang="ru-RU" dirty="0"/>
              <a:t> науки і </a:t>
            </a:r>
            <a:r>
              <a:rPr lang="ru-RU" dirty="0" err="1"/>
              <a:t>техніки</a:t>
            </a:r>
            <a:r>
              <a:rPr lang="ru-RU" dirty="0"/>
              <a:t> в </a:t>
            </a:r>
            <a:r>
              <a:rPr lang="ru-RU" dirty="0" err="1"/>
              <a:t>Україні</a:t>
            </a:r>
            <a:endParaRPr lang="uk-UA" dirty="0"/>
          </a:p>
        </p:txBody>
      </p:sp>
      <p:sp>
        <p:nvSpPr>
          <p:cNvPr id="3" name="Объект 2"/>
          <p:cNvSpPr>
            <a:spLocks noGrp="1"/>
          </p:cNvSpPr>
          <p:nvPr>
            <p:ph idx="1"/>
          </p:nvPr>
        </p:nvSpPr>
        <p:spPr/>
        <p:txBody>
          <a:bodyPr>
            <a:normAutofit fontScale="70000" lnSpcReduction="20000"/>
          </a:bodyPr>
          <a:lstStyle/>
          <a:p>
            <a:r>
              <a:rPr lang="uk-UA" b="0" i="0" dirty="0">
                <a:solidFill>
                  <a:srgbClr val="333333"/>
                </a:solidFill>
                <a:effectLst/>
                <a:latin typeface="Times New Roman" panose="02020603050405020304" pitchFamily="18" charset="0"/>
              </a:rPr>
              <a:t>пріоритетні напрями розвитку науки і техніки - науково, економічно та соціально обґрунтовані напрями науково-технічного розвитку на довгостроковий період (понад 10 років), яким надається пріоритетна державна підтримка з метою формування ефективного сектору наукових досліджень і науково-технічних розробок для забезпечення конкурентоспроможності вітчизняного виробництва, сталого розвитку, національної безпеки і оборони України та підвищення якості життя населення;</a:t>
            </a:r>
            <a:endParaRPr lang="ru-RU" dirty="0"/>
          </a:p>
          <a:p>
            <a:r>
              <a:rPr lang="ru-RU" dirty="0" err="1"/>
              <a:t>пріоритетні</a:t>
            </a:r>
            <a:r>
              <a:rPr lang="ru-RU" dirty="0"/>
              <a:t> </a:t>
            </a:r>
            <a:r>
              <a:rPr lang="ru-RU" dirty="0" err="1">
                <a:solidFill>
                  <a:srgbClr val="FF0000"/>
                </a:solidFill>
                <a:effectLst>
                  <a:outerShdw blurRad="38100" dist="38100" dir="2700000" algn="tl">
                    <a:srgbClr val="000000">
                      <a:alpha val="43137"/>
                    </a:srgbClr>
                  </a:outerShdw>
                </a:effectLst>
              </a:rPr>
              <a:t>тематичні</a:t>
            </a:r>
            <a:r>
              <a:rPr lang="ru-RU" dirty="0">
                <a:solidFill>
                  <a:srgbClr val="FF0000"/>
                </a:solidFill>
                <a:effectLst>
                  <a:outerShdw blurRad="38100" dist="38100" dir="2700000" algn="tl">
                    <a:srgbClr val="000000">
                      <a:alpha val="43137"/>
                    </a:srgbClr>
                  </a:outerShdw>
                </a:effectLst>
              </a:rPr>
              <a:t> </a:t>
            </a:r>
            <a:r>
              <a:rPr lang="ru-RU" dirty="0" err="1"/>
              <a:t>напрями</a:t>
            </a:r>
            <a:r>
              <a:rPr lang="ru-RU" dirty="0"/>
              <a:t> </a:t>
            </a:r>
            <a:r>
              <a:rPr lang="ru-RU" dirty="0" err="1"/>
              <a:t>наукових</a:t>
            </a:r>
            <a:r>
              <a:rPr lang="ru-RU" dirty="0"/>
              <a:t> </a:t>
            </a:r>
            <a:r>
              <a:rPr lang="ru-RU" dirty="0" err="1"/>
              <a:t>досліджень</a:t>
            </a:r>
            <a:r>
              <a:rPr lang="ru-RU" dirty="0"/>
              <a:t> і </a:t>
            </a:r>
            <a:r>
              <a:rPr lang="ru-RU" dirty="0" err="1"/>
              <a:t>науково-технічних</a:t>
            </a:r>
            <a:r>
              <a:rPr lang="ru-RU" dirty="0"/>
              <a:t> </a:t>
            </a:r>
            <a:r>
              <a:rPr lang="ru-RU" dirty="0" err="1"/>
              <a:t>розробок</a:t>
            </a:r>
            <a:r>
              <a:rPr lang="ru-RU" dirty="0"/>
              <a:t> - </a:t>
            </a:r>
            <a:r>
              <a:rPr lang="ru-RU" dirty="0" err="1"/>
              <a:t>напрями</a:t>
            </a:r>
            <a:r>
              <a:rPr lang="ru-RU" dirty="0"/>
              <a:t> </a:t>
            </a:r>
            <a:r>
              <a:rPr lang="ru-RU" dirty="0" err="1"/>
              <a:t>фундаментальних</a:t>
            </a:r>
            <a:r>
              <a:rPr lang="ru-RU" dirty="0"/>
              <a:t> і </a:t>
            </a:r>
            <a:r>
              <a:rPr lang="ru-RU" dirty="0" err="1"/>
              <a:t>прикладних</a:t>
            </a:r>
            <a:r>
              <a:rPr lang="ru-RU" dirty="0"/>
              <a:t> </a:t>
            </a:r>
            <a:r>
              <a:rPr lang="ru-RU" dirty="0" err="1"/>
              <a:t>наукових</a:t>
            </a:r>
            <a:r>
              <a:rPr lang="ru-RU" dirty="0"/>
              <a:t> </a:t>
            </a:r>
            <a:r>
              <a:rPr lang="ru-RU" dirty="0" err="1"/>
              <a:t>досліджень</a:t>
            </a:r>
            <a:r>
              <a:rPr lang="ru-RU" dirty="0"/>
              <a:t> та </a:t>
            </a:r>
            <a:r>
              <a:rPr lang="ru-RU" dirty="0" err="1"/>
              <a:t>науково-технічних</a:t>
            </a:r>
            <a:r>
              <a:rPr lang="ru-RU" dirty="0"/>
              <a:t> </a:t>
            </a:r>
            <a:r>
              <a:rPr lang="ru-RU" dirty="0" err="1"/>
              <a:t>розробок</a:t>
            </a:r>
            <a:r>
              <a:rPr lang="ru-RU" dirty="0"/>
              <a:t>, </a:t>
            </a:r>
            <a:r>
              <a:rPr lang="ru-RU" dirty="0" err="1"/>
              <a:t>що</a:t>
            </a:r>
            <a:r>
              <a:rPr lang="ru-RU" dirty="0"/>
              <a:t> </a:t>
            </a:r>
            <a:r>
              <a:rPr lang="ru-RU" dirty="0" err="1"/>
              <a:t>визначаються</a:t>
            </a:r>
            <a:r>
              <a:rPr lang="ru-RU" dirty="0"/>
              <a:t> на </a:t>
            </a:r>
            <a:r>
              <a:rPr lang="ru-RU" dirty="0" err="1"/>
              <a:t>середньостроковий</a:t>
            </a:r>
            <a:r>
              <a:rPr lang="ru-RU" dirty="0"/>
              <a:t> </a:t>
            </a:r>
            <a:r>
              <a:rPr lang="ru-RU" dirty="0" err="1"/>
              <a:t>період</a:t>
            </a:r>
            <a:r>
              <a:rPr lang="ru-RU" dirty="0"/>
              <a:t> (до 5 </a:t>
            </a:r>
            <a:r>
              <a:rPr lang="ru-RU" dirty="0" err="1"/>
              <a:t>років</a:t>
            </a:r>
            <a:r>
              <a:rPr lang="ru-RU" dirty="0"/>
              <a:t>) у рамках </a:t>
            </a:r>
            <a:r>
              <a:rPr lang="ru-RU" dirty="0" err="1"/>
              <a:t>пріоритетних</a:t>
            </a:r>
            <a:r>
              <a:rPr lang="ru-RU" dirty="0"/>
              <a:t> </a:t>
            </a:r>
            <a:r>
              <a:rPr lang="ru-RU" dirty="0" err="1"/>
              <a:t>напрямів</a:t>
            </a:r>
            <a:r>
              <a:rPr lang="ru-RU" dirty="0"/>
              <a:t> </a:t>
            </a:r>
            <a:r>
              <a:rPr lang="ru-RU" dirty="0" err="1"/>
              <a:t>розвитку</a:t>
            </a:r>
            <a:r>
              <a:rPr lang="ru-RU" dirty="0"/>
              <a:t> науки і </a:t>
            </a:r>
            <a:r>
              <a:rPr lang="ru-RU" dirty="0" err="1"/>
              <a:t>техніки</a:t>
            </a:r>
            <a:r>
              <a:rPr lang="ru-RU" dirty="0"/>
              <a:t> з метою </a:t>
            </a:r>
            <a:r>
              <a:rPr lang="ru-RU" dirty="0" err="1"/>
              <a:t>забезпечення</a:t>
            </a:r>
            <a:r>
              <a:rPr lang="ru-RU" dirty="0"/>
              <a:t> </a:t>
            </a:r>
            <a:r>
              <a:rPr lang="ru-RU" dirty="0" err="1"/>
              <a:t>їх</a:t>
            </a:r>
            <a:r>
              <a:rPr lang="ru-RU" dirty="0"/>
              <a:t> </a:t>
            </a:r>
            <a:r>
              <a:rPr lang="ru-RU" dirty="0" err="1"/>
              <a:t>реалізації</a:t>
            </a:r>
            <a:r>
              <a:rPr lang="ru-RU" dirty="0"/>
              <a:t>.</a:t>
            </a:r>
          </a:p>
          <a:p>
            <a:endParaRPr lang="uk-UA" dirty="0"/>
          </a:p>
        </p:txBody>
      </p:sp>
    </p:spTree>
    <p:extLst>
      <p:ext uri="{BB962C8B-B14F-4D97-AF65-F5344CB8AC3E}">
        <p14:creationId xmlns:p14="http://schemas.microsoft.com/office/powerpoint/2010/main" val="3363462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err="1"/>
              <a:t>Пріоритетні</a:t>
            </a:r>
            <a:r>
              <a:rPr lang="ru-RU" dirty="0"/>
              <a:t> </a:t>
            </a:r>
            <a:r>
              <a:rPr lang="ru-RU" dirty="0" err="1"/>
              <a:t>напрями</a:t>
            </a:r>
            <a:r>
              <a:rPr lang="ru-RU" dirty="0"/>
              <a:t> </a:t>
            </a:r>
            <a:r>
              <a:rPr lang="ru-RU" dirty="0" err="1"/>
              <a:t>розвитку</a:t>
            </a:r>
            <a:r>
              <a:rPr lang="ru-RU" dirty="0"/>
              <a:t> науки і </a:t>
            </a:r>
            <a:r>
              <a:rPr lang="ru-RU" dirty="0" err="1"/>
              <a:t>техніки</a:t>
            </a:r>
            <a:endParaRPr lang="uk-UA" dirty="0"/>
          </a:p>
        </p:txBody>
      </p:sp>
      <p:sp>
        <p:nvSpPr>
          <p:cNvPr id="3" name="Объект 2"/>
          <p:cNvSpPr>
            <a:spLocks noGrp="1"/>
          </p:cNvSpPr>
          <p:nvPr>
            <p:ph idx="1"/>
          </p:nvPr>
        </p:nvSpPr>
        <p:spPr/>
        <p:txBody>
          <a:bodyPr>
            <a:noAutofit/>
          </a:bodyPr>
          <a:lstStyle/>
          <a:p>
            <a:pPr marL="0" indent="0" algn="just">
              <a:buNone/>
            </a:pPr>
            <a:r>
              <a:rPr lang="uk-UA" sz="1600" b="0" i="0" dirty="0">
                <a:solidFill>
                  <a:srgbClr val="333333"/>
                </a:solidFill>
                <a:effectLst/>
              </a:rPr>
              <a:t>Пріоритетні напрями розвитку науки і техніки</a:t>
            </a:r>
          </a:p>
          <a:p>
            <a:pPr marL="0" indent="0" algn="just">
              <a:buNone/>
            </a:pPr>
            <a:r>
              <a:rPr lang="uk-UA" sz="1600" b="0" i="0" dirty="0">
                <a:solidFill>
                  <a:srgbClr val="333333"/>
                </a:solidFill>
                <a:effectLst/>
              </a:rPr>
              <a:t>Визначити пріоритетними напрямами розвитку науки і техніки на період до припинення або скасування воєнного стану в Україні, введеного Указом Президента України "Про введення воєнного стану в Україні" від 24 лютого 2022 року </a:t>
            </a:r>
            <a:r>
              <a:rPr lang="uk-UA" sz="1600" b="0" i="0" u="sng" dirty="0">
                <a:solidFill>
                  <a:srgbClr val="000099"/>
                </a:solidFill>
                <a:effectLst/>
                <a:hlinkClick r:id="rId2"/>
              </a:rPr>
              <a:t>№ 64/2022</a:t>
            </a:r>
            <a:r>
              <a:rPr lang="uk-UA" sz="1600" b="0" i="0" dirty="0">
                <a:solidFill>
                  <a:srgbClr val="333333"/>
                </a:solidFill>
                <a:effectLst/>
              </a:rPr>
              <a:t>, затвердженим Законом України "Про затвердження Указу Президента України "Про введення воєнного стану в Україні" від 24 лютого 2022 року </a:t>
            </a:r>
            <a:r>
              <a:rPr lang="uk-UA" sz="1600" b="0" i="0" u="sng" dirty="0">
                <a:solidFill>
                  <a:srgbClr val="000099"/>
                </a:solidFill>
                <a:effectLst/>
                <a:hlinkClick r:id="rId3"/>
              </a:rPr>
              <a:t>№ 2102-</a:t>
            </a:r>
            <a:r>
              <a:rPr lang="en-US" sz="1600" b="0" i="0" u="sng" dirty="0">
                <a:solidFill>
                  <a:srgbClr val="000099"/>
                </a:solidFill>
                <a:effectLst/>
                <a:hlinkClick r:id="rId3"/>
              </a:rPr>
              <a:t>IX</a:t>
            </a:r>
            <a:r>
              <a:rPr lang="en-US" sz="1600" b="0" i="0" dirty="0">
                <a:solidFill>
                  <a:srgbClr val="333333"/>
                </a:solidFill>
                <a:effectLst/>
              </a:rPr>
              <a:t>, </a:t>
            </a:r>
            <a:r>
              <a:rPr lang="uk-UA" sz="1600" b="0" i="0" dirty="0">
                <a:solidFill>
                  <a:srgbClr val="333333"/>
                </a:solidFill>
                <a:effectLst/>
              </a:rPr>
              <a:t>та до 31 грудня року, наступного після припинення або скасування воєнного стану:</a:t>
            </a:r>
          </a:p>
          <a:p>
            <a:pPr marL="0" indent="0" algn="just">
              <a:buNone/>
            </a:pPr>
            <a:r>
              <a:rPr lang="uk-UA" sz="1600" b="0" i="0" dirty="0">
                <a:solidFill>
                  <a:srgbClr val="333333"/>
                </a:solidFill>
                <a:effectLst/>
              </a:rPr>
              <a:t>1) національна безпека і оборона;</a:t>
            </a:r>
          </a:p>
          <a:p>
            <a:pPr marL="0" indent="0" algn="just">
              <a:buNone/>
            </a:pPr>
            <a:r>
              <a:rPr lang="uk-UA" sz="1600" b="0" i="0" dirty="0">
                <a:solidFill>
                  <a:srgbClr val="333333"/>
                </a:solidFill>
                <a:effectLst/>
              </a:rPr>
              <a:t>2) фундаментальні наукові дослідження з найбільш важливих проблем розвитку науково-технічного, соціально-економічного, суспільно-політичного, людського потенціалу для забезпечення конкурентоспроможності України у світі та сталого розвитку суспільства і держави;</a:t>
            </a:r>
          </a:p>
          <a:p>
            <a:pPr marL="0" indent="0" algn="just">
              <a:buNone/>
            </a:pPr>
            <a:r>
              <a:rPr lang="uk-UA" sz="1600" b="0" i="0" dirty="0">
                <a:solidFill>
                  <a:srgbClr val="333333"/>
                </a:solidFill>
                <a:effectLst/>
              </a:rPr>
              <a:t>3) інформаційні та комунікаційні технології;</a:t>
            </a:r>
          </a:p>
          <a:p>
            <a:pPr marL="0" indent="0" algn="just">
              <a:buNone/>
            </a:pPr>
            <a:r>
              <a:rPr lang="uk-UA" sz="1600" b="0" i="0" dirty="0">
                <a:solidFill>
                  <a:srgbClr val="333333"/>
                </a:solidFill>
                <a:effectLst/>
              </a:rPr>
              <a:t>4) енергетика та енергоефективність;</a:t>
            </a:r>
          </a:p>
          <a:p>
            <a:pPr marL="0" indent="0" algn="just">
              <a:buNone/>
            </a:pPr>
            <a:r>
              <a:rPr lang="uk-UA" sz="1600" b="0" i="0" dirty="0">
                <a:solidFill>
                  <a:srgbClr val="333333"/>
                </a:solidFill>
                <a:effectLst/>
              </a:rPr>
              <a:t>5) раціональне природокористування;</a:t>
            </a:r>
          </a:p>
          <a:p>
            <a:pPr marL="0" indent="0" algn="just">
              <a:buNone/>
            </a:pPr>
            <a:r>
              <a:rPr lang="uk-UA" sz="1600" b="0" i="0" dirty="0">
                <a:solidFill>
                  <a:srgbClr val="333333"/>
                </a:solidFill>
                <a:effectLst/>
              </a:rPr>
              <a:t>6)  науки про життя, нові технології профілактики та лікування найпоширеніших захворювань;</a:t>
            </a:r>
          </a:p>
          <a:p>
            <a:pPr marL="0" indent="0" algn="just">
              <a:buNone/>
            </a:pPr>
            <a:r>
              <a:rPr lang="uk-UA" sz="1600" b="0" i="0" dirty="0">
                <a:solidFill>
                  <a:srgbClr val="333333"/>
                </a:solidFill>
                <a:effectLst/>
              </a:rPr>
              <a:t>7) нові речовини і матеріали.</a:t>
            </a:r>
          </a:p>
          <a:p>
            <a:pPr marL="0" indent="0">
              <a:buNone/>
            </a:pPr>
            <a:endParaRPr lang="uk-UA" sz="1600" dirty="0"/>
          </a:p>
        </p:txBody>
      </p:sp>
    </p:spTree>
    <p:extLst>
      <p:ext uri="{BB962C8B-B14F-4D97-AF65-F5344CB8AC3E}">
        <p14:creationId xmlns:p14="http://schemas.microsoft.com/office/powerpoint/2010/main" val="2400329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err="1"/>
              <a:t>Формування</a:t>
            </a:r>
            <a:r>
              <a:rPr lang="ru-RU" dirty="0"/>
              <a:t> </a:t>
            </a:r>
            <a:r>
              <a:rPr lang="ru-RU" dirty="0" err="1"/>
              <a:t>пріоритетних</a:t>
            </a:r>
            <a:r>
              <a:rPr lang="ru-RU" dirty="0"/>
              <a:t> </a:t>
            </a:r>
            <a:r>
              <a:rPr lang="ru-RU" dirty="0" err="1"/>
              <a:t>напрямів</a:t>
            </a:r>
            <a:r>
              <a:rPr lang="ru-RU" dirty="0"/>
              <a:t> </a:t>
            </a:r>
            <a:r>
              <a:rPr lang="ru-RU" dirty="0" err="1"/>
              <a:t>розвитку</a:t>
            </a:r>
            <a:r>
              <a:rPr lang="ru-RU" dirty="0"/>
              <a:t> науки і </a:t>
            </a:r>
            <a:r>
              <a:rPr lang="ru-RU" dirty="0" err="1"/>
              <a:t>техніки</a:t>
            </a:r>
            <a:endParaRPr lang="uk-UA" dirty="0"/>
          </a:p>
        </p:txBody>
      </p:sp>
      <p:sp>
        <p:nvSpPr>
          <p:cNvPr id="3" name="Объект 2"/>
          <p:cNvSpPr>
            <a:spLocks noGrp="1"/>
          </p:cNvSpPr>
          <p:nvPr>
            <p:ph idx="1"/>
          </p:nvPr>
        </p:nvSpPr>
        <p:spPr/>
        <p:txBody>
          <a:bodyPr>
            <a:normAutofit fontScale="77500" lnSpcReduction="20000"/>
          </a:bodyPr>
          <a:lstStyle/>
          <a:p>
            <a:pPr marL="0" indent="0" algn="ctr">
              <a:buNone/>
            </a:pPr>
            <a:r>
              <a:rPr lang="ru-RU" dirty="0"/>
              <a:t>Для </a:t>
            </a:r>
            <a:r>
              <a:rPr lang="ru-RU" dirty="0" err="1"/>
              <a:t>формування</a:t>
            </a:r>
            <a:r>
              <a:rPr lang="ru-RU" dirty="0"/>
              <a:t> </a:t>
            </a:r>
            <a:r>
              <a:rPr lang="ru-RU" dirty="0" err="1"/>
              <a:t>пріоритетних</a:t>
            </a:r>
            <a:r>
              <a:rPr lang="ru-RU" dirty="0"/>
              <a:t> </a:t>
            </a:r>
            <a:r>
              <a:rPr lang="ru-RU" dirty="0" err="1"/>
              <a:t>напрямів</a:t>
            </a:r>
            <a:r>
              <a:rPr lang="ru-RU" dirty="0"/>
              <a:t> </a:t>
            </a:r>
            <a:r>
              <a:rPr lang="ru-RU" dirty="0" err="1"/>
              <a:t>розвитку</a:t>
            </a:r>
            <a:r>
              <a:rPr lang="ru-RU" dirty="0"/>
              <a:t> науки і </a:t>
            </a:r>
            <a:r>
              <a:rPr lang="ru-RU" dirty="0" err="1"/>
              <a:t>техніки</a:t>
            </a:r>
            <a:r>
              <a:rPr lang="ru-RU" dirty="0"/>
              <a:t> </a:t>
            </a:r>
          </a:p>
          <a:p>
            <a:pPr marL="0" indent="0" algn="ctr">
              <a:buNone/>
            </a:pPr>
            <a:r>
              <a:rPr lang="ru-RU" dirty="0" err="1">
                <a:solidFill>
                  <a:srgbClr val="FF0000"/>
                </a:solidFill>
                <a:effectLst>
                  <a:outerShdw blurRad="38100" dist="38100" dir="2700000" algn="tl">
                    <a:srgbClr val="000000">
                      <a:alpha val="43137"/>
                    </a:srgbClr>
                  </a:outerShdw>
                </a:effectLst>
              </a:rPr>
              <a:t>Кабінет</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Міністрів</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України</a:t>
            </a:r>
            <a:r>
              <a:rPr lang="ru-RU" dirty="0">
                <a:solidFill>
                  <a:srgbClr val="FF0000"/>
                </a:solidFill>
                <a:effectLst>
                  <a:outerShdw blurRad="38100" dist="38100" dir="2700000" algn="tl">
                    <a:srgbClr val="000000">
                      <a:alpha val="43137"/>
                    </a:srgbClr>
                  </a:outerShdw>
                </a:effectLst>
              </a:rPr>
              <a:t> </a:t>
            </a:r>
          </a:p>
          <a:p>
            <a:pPr marL="0" indent="0" algn="ctr">
              <a:buNone/>
            </a:pPr>
            <a:r>
              <a:rPr lang="ru-RU" dirty="0" err="1"/>
              <a:t>розробляє</a:t>
            </a:r>
            <a:r>
              <a:rPr lang="ru-RU" dirty="0"/>
              <a:t> і </a:t>
            </a:r>
            <a:r>
              <a:rPr lang="ru-RU" dirty="0" err="1"/>
              <a:t>здійснює</a:t>
            </a:r>
            <a:r>
              <a:rPr lang="ru-RU" dirty="0"/>
              <a:t> </a:t>
            </a:r>
            <a:r>
              <a:rPr lang="ru-RU" dirty="0" err="1"/>
              <a:t>державну</a:t>
            </a:r>
            <a:r>
              <a:rPr lang="ru-RU" dirty="0"/>
              <a:t> </a:t>
            </a:r>
            <a:r>
              <a:rPr lang="ru-RU" dirty="0" err="1"/>
              <a:t>цільову</a:t>
            </a:r>
            <a:r>
              <a:rPr lang="ru-RU" dirty="0"/>
              <a:t> </a:t>
            </a:r>
            <a:r>
              <a:rPr lang="ru-RU" dirty="0" err="1"/>
              <a:t>програму</a:t>
            </a:r>
            <a:r>
              <a:rPr lang="ru-RU" dirty="0"/>
              <a:t> </a:t>
            </a:r>
            <a:r>
              <a:rPr lang="ru-RU" dirty="0" err="1"/>
              <a:t>прогнозування</a:t>
            </a:r>
            <a:r>
              <a:rPr lang="ru-RU" dirty="0"/>
              <a:t> </a:t>
            </a:r>
            <a:r>
              <a:rPr lang="ru-RU" dirty="0" err="1"/>
              <a:t>науково-технологічного</a:t>
            </a:r>
            <a:r>
              <a:rPr lang="ru-RU" dirty="0"/>
              <a:t> та </a:t>
            </a:r>
            <a:r>
              <a:rPr lang="ru-RU" dirty="0" err="1"/>
              <a:t>інноваційного</a:t>
            </a:r>
            <a:r>
              <a:rPr lang="ru-RU" dirty="0"/>
              <a:t> </a:t>
            </a:r>
            <a:r>
              <a:rPr lang="ru-RU" dirty="0" err="1"/>
              <a:t>розвитку</a:t>
            </a:r>
            <a:r>
              <a:rPr lang="ru-RU" dirty="0"/>
              <a:t> </a:t>
            </a:r>
            <a:r>
              <a:rPr lang="ru-RU" dirty="0" err="1"/>
              <a:t>України</a:t>
            </a:r>
            <a:r>
              <a:rPr lang="ru-RU" dirty="0"/>
              <a:t> </a:t>
            </a:r>
            <a:r>
              <a:rPr lang="ru-RU" dirty="0" err="1"/>
              <a:t>відповідно</a:t>
            </a:r>
            <a:r>
              <a:rPr lang="ru-RU" dirty="0"/>
              <a:t> до Закону </a:t>
            </a:r>
            <a:r>
              <a:rPr lang="ru-RU" dirty="0" err="1"/>
              <a:t>України</a:t>
            </a:r>
            <a:r>
              <a:rPr lang="ru-RU" dirty="0"/>
              <a:t> </a:t>
            </a:r>
            <a:r>
              <a:rPr lang="ru-RU" u="sng" dirty="0">
                <a:effectLst>
                  <a:outerShdw blurRad="38100" dist="38100" dir="2700000" algn="tl">
                    <a:srgbClr val="000000">
                      <a:alpha val="43137"/>
                    </a:srgbClr>
                  </a:outerShdw>
                </a:effectLst>
              </a:rPr>
              <a:t>"Про </a:t>
            </a:r>
            <a:r>
              <a:rPr lang="ru-RU" u="sng" dirty="0" err="1">
                <a:effectLst>
                  <a:outerShdw blurRad="38100" dist="38100" dir="2700000" algn="tl">
                    <a:srgbClr val="000000">
                      <a:alpha val="43137"/>
                    </a:srgbClr>
                  </a:outerShdw>
                </a:effectLst>
              </a:rPr>
              <a:t>державні</a:t>
            </a:r>
            <a:r>
              <a:rPr lang="ru-RU" u="sng" dirty="0">
                <a:effectLst>
                  <a:outerShdw blurRad="38100" dist="38100" dir="2700000" algn="tl">
                    <a:srgbClr val="000000">
                      <a:alpha val="43137"/>
                    </a:srgbClr>
                  </a:outerShdw>
                </a:effectLst>
              </a:rPr>
              <a:t> </a:t>
            </a:r>
            <a:r>
              <a:rPr lang="ru-RU" u="sng" dirty="0" err="1">
                <a:effectLst>
                  <a:outerShdw blurRad="38100" dist="38100" dir="2700000" algn="tl">
                    <a:srgbClr val="000000">
                      <a:alpha val="43137"/>
                    </a:srgbClr>
                  </a:outerShdw>
                </a:effectLst>
              </a:rPr>
              <a:t>цільові</a:t>
            </a:r>
            <a:r>
              <a:rPr lang="ru-RU" u="sng" dirty="0">
                <a:effectLst>
                  <a:outerShdw blurRad="38100" dist="38100" dir="2700000" algn="tl">
                    <a:srgbClr val="000000">
                      <a:alpha val="43137"/>
                    </a:srgbClr>
                  </a:outerShdw>
                </a:effectLst>
              </a:rPr>
              <a:t> </a:t>
            </a:r>
            <a:r>
              <a:rPr lang="ru-RU" u="sng" dirty="0" err="1">
                <a:effectLst>
                  <a:outerShdw blurRad="38100" dist="38100" dir="2700000" algn="tl">
                    <a:srgbClr val="000000">
                      <a:alpha val="43137"/>
                    </a:srgbClr>
                  </a:outerShdw>
                </a:effectLst>
              </a:rPr>
              <a:t>програми</a:t>
            </a:r>
            <a:r>
              <a:rPr lang="ru-RU" u="sng" dirty="0">
                <a:effectLst>
                  <a:outerShdw blurRad="38100" dist="38100" dir="2700000" algn="tl">
                    <a:srgbClr val="000000">
                      <a:alpha val="43137"/>
                    </a:srgbClr>
                  </a:outerShdw>
                </a:effectLst>
              </a:rPr>
              <a:t>"</a:t>
            </a:r>
          </a:p>
          <a:p>
            <a:pPr marL="0" indent="0" algn="ctr">
              <a:buNone/>
            </a:pPr>
            <a:r>
              <a:rPr lang="ru-RU" dirty="0" err="1">
                <a:solidFill>
                  <a:srgbClr val="FF0000"/>
                </a:solidFill>
                <a:effectLst>
                  <a:outerShdw blurRad="38100" dist="38100" dir="2700000" algn="tl">
                    <a:srgbClr val="000000">
                      <a:alpha val="43137"/>
                    </a:srgbClr>
                  </a:outerShdw>
                </a:effectLst>
              </a:rPr>
              <a:t>Програма</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розробляється</a:t>
            </a:r>
            <a:r>
              <a:rPr lang="ru-RU" dirty="0">
                <a:solidFill>
                  <a:srgbClr val="FF0000"/>
                </a:solidFill>
                <a:effectLst>
                  <a:outerShdw blurRad="38100" dist="38100" dir="2700000" algn="tl">
                    <a:srgbClr val="000000">
                      <a:alpha val="43137"/>
                    </a:srgbClr>
                  </a:outerShdw>
                </a:effectLst>
              </a:rPr>
              <a:t> </a:t>
            </a:r>
          </a:p>
          <a:p>
            <a:pPr marL="0" indent="0" algn="ctr">
              <a:buNone/>
            </a:pPr>
            <a:r>
              <a:rPr lang="ru-RU" dirty="0">
                <a:solidFill>
                  <a:srgbClr val="FF0000"/>
                </a:solidFill>
                <a:effectLst>
                  <a:outerShdw blurRad="38100" dist="38100" dir="2700000" algn="tl">
                    <a:srgbClr val="000000">
                      <a:alpha val="43137"/>
                    </a:srgbClr>
                  </a:outerShdw>
                </a:effectLst>
              </a:rPr>
              <a:t>на </a:t>
            </a:r>
            <a:r>
              <a:rPr lang="ru-RU" dirty="0" err="1">
                <a:solidFill>
                  <a:srgbClr val="FF0000"/>
                </a:solidFill>
                <a:effectLst>
                  <a:outerShdw blurRad="38100" dist="38100" dir="2700000" algn="tl">
                    <a:srgbClr val="000000">
                      <a:alpha val="43137"/>
                    </a:srgbClr>
                  </a:outerShdw>
                </a:effectLst>
              </a:rPr>
              <a:t>підставі</a:t>
            </a:r>
            <a:r>
              <a:rPr lang="ru-RU" dirty="0">
                <a:solidFill>
                  <a:srgbClr val="FF0000"/>
                </a:solidFill>
                <a:effectLst>
                  <a:outerShdw blurRad="38100" dist="38100" dir="2700000" algn="tl">
                    <a:srgbClr val="000000">
                      <a:alpha val="43137"/>
                    </a:srgbClr>
                  </a:outerShdw>
                </a:effectLst>
              </a:rPr>
              <a:t> </a:t>
            </a:r>
            <a:r>
              <a:rPr lang="ru-RU" dirty="0" err="1">
                <a:solidFill>
                  <a:srgbClr val="FF0000"/>
                </a:solidFill>
                <a:effectLst>
                  <a:outerShdw blurRad="38100" dist="38100" dir="2700000" algn="tl">
                    <a:srgbClr val="000000">
                      <a:alpha val="43137"/>
                    </a:srgbClr>
                  </a:outerShdw>
                </a:effectLst>
              </a:rPr>
              <a:t>рекомендацій</a:t>
            </a:r>
            <a:r>
              <a:rPr lang="ru-RU" dirty="0">
                <a:solidFill>
                  <a:srgbClr val="FF0000"/>
                </a:solidFill>
                <a:effectLst>
                  <a:outerShdw blurRad="38100" dist="38100" dir="2700000" algn="tl">
                    <a:srgbClr val="000000">
                      <a:alpha val="43137"/>
                    </a:srgbClr>
                  </a:outerShdw>
                </a:effectLst>
              </a:rPr>
              <a:t> </a:t>
            </a:r>
          </a:p>
          <a:p>
            <a:pPr marL="0" indent="0" algn="ctr">
              <a:buNone/>
            </a:pPr>
            <a:r>
              <a:rPr lang="ru-RU" dirty="0" err="1"/>
              <a:t>Національної</a:t>
            </a:r>
            <a:r>
              <a:rPr lang="ru-RU" dirty="0"/>
              <a:t> ради </a:t>
            </a:r>
            <a:r>
              <a:rPr lang="ru-RU" dirty="0" err="1"/>
              <a:t>України</a:t>
            </a:r>
            <a:r>
              <a:rPr lang="ru-RU" dirty="0"/>
              <a:t> з </a:t>
            </a:r>
            <a:r>
              <a:rPr lang="ru-RU" dirty="0" err="1"/>
              <a:t>питань</a:t>
            </a:r>
            <a:r>
              <a:rPr lang="ru-RU" dirty="0"/>
              <a:t> </a:t>
            </a:r>
            <a:r>
              <a:rPr lang="ru-RU" dirty="0" err="1"/>
              <a:t>розвитку</a:t>
            </a:r>
            <a:r>
              <a:rPr lang="ru-RU" dirty="0"/>
              <a:t> науки і </a:t>
            </a:r>
            <a:r>
              <a:rPr lang="ru-RU" dirty="0" err="1"/>
              <a:t>технологій</a:t>
            </a:r>
            <a:r>
              <a:rPr lang="ru-RU" dirty="0"/>
              <a:t> </a:t>
            </a:r>
            <a:r>
              <a:rPr lang="ru-RU" dirty="0" err="1"/>
              <a:t>із</a:t>
            </a:r>
            <a:r>
              <a:rPr lang="ru-RU" dirty="0"/>
              <a:t> </a:t>
            </a:r>
            <a:r>
              <a:rPr lang="ru-RU" dirty="0" err="1"/>
              <a:t>залученням</a:t>
            </a:r>
            <a:r>
              <a:rPr lang="ru-RU" dirty="0"/>
              <a:t> </a:t>
            </a:r>
            <a:r>
              <a:rPr lang="ru-RU" dirty="0" err="1"/>
              <a:t>Національної</a:t>
            </a:r>
            <a:r>
              <a:rPr lang="ru-RU" dirty="0"/>
              <a:t> </a:t>
            </a:r>
            <a:r>
              <a:rPr lang="ru-RU" dirty="0" err="1"/>
              <a:t>академії</a:t>
            </a:r>
            <a:r>
              <a:rPr lang="ru-RU" dirty="0"/>
              <a:t> наук </a:t>
            </a:r>
            <a:r>
              <a:rPr lang="ru-RU" dirty="0" err="1"/>
              <a:t>України</a:t>
            </a:r>
            <a:r>
              <a:rPr lang="ru-RU" dirty="0"/>
              <a:t>, </a:t>
            </a:r>
            <a:r>
              <a:rPr lang="ru-RU" dirty="0" err="1"/>
              <a:t>національних</a:t>
            </a:r>
            <a:r>
              <a:rPr lang="ru-RU" dirty="0"/>
              <a:t> </a:t>
            </a:r>
            <a:r>
              <a:rPr lang="ru-RU" dirty="0" err="1"/>
              <a:t>галузевих</a:t>
            </a:r>
            <a:r>
              <a:rPr lang="ru-RU" dirty="0"/>
              <a:t> </a:t>
            </a:r>
            <a:r>
              <a:rPr lang="ru-RU" dirty="0" err="1"/>
              <a:t>академій</a:t>
            </a:r>
            <a:r>
              <a:rPr lang="ru-RU" dirty="0"/>
              <a:t> наук, </a:t>
            </a:r>
            <a:r>
              <a:rPr lang="ru-RU" dirty="0" err="1"/>
              <a:t>центральних</a:t>
            </a:r>
            <a:r>
              <a:rPr lang="ru-RU" dirty="0"/>
              <a:t> </a:t>
            </a:r>
            <a:r>
              <a:rPr lang="ru-RU" dirty="0" err="1"/>
              <a:t>органів</a:t>
            </a:r>
            <a:r>
              <a:rPr lang="ru-RU" dirty="0"/>
              <a:t> </a:t>
            </a:r>
            <a:r>
              <a:rPr lang="ru-RU" dirty="0" err="1"/>
              <a:t>виконавчої</a:t>
            </a:r>
            <a:r>
              <a:rPr lang="ru-RU" dirty="0"/>
              <a:t> </a:t>
            </a:r>
            <a:r>
              <a:rPr lang="ru-RU" dirty="0" err="1"/>
              <a:t>влади</a:t>
            </a:r>
            <a:r>
              <a:rPr lang="ru-RU" dirty="0"/>
              <a:t>.</a:t>
            </a:r>
            <a:endParaRPr lang="uk-UA" dirty="0"/>
          </a:p>
        </p:txBody>
      </p:sp>
    </p:spTree>
    <p:extLst>
      <p:ext uri="{BB962C8B-B14F-4D97-AF65-F5344CB8AC3E}">
        <p14:creationId xmlns:p14="http://schemas.microsoft.com/office/powerpoint/2010/main" val="38777834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uk-UA" dirty="0"/>
              <a:t>Особливості і можливості фінансування</a:t>
            </a:r>
          </a:p>
        </p:txBody>
      </p:sp>
      <p:sp>
        <p:nvSpPr>
          <p:cNvPr id="3" name="Объект 2"/>
          <p:cNvSpPr>
            <a:spLocks noGrp="1"/>
          </p:cNvSpPr>
          <p:nvPr>
            <p:ph idx="1"/>
          </p:nvPr>
        </p:nvSpPr>
        <p:spPr>
          <a:xfrm>
            <a:off x="457200" y="1600200"/>
            <a:ext cx="8291264" cy="5069160"/>
          </a:xfrm>
        </p:spPr>
        <p:txBody>
          <a:bodyPr>
            <a:normAutofit fontScale="62500" lnSpcReduction="20000"/>
          </a:bodyPr>
          <a:lstStyle/>
          <a:p>
            <a:pPr marL="0" indent="0">
              <a:buNone/>
            </a:pPr>
            <a:r>
              <a:rPr lang="uk-UA" dirty="0"/>
              <a:t>наукових досліджень залежать від:</a:t>
            </a:r>
          </a:p>
          <a:p>
            <a:pPr marL="0" indent="0">
              <a:buNone/>
            </a:pPr>
            <a:r>
              <a:rPr lang="uk-UA" dirty="0"/>
              <a:t>1.Пріоритетності  держав, суспільства, донорів</a:t>
            </a:r>
          </a:p>
          <a:p>
            <a:pPr marL="0" indent="0">
              <a:buNone/>
            </a:pPr>
            <a:r>
              <a:rPr lang="uk-UA" dirty="0"/>
              <a:t>2.Мети</a:t>
            </a:r>
          </a:p>
          <a:p>
            <a:pPr marL="857250" lvl="1" indent="-457200">
              <a:buFont typeface="Wingdings" panose="05000000000000000000" pitchFamily="2" charset="2"/>
              <a:buChar char="ü"/>
            </a:pPr>
            <a:r>
              <a:rPr lang="uk-UA" dirty="0"/>
              <a:t>Стипендія, публікації, дослідження, </a:t>
            </a:r>
            <a:r>
              <a:rPr lang="ru-RU" dirty="0" err="1"/>
              <a:t>проведення</a:t>
            </a:r>
            <a:r>
              <a:rPr lang="ru-RU" dirty="0"/>
              <a:t> </a:t>
            </a:r>
            <a:r>
              <a:rPr lang="ru-RU" dirty="0" err="1"/>
              <a:t>експедицій</a:t>
            </a:r>
            <a:r>
              <a:rPr lang="ru-RU" dirty="0"/>
              <a:t> </a:t>
            </a:r>
            <a:r>
              <a:rPr lang="ru-RU" dirty="0" err="1"/>
              <a:t>або</a:t>
            </a:r>
            <a:r>
              <a:rPr lang="ru-RU" dirty="0"/>
              <a:t> </a:t>
            </a:r>
            <a:r>
              <a:rPr lang="ru-RU" dirty="0" err="1"/>
              <a:t>польових</a:t>
            </a:r>
            <a:r>
              <a:rPr lang="ru-RU" dirty="0"/>
              <a:t> </a:t>
            </a:r>
            <a:r>
              <a:rPr lang="ru-RU" dirty="0" err="1"/>
              <a:t>робіт</a:t>
            </a:r>
            <a:r>
              <a:rPr lang="ru-RU" dirty="0"/>
              <a:t>, на </a:t>
            </a:r>
            <a:r>
              <a:rPr lang="ru-RU" dirty="0" err="1"/>
              <a:t>проведення</a:t>
            </a:r>
            <a:r>
              <a:rPr lang="ru-RU" dirty="0"/>
              <a:t> </a:t>
            </a:r>
            <a:r>
              <a:rPr lang="ru-RU" dirty="0" err="1"/>
              <a:t>конференцій</a:t>
            </a:r>
            <a:r>
              <a:rPr lang="ru-RU" dirty="0"/>
              <a:t> та </a:t>
            </a:r>
            <a:r>
              <a:rPr lang="ru-RU" dirty="0" err="1"/>
              <a:t>інших</a:t>
            </a:r>
            <a:r>
              <a:rPr lang="ru-RU" dirty="0"/>
              <a:t> </a:t>
            </a:r>
            <a:r>
              <a:rPr lang="ru-RU" dirty="0" err="1"/>
              <a:t>наукових</a:t>
            </a:r>
            <a:r>
              <a:rPr lang="ru-RU" dirty="0"/>
              <a:t> </a:t>
            </a:r>
            <a:r>
              <a:rPr lang="ru-RU" dirty="0" err="1"/>
              <a:t>зібрань</a:t>
            </a:r>
            <a:r>
              <a:rPr lang="ru-RU" dirty="0"/>
              <a:t>, на </a:t>
            </a:r>
            <a:r>
              <a:rPr lang="ru-RU" dirty="0" err="1"/>
              <a:t>поїздки</a:t>
            </a:r>
            <a:r>
              <a:rPr lang="ru-RU" dirty="0"/>
              <a:t> (</a:t>
            </a:r>
            <a:r>
              <a:rPr lang="ru-RU" dirty="0" err="1"/>
              <a:t>виділяється</a:t>
            </a:r>
            <a:r>
              <a:rPr lang="ru-RU" dirty="0"/>
              <a:t> для </a:t>
            </a:r>
            <a:r>
              <a:rPr lang="ru-RU" dirty="0" err="1"/>
              <a:t>участі</a:t>
            </a:r>
            <a:r>
              <a:rPr lang="ru-RU" dirty="0"/>
              <a:t> в </a:t>
            </a:r>
            <a:r>
              <a:rPr lang="ru-RU" dirty="0" err="1"/>
              <a:t>конференціях</a:t>
            </a:r>
            <a:r>
              <a:rPr lang="ru-RU" dirty="0"/>
              <a:t>, </a:t>
            </a:r>
            <a:r>
              <a:rPr lang="ru-RU" dirty="0" err="1"/>
              <a:t>конгресах</a:t>
            </a:r>
            <a:r>
              <a:rPr lang="ru-RU" dirty="0"/>
              <a:t>, </a:t>
            </a:r>
            <a:r>
              <a:rPr lang="ru-RU" dirty="0" err="1"/>
              <a:t>круглих</a:t>
            </a:r>
            <a:r>
              <a:rPr lang="ru-RU" dirty="0"/>
              <a:t> столах, </a:t>
            </a:r>
            <a:r>
              <a:rPr lang="ru-RU" dirty="0" err="1"/>
              <a:t>семінарах</a:t>
            </a:r>
            <a:r>
              <a:rPr lang="ru-RU" dirty="0"/>
              <a:t> </a:t>
            </a:r>
            <a:r>
              <a:rPr lang="ru-RU" dirty="0" err="1"/>
              <a:t>тощо</a:t>
            </a:r>
            <a:endParaRPr lang="uk-UA" dirty="0"/>
          </a:p>
          <a:p>
            <a:pPr marL="0" indent="0">
              <a:buNone/>
            </a:pPr>
            <a:r>
              <a:rPr lang="uk-UA" dirty="0"/>
              <a:t>2.Учасників досліджень</a:t>
            </a:r>
          </a:p>
          <a:p>
            <a:pPr marL="857250" lvl="1" indent="-457200">
              <a:buFont typeface="Wingdings" panose="05000000000000000000" pitchFamily="2" charset="2"/>
              <a:buChar char="ü"/>
            </a:pPr>
            <a:r>
              <a:rPr lang="uk-UA" dirty="0"/>
              <a:t>Індивідуальні /колективні/установи організації</a:t>
            </a:r>
          </a:p>
          <a:p>
            <a:pPr marL="857250" lvl="1" indent="-457200">
              <a:buFont typeface="Wingdings" panose="05000000000000000000" pitchFamily="2" charset="2"/>
              <a:buChar char="ü"/>
            </a:pPr>
            <a:r>
              <a:rPr lang="uk-UA" dirty="0"/>
              <a:t>Освіта учасників</a:t>
            </a:r>
          </a:p>
          <a:p>
            <a:pPr marL="857250" lvl="1" indent="-457200">
              <a:buFont typeface="Wingdings" panose="05000000000000000000" pitchFamily="2" charset="2"/>
              <a:buChar char="ü"/>
            </a:pPr>
            <a:r>
              <a:rPr lang="uk-UA" dirty="0"/>
              <a:t>Вік учасників</a:t>
            </a:r>
          </a:p>
          <a:p>
            <a:pPr marL="0" indent="0">
              <a:buNone/>
            </a:pPr>
            <a:r>
              <a:rPr lang="uk-UA" dirty="0"/>
              <a:t>3.Тематичних напрямків досліджень</a:t>
            </a:r>
          </a:p>
          <a:p>
            <a:pPr marL="857250" lvl="1" indent="-457200">
              <a:buFont typeface="Wingdings" panose="05000000000000000000" pitchFamily="2" charset="2"/>
              <a:buChar char="ü"/>
            </a:pPr>
            <a:r>
              <a:rPr lang="uk-UA" dirty="0"/>
              <a:t>Фундаментальні/прикладні</a:t>
            </a:r>
          </a:p>
          <a:p>
            <a:pPr marL="857250" lvl="1" indent="-457200">
              <a:buFont typeface="Wingdings" panose="05000000000000000000" pitchFamily="2" charset="2"/>
              <a:buChar char="ü"/>
            </a:pPr>
            <a:r>
              <a:rPr lang="uk-UA" dirty="0"/>
              <a:t>Екологічні, соціальні, економічні  тощо</a:t>
            </a:r>
          </a:p>
          <a:p>
            <a:pPr marL="0" indent="0">
              <a:buNone/>
            </a:pPr>
            <a:r>
              <a:rPr lang="uk-UA" dirty="0"/>
              <a:t>4.Прогнозних результатів дослідження</a:t>
            </a:r>
          </a:p>
          <a:p>
            <a:pPr marL="400050" lvl="1" indent="0">
              <a:buNone/>
            </a:pPr>
            <a:r>
              <a:rPr lang="ru-RU" dirty="0" err="1"/>
              <a:t>наукова</a:t>
            </a:r>
            <a:r>
              <a:rPr lang="ru-RU" dirty="0"/>
              <a:t> (</a:t>
            </a:r>
            <a:r>
              <a:rPr lang="ru-RU" dirty="0" err="1"/>
              <a:t>науково-технічна</a:t>
            </a:r>
            <a:r>
              <a:rPr lang="ru-RU" dirty="0"/>
              <a:t>) </a:t>
            </a:r>
            <a:r>
              <a:rPr lang="ru-RU" dirty="0" err="1"/>
              <a:t>продукція</a:t>
            </a:r>
            <a:r>
              <a:rPr lang="ru-RU" dirty="0"/>
              <a:t>/ </a:t>
            </a:r>
            <a:r>
              <a:rPr lang="ru-RU" dirty="0" err="1"/>
              <a:t>наукова</a:t>
            </a:r>
            <a:r>
              <a:rPr lang="ru-RU" dirty="0"/>
              <a:t> (</a:t>
            </a:r>
            <a:r>
              <a:rPr lang="ru-RU" dirty="0" err="1"/>
              <a:t>науково-технічна</a:t>
            </a:r>
            <a:r>
              <a:rPr lang="ru-RU" dirty="0"/>
              <a:t>) робота/ </a:t>
            </a:r>
            <a:r>
              <a:rPr lang="ru-RU" dirty="0" err="1"/>
              <a:t>науково-технічні</a:t>
            </a:r>
            <a:r>
              <a:rPr lang="ru-RU" dirty="0"/>
              <a:t> (</a:t>
            </a:r>
            <a:r>
              <a:rPr lang="ru-RU" dirty="0" err="1"/>
              <a:t>експериментальні</a:t>
            </a:r>
            <a:r>
              <a:rPr lang="ru-RU" dirty="0"/>
              <a:t>) </a:t>
            </a:r>
            <a:r>
              <a:rPr lang="ru-RU" dirty="0" err="1"/>
              <a:t>розробки</a:t>
            </a:r>
            <a:r>
              <a:rPr lang="ru-RU" dirty="0"/>
              <a:t> </a:t>
            </a:r>
            <a:endParaRPr lang="uk-UA" dirty="0"/>
          </a:p>
          <a:p>
            <a:pPr marL="400050" lvl="1" indent="0">
              <a:buNone/>
            </a:pPr>
            <a:endParaRPr lang="uk-UA" dirty="0"/>
          </a:p>
          <a:p>
            <a:pPr marL="0" indent="0">
              <a:buNone/>
            </a:pPr>
            <a:endParaRPr lang="uk-UA" dirty="0"/>
          </a:p>
        </p:txBody>
      </p:sp>
    </p:spTree>
    <p:extLst>
      <p:ext uri="{BB962C8B-B14F-4D97-AF65-F5344CB8AC3E}">
        <p14:creationId xmlns:p14="http://schemas.microsoft.com/office/powerpoint/2010/main" val="422333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err="1"/>
              <a:t>Класифікація</a:t>
            </a:r>
            <a:r>
              <a:rPr lang="ru-RU" dirty="0"/>
              <a:t> </a:t>
            </a:r>
            <a:r>
              <a:rPr lang="ru-RU" dirty="0" err="1"/>
              <a:t>державних</a:t>
            </a:r>
            <a:r>
              <a:rPr lang="ru-RU" dirty="0"/>
              <a:t> </a:t>
            </a:r>
            <a:r>
              <a:rPr lang="ru-RU" dirty="0" err="1"/>
              <a:t>цільових</a:t>
            </a:r>
            <a:r>
              <a:rPr lang="ru-RU" dirty="0"/>
              <a:t> </a:t>
            </a:r>
            <a:r>
              <a:rPr lang="ru-RU" dirty="0" err="1"/>
              <a:t>програм</a:t>
            </a:r>
            <a:endParaRPr lang="uk-UA" dirty="0"/>
          </a:p>
        </p:txBody>
      </p:sp>
      <p:sp>
        <p:nvSpPr>
          <p:cNvPr id="3" name="Объект 2"/>
          <p:cNvSpPr>
            <a:spLocks noGrp="1"/>
          </p:cNvSpPr>
          <p:nvPr>
            <p:ph idx="1"/>
          </p:nvPr>
        </p:nvSpPr>
        <p:spPr/>
        <p:txBody>
          <a:bodyPr>
            <a:normAutofit fontScale="85000" lnSpcReduction="10000"/>
          </a:bodyPr>
          <a:lstStyle/>
          <a:p>
            <a:pPr marL="0" indent="0">
              <a:buNone/>
            </a:pPr>
            <a:r>
              <a:rPr lang="ru-RU" dirty="0"/>
              <a:t>За </a:t>
            </a:r>
            <a:r>
              <a:rPr lang="ru-RU" dirty="0" err="1"/>
              <a:t>своєю</a:t>
            </a:r>
            <a:r>
              <a:rPr lang="ru-RU" dirty="0"/>
              <a:t> </a:t>
            </a:r>
            <a:r>
              <a:rPr lang="ru-RU" dirty="0" err="1"/>
              <a:t>спрямованістю</a:t>
            </a:r>
            <a:r>
              <a:rPr lang="ru-RU" dirty="0"/>
              <a:t> </a:t>
            </a:r>
            <a:r>
              <a:rPr lang="ru-RU" dirty="0" err="1"/>
              <a:t>державні</a:t>
            </a:r>
            <a:r>
              <a:rPr lang="ru-RU" dirty="0"/>
              <a:t> </a:t>
            </a:r>
            <a:r>
              <a:rPr lang="ru-RU" dirty="0" err="1"/>
              <a:t>цільові</a:t>
            </a:r>
            <a:r>
              <a:rPr lang="ru-RU" dirty="0"/>
              <a:t> </a:t>
            </a:r>
            <a:r>
              <a:rPr lang="ru-RU" dirty="0" err="1"/>
              <a:t>програми</a:t>
            </a:r>
            <a:r>
              <a:rPr lang="ru-RU" dirty="0"/>
              <a:t> </a:t>
            </a:r>
            <a:r>
              <a:rPr lang="ru-RU" dirty="0" err="1"/>
              <a:t>поділяються</a:t>
            </a:r>
            <a:r>
              <a:rPr lang="ru-RU" dirty="0"/>
              <a:t> на:</a:t>
            </a:r>
          </a:p>
          <a:p>
            <a:r>
              <a:rPr lang="ru-RU" dirty="0" err="1">
                <a:solidFill>
                  <a:srgbClr val="FF0000"/>
                </a:solidFill>
                <a:effectLst>
                  <a:outerShdw blurRad="38100" dist="38100" dir="2700000" algn="tl">
                    <a:srgbClr val="000000">
                      <a:alpha val="43137"/>
                    </a:srgbClr>
                  </a:outerShdw>
                </a:effectLst>
              </a:rPr>
              <a:t>наукові</a:t>
            </a:r>
            <a:r>
              <a:rPr lang="ru-RU" dirty="0"/>
              <a:t>, метою </a:t>
            </a:r>
            <a:r>
              <a:rPr lang="ru-RU" dirty="0" err="1"/>
              <a:t>яких</a:t>
            </a:r>
            <a:r>
              <a:rPr lang="ru-RU" dirty="0"/>
              <a:t> є </a:t>
            </a:r>
            <a:r>
              <a:rPr lang="ru-RU" dirty="0" err="1"/>
              <a:t>забезпечення</a:t>
            </a:r>
            <a:r>
              <a:rPr lang="ru-RU" dirty="0"/>
              <a:t> </a:t>
            </a:r>
            <a:r>
              <a:rPr lang="ru-RU" dirty="0" err="1"/>
              <a:t>виконання</a:t>
            </a:r>
            <a:r>
              <a:rPr lang="ru-RU" dirty="0"/>
              <a:t> </a:t>
            </a:r>
            <a:r>
              <a:rPr lang="ru-RU" dirty="0" err="1"/>
              <a:t>фундаментальних</a:t>
            </a:r>
            <a:r>
              <a:rPr lang="ru-RU" dirty="0"/>
              <a:t> </a:t>
            </a:r>
            <a:r>
              <a:rPr lang="ru-RU" dirty="0" err="1"/>
              <a:t>досліджень</a:t>
            </a:r>
            <a:r>
              <a:rPr lang="ru-RU" dirty="0"/>
              <a:t> у </a:t>
            </a:r>
            <a:r>
              <a:rPr lang="ru-RU" dirty="0" err="1"/>
              <a:t>галузі</a:t>
            </a:r>
            <a:r>
              <a:rPr lang="ru-RU" dirty="0"/>
              <a:t> </a:t>
            </a:r>
            <a:r>
              <a:rPr lang="ru-RU" dirty="0" err="1"/>
              <a:t>природничих</a:t>
            </a:r>
            <a:r>
              <a:rPr lang="ru-RU" dirty="0"/>
              <a:t>, </a:t>
            </a:r>
            <a:r>
              <a:rPr lang="ru-RU" dirty="0" err="1"/>
              <a:t>суспільних</a:t>
            </a:r>
            <a:r>
              <a:rPr lang="ru-RU" dirty="0"/>
              <a:t> і </a:t>
            </a:r>
            <a:r>
              <a:rPr lang="ru-RU" dirty="0" err="1"/>
              <a:t>технічних</a:t>
            </a:r>
            <a:r>
              <a:rPr lang="ru-RU" dirty="0"/>
              <a:t> наук;</a:t>
            </a:r>
          </a:p>
          <a:p>
            <a:r>
              <a:rPr lang="ru-RU" dirty="0" err="1">
                <a:solidFill>
                  <a:srgbClr val="FF0000"/>
                </a:solidFill>
                <a:effectLst>
                  <a:outerShdw blurRad="38100" dist="38100" dir="2700000" algn="tl">
                    <a:srgbClr val="000000">
                      <a:alpha val="43137"/>
                    </a:srgbClr>
                  </a:outerShdw>
                </a:effectLst>
              </a:rPr>
              <a:t>науково-технічні</a:t>
            </a:r>
            <a:r>
              <a:rPr lang="ru-RU" dirty="0">
                <a:solidFill>
                  <a:srgbClr val="FF0000"/>
                </a:solidFill>
                <a:effectLst>
                  <a:outerShdw blurRad="38100" dist="38100" dir="2700000" algn="tl">
                    <a:srgbClr val="000000">
                      <a:alpha val="43137"/>
                    </a:srgbClr>
                  </a:outerShdw>
                </a:effectLst>
              </a:rPr>
              <a:t>, </a:t>
            </a:r>
            <a:r>
              <a:rPr lang="ru-RU" dirty="0" err="1"/>
              <a:t>що</a:t>
            </a:r>
            <a:r>
              <a:rPr lang="ru-RU" dirty="0"/>
              <a:t> </a:t>
            </a:r>
            <a:r>
              <a:rPr lang="ru-RU" dirty="0" err="1"/>
              <a:t>розробляються</a:t>
            </a:r>
            <a:r>
              <a:rPr lang="ru-RU" dirty="0"/>
              <a:t> для </a:t>
            </a:r>
            <a:r>
              <a:rPr lang="ru-RU" dirty="0" err="1"/>
              <a:t>розв'язання</a:t>
            </a:r>
            <a:r>
              <a:rPr lang="ru-RU" dirty="0"/>
              <a:t> </a:t>
            </a:r>
            <a:r>
              <a:rPr lang="ru-RU" dirty="0" err="1"/>
              <a:t>найважливіших</a:t>
            </a:r>
            <a:r>
              <a:rPr lang="ru-RU" dirty="0"/>
              <a:t> </a:t>
            </a:r>
            <a:r>
              <a:rPr lang="ru-RU" dirty="0" err="1"/>
              <a:t>науково-технічних</a:t>
            </a:r>
            <a:r>
              <a:rPr lang="ru-RU" dirty="0"/>
              <a:t> проблем, </a:t>
            </a:r>
            <a:r>
              <a:rPr lang="ru-RU" dirty="0" err="1"/>
              <a:t>створення</a:t>
            </a:r>
            <a:r>
              <a:rPr lang="ru-RU" dirty="0"/>
              <a:t> </a:t>
            </a:r>
            <a:r>
              <a:rPr lang="ru-RU" dirty="0" err="1"/>
              <a:t>принципово</a:t>
            </a:r>
            <a:r>
              <a:rPr lang="ru-RU" dirty="0"/>
              <a:t> </a:t>
            </a:r>
            <a:r>
              <a:rPr lang="ru-RU" dirty="0" err="1"/>
              <a:t>нових</a:t>
            </a:r>
            <a:r>
              <a:rPr lang="ru-RU" dirty="0"/>
              <a:t> </a:t>
            </a:r>
            <a:r>
              <a:rPr lang="ru-RU" dirty="0" err="1"/>
              <a:t>технологій</a:t>
            </a:r>
            <a:r>
              <a:rPr lang="ru-RU" dirty="0"/>
              <a:t>, </a:t>
            </a:r>
            <a:r>
              <a:rPr lang="ru-RU" dirty="0" err="1"/>
              <a:t>засобів</a:t>
            </a:r>
            <a:r>
              <a:rPr lang="ru-RU" dirty="0"/>
              <a:t> </a:t>
            </a:r>
            <a:r>
              <a:rPr lang="ru-RU" dirty="0" err="1"/>
              <a:t>виробництва</a:t>
            </a:r>
            <a:r>
              <a:rPr lang="ru-RU" dirty="0"/>
              <a:t>, </a:t>
            </a:r>
            <a:r>
              <a:rPr lang="ru-RU" dirty="0" err="1"/>
              <a:t>матеріалів</a:t>
            </a:r>
            <a:r>
              <a:rPr lang="ru-RU" dirty="0"/>
              <a:t>, </a:t>
            </a:r>
            <a:r>
              <a:rPr lang="ru-RU" dirty="0" err="1"/>
              <a:t>іншої</a:t>
            </a:r>
            <a:r>
              <a:rPr lang="ru-RU" dirty="0"/>
              <a:t> </a:t>
            </a:r>
            <a:r>
              <a:rPr lang="ru-RU" dirty="0" err="1"/>
              <a:t>наукоємної</a:t>
            </a:r>
            <a:r>
              <a:rPr lang="ru-RU" dirty="0"/>
              <a:t> та </a:t>
            </a:r>
            <a:r>
              <a:rPr lang="ru-RU" dirty="0" err="1"/>
              <a:t>конкурентоспроможної</a:t>
            </a:r>
            <a:r>
              <a:rPr lang="ru-RU" dirty="0"/>
              <a:t> </a:t>
            </a:r>
            <a:r>
              <a:rPr lang="ru-RU" dirty="0" err="1"/>
              <a:t>продукції</a:t>
            </a:r>
            <a:r>
              <a:rPr lang="ru-RU" dirty="0"/>
              <a:t>;</a:t>
            </a:r>
          </a:p>
          <a:p>
            <a:pPr marL="0" indent="0" algn="r">
              <a:buNone/>
            </a:pPr>
            <a:r>
              <a:rPr lang="ru-RU" sz="1900" dirty="0"/>
              <a:t>З-н </a:t>
            </a:r>
            <a:r>
              <a:rPr lang="uk-UA" sz="1900" i="0" dirty="0">
                <a:solidFill>
                  <a:srgbClr val="333333"/>
                </a:solidFill>
                <a:effectLst/>
                <a:latin typeface="Times New Roman" panose="02020603050405020304" pitchFamily="18" charset="0"/>
              </a:rPr>
              <a:t>Про державні цільові програми</a:t>
            </a:r>
            <a:endParaRPr lang="ru-RU" sz="1900" dirty="0"/>
          </a:p>
          <a:p>
            <a:endParaRPr lang="uk-UA" dirty="0"/>
          </a:p>
        </p:txBody>
      </p:sp>
    </p:spTree>
    <p:extLst>
      <p:ext uri="{BB962C8B-B14F-4D97-AF65-F5344CB8AC3E}">
        <p14:creationId xmlns:p14="http://schemas.microsoft.com/office/powerpoint/2010/main" val="598922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51CD7C-EFA4-4415-AF21-AAE62DD7305B}"/>
              </a:ext>
            </a:extLst>
          </p:cNvPr>
          <p:cNvSpPr>
            <a:spLocks noGrp="1"/>
          </p:cNvSpPr>
          <p:nvPr>
            <p:ph type="title"/>
          </p:nvPr>
        </p:nvSpPr>
        <p:spPr/>
        <p:txBody>
          <a:bodyPr>
            <a:normAutofit fontScale="90000"/>
          </a:bodyPr>
          <a:lstStyle/>
          <a:p>
            <a:r>
              <a:rPr lang="ru-RU" dirty="0" err="1"/>
              <a:t>Класифікація</a:t>
            </a:r>
            <a:r>
              <a:rPr lang="ru-RU" dirty="0"/>
              <a:t> </a:t>
            </a:r>
            <a:r>
              <a:rPr lang="ru-RU" dirty="0" err="1"/>
              <a:t>державних</a:t>
            </a:r>
            <a:r>
              <a:rPr lang="ru-RU" dirty="0"/>
              <a:t> </a:t>
            </a:r>
            <a:r>
              <a:rPr lang="ru-RU" dirty="0" err="1"/>
              <a:t>цільових</a:t>
            </a:r>
            <a:r>
              <a:rPr lang="ru-RU" dirty="0"/>
              <a:t> </a:t>
            </a:r>
            <a:r>
              <a:rPr lang="ru-RU" dirty="0" err="1"/>
              <a:t>програм</a:t>
            </a:r>
            <a:endParaRPr lang="uk-UA" dirty="0"/>
          </a:p>
        </p:txBody>
      </p:sp>
      <p:sp>
        <p:nvSpPr>
          <p:cNvPr id="3" name="Місце для вмісту 2">
            <a:extLst>
              <a:ext uri="{FF2B5EF4-FFF2-40B4-BE49-F238E27FC236}">
                <a16:creationId xmlns:a16="http://schemas.microsoft.com/office/drawing/2014/main" id="{F8743E41-1791-427D-A313-3B52139E667E}"/>
              </a:ext>
            </a:extLst>
          </p:cNvPr>
          <p:cNvSpPr>
            <a:spLocks noGrp="1"/>
          </p:cNvSpPr>
          <p:nvPr>
            <p:ph idx="1"/>
          </p:nvPr>
        </p:nvSpPr>
        <p:spPr>
          <a:xfrm>
            <a:off x="395536" y="1772816"/>
            <a:ext cx="8291264" cy="4353347"/>
          </a:xfrm>
        </p:spPr>
        <p:txBody>
          <a:bodyPr>
            <a:noAutofit/>
          </a:bodyPr>
          <a:lstStyle/>
          <a:p>
            <a:pPr marL="0" indent="0" algn="just">
              <a:buNone/>
            </a:pPr>
            <a:r>
              <a:rPr lang="uk-UA" sz="1800" b="0" i="0" dirty="0">
                <a:solidFill>
                  <a:srgbClr val="333333"/>
                </a:solidFill>
                <a:effectLst/>
                <a:latin typeface="Arial" panose="020B0604020202020204" pitchFamily="34" charset="0"/>
                <a:cs typeface="Arial" panose="020B0604020202020204" pitchFamily="34" charset="0"/>
              </a:rPr>
              <a:t>За своєю спрямованістю державні цільові програми поділяються на:</a:t>
            </a:r>
          </a:p>
          <a:p>
            <a:pPr algn="just"/>
            <a:r>
              <a:rPr lang="uk-UA" sz="1800" b="0" i="0" dirty="0">
                <a:solidFill>
                  <a:srgbClr val="333333"/>
                </a:solidFill>
                <a:effectLst/>
                <a:latin typeface="Arial" panose="020B0604020202020204" pitchFamily="34" charset="0"/>
                <a:cs typeface="Arial" panose="020B0604020202020204" pitchFamily="34" charset="0"/>
              </a:rPr>
              <a:t>економічні, що спрямовані на розв'язання комплексних галузевих і міжгалузевих проблем виробництва, підвищення його ефективності та якісних характеристик, забезпечення ресурсозбереження, створення нових виробництв, розвиток виробничої кооперації;</a:t>
            </a:r>
          </a:p>
          <a:p>
            <a:pPr algn="just"/>
            <a:r>
              <a:rPr lang="uk-UA" sz="1800" b="0" i="0" dirty="0">
                <a:solidFill>
                  <a:srgbClr val="333333"/>
                </a:solidFill>
                <a:effectLst/>
                <a:latin typeface="Arial" panose="020B0604020202020204" pitchFamily="34" charset="0"/>
                <a:cs typeface="Arial" panose="020B0604020202020204" pitchFamily="34" charset="0"/>
              </a:rPr>
              <a:t>соціальні, що передбачають розв'язання проблем підвищення рівня та якості життя, проблем безробіття, посилення соціального захисту населення, поліпшення умов праці, розвиток охорони здоров'я та освіти;</a:t>
            </a:r>
          </a:p>
          <a:p>
            <a:endParaRPr lang="uk-UA"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7545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sp>
        <p:nvSpPr>
          <p:cNvPr id="3" name="Объект 2"/>
          <p:cNvSpPr>
            <a:spLocks noGrp="1"/>
          </p:cNvSpPr>
          <p:nvPr>
            <p:ph idx="1"/>
          </p:nvPr>
        </p:nvSpPr>
        <p:spPr/>
        <p:txBody>
          <a:bodyPr>
            <a:normAutofit fontScale="55000" lnSpcReduction="20000"/>
          </a:bodyPr>
          <a:lstStyle/>
          <a:p>
            <a:pPr algn="just"/>
            <a:r>
              <a:rPr lang="uk-UA" sz="3200" b="0" i="0" dirty="0">
                <a:solidFill>
                  <a:srgbClr val="333333"/>
                </a:solidFill>
                <a:effectLst/>
                <a:latin typeface="Arial" panose="020B0604020202020204" pitchFamily="34" charset="0"/>
                <a:cs typeface="Arial" panose="020B0604020202020204" pitchFamily="34" charset="0"/>
              </a:rPr>
              <a:t>національно-культурні, спрямовані на розв'язання проблем національно-культурного розвитку, збереження національно-культурної спадщини, задоволення інтелектуальних та духовних потреб людини;</a:t>
            </a:r>
          </a:p>
          <a:p>
            <a:pPr algn="just"/>
            <a:r>
              <a:rPr lang="uk-UA" sz="3200" b="0" i="0" dirty="0">
                <a:solidFill>
                  <a:srgbClr val="333333"/>
                </a:solidFill>
                <a:effectLst/>
                <a:latin typeface="Arial" panose="020B0604020202020204" pitchFamily="34" charset="0"/>
                <a:cs typeface="Arial" panose="020B0604020202020204" pitchFamily="34" charset="0"/>
              </a:rPr>
              <a:t>екологічні, метою яких є здійснення загальнодержавних природоохоронних заходів, запобігання катастрофам екологічного характеру та ліквідація їх наслідків;</a:t>
            </a:r>
          </a:p>
          <a:p>
            <a:pPr algn="just"/>
            <a:r>
              <a:rPr lang="uk-UA" sz="3200" b="0" i="0" dirty="0">
                <a:solidFill>
                  <a:srgbClr val="333333"/>
                </a:solidFill>
                <a:effectLst/>
                <a:latin typeface="Arial" panose="020B0604020202020204" pitchFamily="34" charset="0"/>
                <a:cs typeface="Arial" panose="020B0604020202020204" pitchFamily="34" charset="0"/>
              </a:rPr>
              <a:t>оборонні, що розробляються з метою посилення обороноздатності держави;</a:t>
            </a:r>
          </a:p>
          <a:p>
            <a:pPr algn="just"/>
            <a:r>
              <a:rPr lang="uk-UA" sz="3200" b="0" i="0" dirty="0">
                <a:solidFill>
                  <a:srgbClr val="333333"/>
                </a:solidFill>
                <a:effectLst/>
                <a:latin typeface="Arial" panose="020B0604020202020204" pitchFamily="34" charset="0"/>
                <a:cs typeface="Arial" panose="020B0604020202020204" pitchFamily="34" charset="0"/>
              </a:rPr>
              <a:t>правоохоронні, спрямовані на забезпечення правоохоронної діяльності, боротьби із злочинністю та державної безпеки;</a:t>
            </a:r>
          </a:p>
          <a:p>
            <a:pPr algn="just"/>
            <a:r>
              <a:rPr lang="uk-UA" sz="3200" b="0" i="0" dirty="0">
                <a:solidFill>
                  <a:srgbClr val="333333"/>
                </a:solidFill>
                <a:effectLst/>
                <a:latin typeface="Arial" panose="020B0604020202020204" pitchFamily="34" charset="0"/>
                <a:cs typeface="Arial" panose="020B0604020202020204" pitchFamily="34" charset="0"/>
              </a:rPr>
              <a:t>з питань розвідувальної діяльності, з питань посилення розвідувальних </a:t>
            </a:r>
            <a:r>
              <a:rPr lang="uk-UA" sz="3200" b="0" i="0" dirty="0" err="1">
                <a:solidFill>
                  <a:srgbClr val="333333"/>
                </a:solidFill>
                <a:effectLst/>
                <a:latin typeface="Arial" panose="020B0604020202020204" pitchFamily="34" charset="0"/>
                <a:cs typeface="Arial" panose="020B0604020202020204" pitchFamily="34" charset="0"/>
              </a:rPr>
              <a:t>спроможностей</a:t>
            </a:r>
            <a:r>
              <a:rPr lang="uk-UA" sz="3200" b="0" i="0" dirty="0">
                <a:solidFill>
                  <a:srgbClr val="333333"/>
                </a:solidFill>
                <a:effectLst/>
                <a:latin typeface="Arial" panose="020B0604020202020204" pitchFamily="34" charset="0"/>
                <a:cs typeface="Arial" panose="020B0604020202020204" pitchFamily="34" charset="0"/>
              </a:rPr>
              <a:t> держави</a:t>
            </a:r>
          </a:p>
          <a:p>
            <a:endParaRPr lang="ru-RU" dirty="0"/>
          </a:p>
          <a:p>
            <a:endParaRPr lang="ru-RU" dirty="0"/>
          </a:p>
          <a:p>
            <a:pPr marL="0" indent="0">
              <a:buNone/>
            </a:pPr>
            <a:r>
              <a:rPr lang="ru-RU" dirty="0" err="1"/>
              <a:t>Державні</a:t>
            </a:r>
            <a:r>
              <a:rPr lang="ru-RU" dirty="0"/>
              <a:t> </a:t>
            </a:r>
            <a:r>
              <a:rPr lang="ru-RU" dirty="0" err="1"/>
              <a:t>цільові</a:t>
            </a:r>
            <a:r>
              <a:rPr lang="ru-RU" dirty="0"/>
              <a:t> </a:t>
            </a:r>
            <a:r>
              <a:rPr lang="ru-RU" dirty="0" err="1"/>
              <a:t>програми</a:t>
            </a:r>
            <a:r>
              <a:rPr lang="ru-RU" dirty="0"/>
              <a:t> </a:t>
            </a:r>
            <a:r>
              <a:rPr lang="ru-RU" dirty="0" err="1"/>
              <a:t>можуть</a:t>
            </a:r>
            <a:r>
              <a:rPr lang="ru-RU" dirty="0"/>
              <a:t> бути </a:t>
            </a:r>
            <a:r>
              <a:rPr lang="ru-RU" dirty="0" err="1"/>
              <a:t>спрямовані</a:t>
            </a:r>
            <a:r>
              <a:rPr lang="ru-RU" dirty="0"/>
              <a:t> на </a:t>
            </a:r>
            <a:r>
              <a:rPr lang="ru-RU" dirty="0" err="1"/>
              <a:t>розв'язання</a:t>
            </a:r>
            <a:r>
              <a:rPr lang="ru-RU" dirty="0"/>
              <a:t> </a:t>
            </a:r>
            <a:r>
              <a:rPr lang="ru-RU" dirty="0" err="1"/>
              <a:t>інших</a:t>
            </a:r>
            <a:r>
              <a:rPr lang="ru-RU" dirty="0"/>
              <a:t> проблем, у тому </a:t>
            </a:r>
            <a:r>
              <a:rPr lang="ru-RU" dirty="0" err="1"/>
              <a:t>числі</a:t>
            </a:r>
            <a:r>
              <a:rPr lang="ru-RU" dirty="0"/>
              <a:t> </a:t>
            </a:r>
            <a:r>
              <a:rPr lang="ru-RU" dirty="0" err="1"/>
              <a:t>регіонального</a:t>
            </a:r>
            <a:r>
              <a:rPr lang="ru-RU" dirty="0"/>
              <a:t> </a:t>
            </a:r>
            <a:r>
              <a:rPr lang="ru-RU" dirty="0" err="1"/>
              <a:t>розвитку</a:t>
            </a:r>
            <a:r>
              <a:rPr lang="ru-RU" dirty="0"/>
              <a:t>, </a:t>
            </a:r>
            <a:r>
              <a:rPr lang="ru-RU" dirty="0" err="1"/>
              <a:t>що</a:t>
            </a:r>
            <a:r>
              <a:rPr lang="ru-RU" dirty="0"/>
              <a:t> </a:t>
            </a:r>
            <a:r>
              <a:rPr lang="ru-RU" dirty="0" err="1"/>
              <a:t>мають</a:t>
            </a:r>
            <a:r>
              <a:rPr lang="ru-RU" dirty="0"/>
              <a:t> </a:t>
            </a:r>
            <a:r>
              <a:rPr lang="ru-RU" dirty="0" err="1"/>
              <a:t>державне</a:t>
            </a:r>
            <a:r>
              <a:rPr lang="ru-RU" dirty="0"/>
              <a:t> </a:t>
            </a:r>
            <a:r>
              <a:rPr lang="ru-RU" dirty="0" err="1"/>
              <a:t>значення</a:t>
            </a:r>
            <a:r>
              <a:rPr lang="ru-RU" dirty="0"/>
              <a:t>.</a:t>
            </a:r>
          </a:p>
          <a:p>
            <a:endParaRPr lang="uk-UA" dirty="0"/>
          </a:p>
        </p:txBody>
      </p:sp>
    </p:spTree>
    <p:extLst>
      <p:ext uri="{BB962C8B-B14F-4D97-AF65-F5344CB8AC3E}">
        <p14:creationId xmlns:p14="http://schemas.microsoft.com/office/powerpoint/2010/main" val="8889803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sp>
        <p:nvSpPr>
          <p:cNvPr id="3" name="Объект 2"/>
          <p:cNvSpPr>
            <a:spLocks noGrp="1"/>
          </p:cNvSpPr>
          <p:nvPr>
            <p:ph idx="1"/>
          </p:nvPr>
        </p:nvSpPr>
        <p:spPr/>
        <p:txBody>
          <a:bodyPr>
            <a:normAutofit/>
          </a:bodyPr>
          <a:lstStyle/>
          <a:p>
            <a:pPr marL="0" indent="0">
              <a:buNone/>
            </a:pPr>
            <a:r>
              <a:rPr lang="uk-UA" dirty="0"/>
              <a:t>В Україні </a:t>
            </a:r>
          </a:p>
          <a:p>
            <a:pPr marL="0" indent="0">
              <a:buNone/>
            </a:pPr>
            <a:r>
              <a:rPr lang="ru-RU" dirty="0"/>
              <a:t>27 </a:t>
            </a:r>
            <a:r>
              <a:rPr lang="ru-RU" dirty="0" err="1"/>
              <a:t>Галузей</a:t>
            </a:r>
            <a:r>
              <a:rPr lang="ru-RU" dirty="0"/>
              <a:t> науки </a:t>
            </a:r>
          </a:p>
          <a:p>
            <a:pPr marL="0" indent="0">
              <a:buNone/>
            </a:pPr>
            <a:r>
              <a:rPr lang="ru-RU" dirty="0" err="1"/>
              <a:t>які</a:t>
            </a:r>
            <a:r>
              <a:rPr lang="ru-RU" dirty="0"/>
              <a:t> </a:t>
            </a:r>
            <a:r>
              <a:rPr lang="ru-RU" dirty="0" err="1"/>
              <a:t>поділяються</a:t>
            </a:r>
            <a:r>
              <a:rPr lang="ru-RU" dirty="0"/>
              <a:t> на </a:t>
            </a:r>
            <a:r>
              <a:rPr lang="ru-RU" dirty="0" err="1"/>
              <a:t>спеціальності</a:t>
            </a:r>
            <a:endParaRPr lang="ru-RU" dirty="0"/>
          </a:p>
          <a:p>
            <a:pPr marL="0" indent="0">
              <a:buNone/>
            </a:pPr>
            <a:r>
              <a:rPr lang="ru-RU" dirty="0" err="1"/>
              <a:t>Наприклад</a:t>
            </a:r>
            <a:r>
              <a:rPr lang="ru-RU" dirty="0"/>
              <a:t>: </a:t>
            </a:r>
            <a:r>
              <a:rPr lang="ru-RU" dirty="0" err="1"/>
              <a:t>будівництво</a:t>
            </a:r>
            <a:r>
              <a:rPr lang="ru-RU" dirty="0"/>
              <a:t> – 20 </a:t>
            </a:r>
            <a:r>
              <a:rPr lang="ru-RU" dirty="0" err="1"/>
              <a:t>спеціальностей</a:t>
            </a:r>
            <a:r>
              <a:rPr lang="ru-RU" dirty="0"/>
              <a:t>, </a:t>
            </a:r>
            <a:r>
              <a:rPr lang="ru-RU" dirty="0" err="1"/>
              <a:t>Архітектура</a:t>
            </a:r>
            <a:r>
              <a:rPr lang="ru-RU" dirty="0"/>
              <a:t> - 3 </a:t>
            </a:r>
            <a:r>
              <a:rPr lang="ru-RU" dirty="0" err="1"/>
              <a:t>спеціальності</a:t>
            </a:r>
            <a:r>
              <a:rPr lang="ru-RU" dirty="0"/>
              <a:t>, </a:t>
            </a:r>
            <a:r>
              <a:rPr lang="ru-RU" dirty="0" err="1"/>
              <a:t>Геодезія</a:t>
            </a:r>
            <a:r>
              <a:rPr lang="ru-RU" dirty="0"/>
              <a:t>- 2 </a:t>
            </a:r>
            <a:r>
              <a:rPr lang="uk-UA" b="0" i="0" dirty="0">
                <a:effectLst/>
              </a:rPr>
              <a:t>економічні науки – 11. </a:t>
            </a:r>
            <a:endParaRPr lang="ru-RU" dirty="0"/>
          </a:p>
          <a:p>
            <a:pPr marL="0" indent="0" algn="r">
              <a:buNone/>
            </a:pPr>
            <a:r>
              <a:rPr lang="ru-RU" sz="2000" dirty="0">
                <a:latin typeface="Arial" panose="020B0604020202020204" pitchFamily="34" charset="0"/>
                <a:cs typeface="Arial" panose="020B0604020202020204" pitchFamily="34" charset="0"/>
              </a:rPr>
              <a:t>Про </a:t>
            </a:r>
            <a:r>
              <a:rPr lang="ru-RU" sz="2000" dirty="0" err="1">
                <a:latin typeface="Arial" panose="020B0604020202020204" pitchFamily="34" charset="0"/>
                <a:cs typeface="Arial" panose="020B0604020202020204" pitchFamily="34" charset="0"/>
              </a:rPr>
              <a:t>затвердження</a:t>
            </a:r>
            <a:r>
              <a:rPr lang="ru-RU" sz="2000" dirty="0">
                <a:latin typeface="Arial" panose="020B0604020202020204" pitchFamily="34" charset="0"/>
                <a:cs typeface="Arial" panose="020B0604020202020204" pitchFamily="34" charset="0"/>
              </a:rPr>
              <a:t> </a:t>
            </a:r>
            <a:r>
              <a:rPr lang="ru-RU" sz="2000" dirty="0" err="1">
                <a:latin typeface="Arial" panose="020B0604020202020204" pitchFamily="34" charset="0"/>
                <a:cs typeface="Arial" panose="020B0604020202020204" pitchFamily="34" charset="0"/>
              </a:rPr>
              <a:t>Переліку</a:t>
            </a:r>
            <a:r>
              <a:rPr lang="ru-RU" sz="2000" dirty="0">
                <a:latin typeface="Arial" panose="020B0604020202020204" pitchFamily="34" charset="0"/>
                <a:cs typeface="Arial" panose="020B0604020202020204" pitchFamily="34" charset="0"/>
              </a:rPr>
              <a:t> </a:t>
            </a:r>
            <a:r>
              <a:rPr lang="ru-RU" sz="2000" dirty="0" err="1">
                <a:latin typeface="Arial" panose="020B0604020202020204" pitchFamily="34" charset="0"/>
                <a:cs typeface="Arial" panose="020B0604020202020204" pitchFamily="34" charset="0"/>
              </a:rPr>
              <a:t>наукових</a:t>
            </a:r>
            <a:r>
              <a:rPr lang="ru-RU" sz="2000" dirty="0">
                <a:latin typeface="Arial" panose="020B0604020202020204" pitchFamily="34" charset="0"/>
                <a:cs typeface="Arial" panose="020B0604020202020204" pitchFamily="34" charset="0"/>
              </a:rPr>
              <a:t> </a:t>
            </a:r>
            <a:r>
              <a:rPr lang="ru-RU" sz="2000" dirty="0" err="1">
                <a:latin typeface="Arial" panose="020B0604020202020204" pitchFamily="34" charset="0"/>
                <a:cs typeface="Arial" panose="020B0604020202020204" pitchFamily="34" charset="0"/>
              </a:rPr>
              <a:t>спеціальностей</a:t>
            </a:r>
            <a:r>
              <a:rPr lang="ru-RU" sz="2000" dirty="0">
                <a:latin typeface="Arial" panose="020B0604020202020204" pitchFamily="34" charset="0"/>
                <a:cs typeface="Arial" panose="020B0604020202020204" pitchFamily="34" charset="0"/>
              </a:rPr>
              <a:t>, наказ МОН </a:t>
            </a:r>
            <a:r>
              <a:rPr lang="ru-RU" sz="2000" dirty="0" err="1">
                <a:latin typeface="Arial" panose="020B0604020202020204" pitchFamily="34" charset="0"/>
                <a:cs typeface="Arial" panose="020B0604020202020204" pitchFamily="34" charset="0"/>
              </a:rPr>
              <a:t>молоді</a:t>
            </a:r>
            <a:r>
              <a:rPr lang="ru-RU" sz="2000" dirty="0">
                <a:latin typeface="Arial" panose="020B0604020202020204" pitchFamily="34" charset="0"/>
                <a:cs typeface="Arial" panose="020B0604020202020204" pitchFamily="34" charset="0"/>
              </a:rPr>
              <a:t> та спорту </a:t>
            </a:r>
            <a:r>
              <a:rPr lang="ru-RU" sz="2000" dirty="0" err="1">
                <a:latin typeface="Arial" panose="020B0604020202020204" pitchFamily="34" charset="0"/>
                <a:cs typeface="Arial" panose="020B0604020202020204" pitchFamily="34" charset="0"/>
              </a:rPr>
              <a:t>України</a:t>
            </a:r>
            <a:r>
              <a:rPr lang="ru-RU" sz="2000" dirty="0">
                <a:latin typeface="Arial" panose="020B0604020202020204" pitchFamily="34" charset="0"/>
                <a:cs typeface="Arial" panose="020B0604020202020204" pitchFamily="34" charset="0"/>
              </a:rPr>
              <a:t> 14.09.2011  № 1057</a:t>
            </a:r>
          </a:p>
          <a:p>
            <a:pPr marL="0" indent="0">
              <a:buNone/>
            </a:pPr>
            <a:endParaRPr lang="uk-UA" sz="2000" dirty="0"/>
          </a:p>
        </p:txBody>
      </p:sp>
    </p:spTree>
    <p:extLst>
      <p:ext uri="{BB962C8B-B14F-4D97-AF65-F5344CB8AC3E}">
        <p14:creationId xmlns:p14="http://schemas.microsoft.com/office/powerpoint/2010/main" val="2595881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a:t>Премія </a:t>
            </a:r>
            <a:r>
              <a:rPr lang="ru-RU" altLang="ru-RU" dirty="0" err="1">
                <a:solidFill>
                  <a:srgbClr val="333333"/>
                </a:solidFill>
                <a:latin typeface="Arial" panose="020B0604020202020204" pitchFamily="34" charset="0"/>
                <a:cs typeface="Arial" panose="020B0604020202020204" pitchFamily="34" charset="0"/>
              </a:rPr>
              <a:t>Верховної</a:t>
            </a:r>
            <a:r>
              <a:rPr lang="ru-RU" altLang="ru-RU" dirty="0">
                <a:solidFill>
                  <a:srgbClr val="333333"/>
                </a:solidFill>
                <a:latin typeface="Arial" panose="020B0604020202020204" pitchFamily="34" charset="0"/>
                <a:cs typeface="Arial" panose="020B0604020202020204" pitchFamily="34" charset="0"/>
              </a:rPr>
              <a:t> Ради</a:t>
            </a:r>
            <a:endParaRPr lang="uk-UA" dirty="0"/>
          </a:p>
        </p:txBody>
      </p:sp>
      <p:sp>
        <p:nvSpPr>
          <p:cNvPr id="3" name="Объект 2"/>
          <p:cNvSpPr>
            <a:spLocks noGrp="1"/>
          </p:cNvSpPr>
          <p:nvPr>
            <p:ph idx="1"/>
          </p:nvPr>
        </p:nvSpPr>
        <p:spPr/>
        <p:txBody>
          <a:bodyPr>
            <a:normAutofit/>
          </a:bodyPr>
          <a:lstStyle/>
          <a:p>
            <a:pPr marL="0" indent="0">
              <a:buNone/>
            </a:pPr>
            <a:r>
              <a:rPr lang="uk-UA" sz="2800" b="0" i="0" dirty="0">
                <a:solidFill>
                  <a:srgbClr val="333333"/>
                </a:solidFill>
                <a:effectLst/>
                <a:latin typeface="+mj-lt"/>
              </a:rPr>
              <a:t>Премія щороку присуджується молодим ученим - громадянам України віком до 35 років включно, якщо вчений має вищу освіту не нижче другого (магістерського) рівня, або до 40 років включно, якщо вчений має науковий ступінь доктора наук за отримані вагомі наукові здобутки під час проведення фундаментальних та/або прикладних наукових досліджень.</a:t>
            </a:r>
            <a:endParaRPr lang="uk-UA" sz="2800" dirty="0">
              <a:latin typeface="+mj-lt"/>
            </a:endParaRPr>
          </a:p>
        </p:txBody>
      </p:sp>
    </p:spTree>
    <p:extLst>
      <p:ext uri="{BB962C8B-B14F-4D97-AF65-F5344CB8AC3E}">
        <p14:creationId xmlns:p14="http://schemas.microsoft.com/office/powerpoint/2010/main" val="18179696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uk-UA" dirty="0"/>
              <a:t>Державна реєстрація</a:t>
            </a:r>
          </a:p>
        </p:txBody>
      </p:sp>
      <p:sp>
        <p:nvSpPr>
          <p:cNvPr id="3" name="Объект 2"/>
          <p:cNvSpPr>
            <a:spLocks noGrp="1"/>
          </p:cNvSpPr>
          <p:nvPr>
            <p:ph idx="1"/>
          </p:nvPr>
        </p:nvSpPr>
        <p:spPr/>
        <p:txBody>
          <a:bodyPr/>
          <a:lstStyle/>
          <a:p>
            <a:pPr marL="0" indent="0">
              <a:buNone/>
            </a:pPr>
            <a:r>
              <a:rPr lang="uk-UA" dirty="0"/>
              <a:t>Державній реєстрації підлягають Міжнародно-технічні програми і проекти, які виконують суб’єкти наукової і науково-технічної діяльності України (далі - Виконавці/Одержувачі) та щодо яких можуть застосовуватися положення ….. Ст. 66 ЗУ « Про </a:t>
            </a:r>
            <a:r>
              <a:rPr lang="ru-RU" dirty="0" err="1"/>
              <a:t>наукову</a:t>
            </a:r>
            <a:r>
              <a:rPr lang="ru-RU" dirty="0"/>
              <a:t> і </a:t>
            </a:r>
            <a:r>
              <a:rPr lang="ru-RU" dirty="0" err="1"/>
              <a:t>науково-технічну</a:t>
            </a:r>
            <a:r>
              <a:rPr lang="ru-RU" dirty="0"/>
              <a:t> </a:t>
            </a:r>
            <a:r>
              <a:rPr lang="ru-RU" dirty="0" err="1"/>
              <a:t>діяльність</a:t>
            </a:r>
            <a:r>
              <a:rPr lang="ru-RU" b="1" dirty="0"/>
              <a:t>»</a:t>
            </a:r>
            <a:r>
              <a:rPr lang="uk-UA" dirty="0"/>
              <a:t> </a:t>
            </a:r>
          </a:p>
        </p:txBody>
      </p:sp>
    </p:spTree>
    <p:extLst>
      <p:ext uri="{BB962C8B-B14F-4D97-AF65-F5344CB8AC3E}">
        <p14:creationId xmlns:p14="http://schemas.microsoft.com/office/powerpoint/2010/main" val="32719100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uk-UA" dirty="0"/>
              <a:t>Питання для самоконтролю</a:t>
            </a:r>
          </a:p>
        </p:txBody>
      </p:sp>
      <p:sp>
        <p:nvSpPr>
          <p:cNvPr id="3" name="Объект 2"/>
          <p:cNvSpPr>
            <a:spLocks noGrp="1"/>
          </p:cNvSpPr>
          <p:nvPr>
            <p:ph idx="1"/>
          </p:nvPr>
        </p:nvSpPr>
        <p:spPr>
          <a:xfrm>
            <a:off x="395536" y="1124744"/>
            <a:ext cx="8424936" cy="5544616"/>
          </a:xfrm>
        </p:spPr>
        <p:txBody>
          <a:bodyPr>
            <a:normAutofit fontScale="62500" lnSpcReduction="20000"/>
          </a:bodyPr>
          <a:lstStyle/>
          <a:p>
            <a:pPr>
              <a:buFont typeface="Wingdings" panose="05000000000000000000" pitchFamily="2" charset="2"/>
              <a:buChar char="ü"/>
            </a:pPr>
            <a:r>
              <a:rPr lang="uk-UA" dirty="0"/>
              <a:t>Основні нормативно-правові акти які регулюють </a:t>
            </a:r>
            <a:r>
              <a:rPr lang="ru-RU" dirty="0" err="1"/>
              <a:t>наукову</a:t>
            </a:r>
            <a:r>
              <a:rPr lang="ru-RU" dirty="0"/>
              <a:t> і </a:t>
            </a:r>
            <a:r>
              <a:rPr lang="ru-RU" dirty="0" err="1"/>
              <a:t>науково-технічну</a:t>
            </a:r>
            <a:r>
              <a:rPr lang="ru-RU" dirty="0"/>
              <a:t> </a:t>
            </a:r>
            <a:r>
              <a:rPr lang="ru-RU" dirty="0" err="1"/>
              <a:t>діяльність</a:t>
            </a:r>
            <a:r>
              <a:rPr lang="uk-UA" dirty="0"/>
              <a:t> в Україні.</a:t>
            </a:r>
            <a:endParaRPr lang="ru-RU" dirty="0"/>
          </a:p>
          <a:p>
            <a:pPr>
              <a:buFont typeface="Wingdings" panose="05000000000000000000" pitchFamily="2" charset="2"/>
              <a:buChar char="ü"/>
            </a:pPr>
            <a:r>
              <a:rPr lang="uk-UA" dirty="0"/>
              <a:t>Основні завдання і об’єкти  </a:t>
            </a:r>
            <a:r>
              <a:rPr lang="uk-UA" dirty="0" err="1"/>
              <a:t>фундательтальних</a:t>
            </a:r>
            <a:r>
              <a:rPr lang="uk-UA" dirty="0"/>
              <a:t> і прикладних наукові дослідження</a:t>
            </a:r>
            <a:endParaRPr lang="ru-RU" dirty="0"/>
          </a:p>
          <a:p>
            <a:pPr>
              <a:buFont typeface="Wingdings" panose="05000000000000000000" pitchFamily="2" charset="2"/>
              <a:buChar char="ü"/>
            </a:pPr>
            <a:r>
              <a:rPr lang="uk-UA" dirty="0"/>
              <a:t>Від чого залежать особливості і можливості фінансування в Україні?</a:t>
            </a:r>
            <a:endParaRPr lang="ru-RU" dirty="0"/>
          </a:p>
          <a:p>
            <a:pPr>
              <a:buFont typeface="Wingdings" panose="05000000000000000000" pitchFamily="2" charset="2"/>
              <a:buChar char="ü"/>
            </a:pPr>
            <a:r>
              <a:rPr lang="uk-UA" dirty="0"/>
              <a:t>Вікові вимоги до молодих вчених.</a:t>
            </a:r>
            <a:endParaRPr lang="ru-RU" dirty="0"/>
          </a:p>
          <a:p>
            <a:pPr>
              <a:buFont typeface="Wingdings" panose="05000000000000000000" pitchFamily="2" charset="2"/>
              <a:buChar char="ü"/>
            </a:pPr>
            <a:r>
              <a:rPr lang="uk-UA" dirty="0"/>
              <a:t>Поняття: </a:t>
            </a:r>
            <a:r>
              <a:rPr lang="ru-RU" dirty="0" err="1"/>
              <a:t>наукова</a:t>
            </a:r>
            <a:r>
              <a:rPr lang="ru-RU" dirty="0"/>
              <a:t> (</a:t>
            </a:r>
            <a:r>
              <a:rPr lang="ru-RU" dirty="0" err="1"/>
              <a:t>науково-технічна</a:t>
            </a:r>
            <a:r>
              <a:rPr lang="ru-RU" dirty="0"/>
              <a:t>) </a:t>
            </a:r>
            <a:r>
              <a:rPr lang="ru-RU" dirty="0" err="1"/>
              <a:t>продукція</a:t>
            </a:r>
            <a:r>
              <a:rPr lang="uk-UA" dirty="0"/>
              <a:t>, </a:t>
            </a:r>
            <a:r>
              <a:rPr lang="ru-RU" dirty="0" err="1"/>
              <a:t>наукова</a:t>
            </a:r>
            <a:r>
              <a:rPr lang="ru-RU" dirty="0"/>
              <a:t> (</a:t>
            </a:r>
            <a:r>
              <a:rPr lang="ru-RU" dirty="0" err="1"/>
              <a:t>науково-технічна</a:t>
            </a:r>
            <a:r>
              <a:rPr lang="ru-RU" dirty="0"/>
              <a:t>) робота</a:t>
            </a:r>
            <a:r>
              <a:rPr lang="uk-UA" dirty="0"/>
              <a:t>, </a:t>
            </a:r>
            <a:r>
              <a:rPr lang="ru-RU" dirty="0" err="1"/>
              <a:t>науковий</a:t>
            </a:r>
            <a:r>
              <a:rPr lang="ru-RU" dirty="0"/>
              <a:t> (</a:t>
            </a:r>
            <a:r>
              <a:rPr lang="ru-RU" dirty="0" err="1"/>
              <a:t>науково-технічний</a:t>
            </a:r>
            <a:r>
              <a:rPr lang="ru-RU" dirty="0"/>
              <a:t>)</a:t>
            </a:r>
            <a:r>
              <a:rPr lang="uk-UA" dirty="0"/>
              <a:t>, </a:t>
            </a:r>
            <a:r>
              <a:rPr lang="ru-RU" dirty="0" err="1"/>
              <a:t>науковий</a:t>
            </a:r>
            <a:r>
              <a:rPr lang="ru-RU" dirty="0"/>
              <a:t> результат</a:t>
            </a:r>
            <a:r>
              <a:rPr lang="uk-UA" dirty="0"/>
              <a:t>, </a:t>
            </a:r>
            <a:r>
              <a:rPr lang="ru-RU" dirty="0" err="1"/>
              <a:t>науково-технічний</a:t>
            </a:r>
            <a:r>
              <a:rPr lang="ru-RU" dirty="0"/>
              <a:t> (</a:t>
            </a:r>
            <a:r>
              <a:rPr lang="ru-RU" dirty="0" err="1"/>
              <a:t>прикладний</a:t>
            </a:r>
            <a:r>
              <a:rPr lang="ru-RU" dirty="0"/>
              <a:t>) результат</a:t>
            </a:r>
            <a:r>
              <a:rPr lang="uk-UA" dirty="0"/>
              <a:t>, </a:t>
            </a:r>
            <a:r>
              <a:rPr lang="ru-RU" dirty="0" err="1"/>
              <a:t>науково-технічні</a:t>
            </a:r>
            <a:r>
              <a:rPr lang="ru-RU" dirty="0"/>
              <a:t> (</a:t>
            </a:r>
            <a:r>
              <a:rPr lang="ru-RU" dirty="0" err="1"/>
              <a:t>експериментальні</a:t>
            </a:r>
            <a:r>
              <a:rPr lang="ru-RU" dirty="0"/>
              <a:t>) </a:t>
            </a:r>
            <a:r>
              <a:rPr lang="ru-RU" dirty="0" err="1"/>
              <a:t>розробки</a:t>
            </a:r>
            <a:r>
              <a:rPr lang="uk-UA" dirty="0"/>
              <a:t>.</a:t>
            </a:r>
            <a:endParaRPr lang="ru-RU" dirty="0"/>
          </a:p>
          <a:p>
            <a:pPr>
              <a:buFont typeface="Wingdings" panose="05000000000000000000" pitchFamily="2" charset="2"/>
              <a:buChar char="ü"/>
            </a:pPr>
            <a:r>
              <a:rPr lang="uk-UA" dirty="0"/>
              <a:t>Джерела ф</a:t>
            </a:r>
            <a:r>
              <a:rPr lang="ru-RU" dirty="0" err="1"/>
              <a:t>інансов</a:t>
            </a:r>
            <a:r>
              <a:rPr lang="uk-UA" dirty="0" err="1"/>
              <a:t>ого</a:t>
            </a:r>
            <a:r>
              <a:rPr lang="ru-RU" dirty="0"/>
              <a:t> </a:t>
            </a:r>
            <a:r>
              <a:rPr lang="ru-RU" dirty="0" err="1"/>
              <a:t>забезпечення</a:t>
            </a:r>
            <a:r>
              <a:rPr lang="ru-RU" dirty="0"/>
              <a:t> </a:t>
            </a:r>
            <a:r>
              <a:rPr lang="ru-RU" dirty="0" err="1"/>
              <a:t>наукової</a:t>
            </a:r>
            <a:r>
              <a:rPr lang="ru-RU" dirty="0"/>
              <a:t> і </a:t>
            </a:r>
            <a:r>
              <a:rPr lang="ru-RU" dirty="0" err="1"/>
              <a:t>науково-технічної</a:t>
            </a:r>
            <a:r>
              <a:rPr lang="ru-RU" dirty="0"/>
              <a:t> </a:t>
            </a:r>
            <a:r>
              <a:rPr lang="ru-RU" dirty="0" err="1"/>
              <a:t>діяльності</a:t>
            </a:r>
            <a:r>
              <a:rPr lang="uk-UA" dirty="0"/>
              <a:t> в Україні.</a:t>
            </a:r>
            <a:endParaRPr lang="ru-RU" dirty="0"/>
          </a:p>
          <a:p>
            <a:pPr>
              <a:buFont typeface="Wingdings" panose="05000000000000000000" pitchFamily="2" charset="2"/>
              <a:buChar char="ü"/>
            </a:pPr>
            <a:r>
              <a:rPr lang="uk-UA" dirty="0"/>
              <a:t>Поняття «пріоритетні напрями розвитку науки і техніки»,  «</a:t>
            </a:r>
            <a:r>
              <a:rPr lang="ru-RU" dirty="0" err="1"/>
              <a:t>пріоритетні</a:t>
            </a:r>
            <a:r>
              <a:rPr lang="ru-RU" dirty="0"/>
              <a:t> </a:t>
            </a:r>
            <a:r>
              <a:rPr lang="ru-RU" dirty="0" err="1"/>
              <a:t>тематичні</a:t>
            </a:r>
            <a:r>
              <a:rPr lang="ru-RU" dirty="0"/>
              <a:t> </a:t>
            </a:r>
            <a:r>
              <a:rPr lang="ru-RU" dirty="0" err="1"/>
              <a:t>напрями</a:t>
            </a:r>
            <a:r>
              <a:rPr lang="ru-RU" dirty="0"/>
              <a:t> </a:t>
            </a:r>
            <a:r>
              <a:rPr lang="ru-RU" dirty="0" err="1"/>
              <a:t>наукових</a:t>
            </a:r>
            <a:r>
              <a:rPr lang="ru-RU" dirty="0"/>
              <a:t> </a:t>
            </a:r>
            <a:r>
              <a:rPr lang="ru-RU" dirty="0" err="1"/>
              <a:t>досліджень</a:t>
            </a:r>
            <a:r>
              <a:rPr lang="ru-RU" dirty="0"/>
              <a:t> і </a:t>
            </a:r>
            <a:r>
              <a:rPr lang="ru-RU" dirty="0" err="1"/>
              <a:t>науково-технічних</a:t>
            </a:r>
            <a:r>
              <a:rPr lang="ru-RU" dirty="0"/>
              <a:t> </a:t>
            </a:r>
            <a:r>
              <a:rPr lang="ru-RU" dirty="0" err="1"/>
              <a:t>розробок</a:t>
            </a:r>
            <a:r>
              <a:rPr lang="uk-UA" dirty="0"/>
              <a:t>».</a:t>
            </a:r>
            <a:endParaRPr lang="ru-RU" dirty="0"/>
          </a:p>
          <a:p>
            <a:pPr>
              <a:buFont typeface="Wingdings" panose="05000000000000000000" pitchFamily="2" charset="2"/>
              <a:buChar char="ü"/>
            </a:pPr>
            <a:r>
              <a:rPr lang="ru-RU" dirty="0" err="1"/>
              <a:t>Пріоритетн</a:t>
            </a:r>
            <a:r>
              <a:rPr lang="uk-UA" dirty="0"/>
              <a:t>і</a:t>
            </a:r>
            <a:r>
              <a:rPr lang="ru-RU" dirty="0"/>
              <a:t> </a:t>
            </a:r>
            <a:r>
              <a:rPr lang="ru-RU" dirty="0" err="1"/>
              <a:t>напрям</a:t>
            </a:r>
            <a:r>
              <a:rPr lang="uk-UA" dirty="0"/>
              <a:t>и</a:t>
            </a:r>
            <a:r>
              <a:rPr lang="ru-RU" dirty="0" err="1"/>
              <a:t>розвитку</a:t>
            </a:r>
            <a:r>
              <a:rPr lang="ru-RU" dirty="0"/>
              <a:t> науки і </a:t>
            </a:r>
            <a:r>
              <a:rPr lang="ru-RU" dirty="0" err="1"/>
              <a:t>техніки</a:t>
            </a:r>
            <a:r>
              <a:rPr lang="ru-RU" dirty="0"/>
              <a:t> в </a:t>
            </a:r>
            <a:r>
              <a:rPr lang="ru-RU" dirty="0" err="1"/>
              <a:t>Україні</a:t>
            </a:r>
            <a:r>
              <a:rPr lang="ru-RU" dirty="0"/>
              <a:t>  на </a:t>
            </a:r>
            <a:r>
              <a:rPr lang="ru-RU" dirty="0" err="1"/>
              <a:t>період</a:t>
            </a:r>
            <a:r>
              <a:rPr lang="ru-RU" dirty="0"/>
              <a:t> до 2021 року</a:t>
            </a:r>
            <a:r>
              <a:rPr lang="uk-UA" dirty="0"/>
              <a:t>.</a:t>
            </a:r>
            <a:endParaRPr lang="ru-RU" dirty="0"/>
          </a:p>
          <a:p>
            <a:pPr>
              <a:buFont typeface="Wingdings" panose="05000000000000000000" pitchFamily="2" charset="2"/>
              <a:buChar char="ü"/>
            </a:pPr>
            <a:r>
              <a:rPr lang="ru-RU" dirty="0" err="1"/>
              <a:t>Класифікація</a:t>
            </a:r>
            <a:r>
              <a:rPr lang="ru-RU" dirty="0"/>
              <a:t> </a:t>
            </a:r>
            <a:r>
              <a:rPr lang="ru-RU" dirty="0" err="1"/>
              <a:t>державних</a:t>
            </a:r>
            <a:r>
              <a:rPr lang="ru-RU" dirty="0"/>
              <a:t> </a:t>
            </a:r>
            <a:r>
              <a:rPr lang="ru-RU" dirty="0" err="1"/>
              <a:t>цільових</a:t>
            </a:r>
            <a:r>
              <a:rPr lang="ru-RU" dirty="0"/>
              <a:t> </a:t>
            </a:r>
            <a:r>
              <a:rPr lang="ru-RU" dirty="0" err="1"/>
              <a:t>програм</a:t>
            </a:r>
            <a:r>
              <a:rPr lang="uk-UA" dirty="0"/>
              <a:t>.</a:t>
            </a:r>
            <a:endParaRPr lang="ru-RU" dirty="0"/>
          </a:p>
          <a:p>
            <a:endParaRPr lang="uk-UA" dirty="0"/>
          </a:p>
        </p:txBody>
      </p:sp>
    </p:spTree>
    <p:extLst>
      <p:ext uri="{BB962C8B-B14F-4D97-AF65-F5344CB8AC3E}">
        <p14:creationId xmlns:p14="http://schemas.microsoft.com/office/powerpoint/2010/main" val="305466398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21237</TotalTime>
  <Words>2191</Words>
  <Application>Microsoft Office PowerPoint</Application>
  <PresentationFormat>Екран (4:3)</PresentationFormat>
  <Paragraphs>150</Paragraphs>
  <Slides>27</Slides>
  <Notes>0</Notes>
  <HiddenSlides>0</HiddenSlides>
  <MMClips>0</MMClips>
  <ScaleCrop>false</ScaleCrop>
  <HeadingPairs>
    <vt:vector size="6" baseType="variant">
      <vt:variant>
        <vt:lpstr>Використані шрифти</vt:lpstr>
      </vt:variant>
      <vt:variant>
        <vt:i4>4</vt:i4>
      </vt:variant>
      <vt:variant>
        <vt:lpstr>Тема</vt:lpstr>
      </vt:variant>
      <vt:variant>
        <vt:i4>1</vt:i4>
      </vt:variant>
      <vt:variant>
        <vt:lpstr>Заголовки слайдів</vt:lpstr>
      </vt:variant>
      <vt:variant>
        <vt:i4>27</vt:i4>
      </vt:variant>
    </vt:vector>
  </HeadingPairs>
  <TitlesOfParts>
    <vt:vector size="32" baseType="lpstr">
      <vt:lpstr>Arial</vt:lpstr>
      <vt:lpstr>Calibri</vt:lpstr>
      <vt:lpstr>Times New Roman</vt:lpstr>
      <vt:lpstr>Wingdings</vt:lpstr>
      <vt:lpstr>Тема Office</vt:lpstr>
      <vt:lpstr>Законодавче регулювання  наукової і науково-технічної діяльності</vt:lpstr>
      <vt:lpstr>Закони України </vt:lpstr>
      <vt:lpstr>Інші нормативно-правові акти</vt:lpstr>
      <vt:lpstr>Про затвердження положень про премії та стипендії Верховної Ради України, Постанова ВРУ № 4712-IX, 4 грудня 2025 року</vt:lpstr>
      <vt:lpstr>Основні терміни та визначення</vt:lpstr>
      <vt:lpstr>Прикладні наукові дослідження </vt:lpstr>
      <vt:lpstr>Фундаментальні наукові дослідження </vt:lpstr>
      <vt:lpstr> Основні терміни та визначення</vt:lpstr>
      <vt:lpstr>Основні терміни та визначення</vt:lpstr>
      <vt:lpstr>Основні терміни та визначення</vt:lpstr>
      <vt:lpstr>Основні терміни та визначення</vt:lpstr>
      <vt:lpstr>Основні терміни та визначення</vt:lpstr>
      <vt:lpstr>Основні терміни та визначення</vt:lpstr>
      <vt:lpstr>Фінансове забезпечення наукової і науково-технічної діяльності</vt:lpstr>
      <vt:lpstr>Фінансове забезпечення наукової і науково-технічної діяльності</vt:lpstr>
      <vt:lpstr>Презентація PowerPoint</vt:lpstr>
      <vt:lpstr>Пріоритетні напрями розвитку науки і техніки в Україні</vt:lpstr>
      <vt:lpstr>Пріоритетні напрями розвитку науки і техніки</vt:lpstr>
      <vt:lpstr>Формування пріоритетних напрямів розвитку науки і техніки</vt:lpstr>
      <vt:lpstr>Особливості і можливості фінансування</vt:lpstr>
      <vt:lpstr>Класифікація державних цільових програм</vt:lpstr>
      <vt:lpstr>Класифікація державних цільових програм</vt:lpstr>
      <vt:lpstr>Презентація PowerPoint</vt:lpstr>
      <vt:lpstr>Презентація PowerPoint</vt:lpstr>
      <vt:lpstr>Премія Верховної Ради</vt:lpstr>
      <vt:lpstr>Державна реєстрація</vt:lpstr>
      <vt:lpstr>Питання для самоконтролю</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Особливо цінні землі</dc:title>
  <dc:creator>Пользователь Windows</dc:creator>
  <cp:lastModifiedBy>Ольга Петраковская</cp:lastModifiedBy>
  <cp:revision>64</cp:revision>
  <dcterms:created xsi:type="dcterms:W3CDTF">2018-03-26T02:25:57Z</dcterms:created>
  <dcterms:modified xsi:type="dcterms:W3CDTF">2026-03-09T15:52:12Z</dcterms:modified>
</cp:coreProperties>
</file>
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5"/>
  </p:notesMasterIdLst>
  <p:sldIdLst>
    <p:sldId id="290" r:id="rId2"/>
    <p:sldId id="313" r:id="rId3"/>
    <p:sldId id="311" r:id="rId4"/>
    <p:sldId id="308" r:id="rId5"/>
    <p:sldId id="315" r:id="rId6"/>
    <p:sldId id="328" r:id="rId7"/>
    <p:sldId id="329" r:id="rId8"/>
    <p:sldId id="318" r:id="rId9"/>
    <p:sldId id="316" r:id="rId10"/>
    <p:sldId id="331" r:id="rId11"/>
    <p:sldId id="332" r:id="rId12"/>
    <p:sldId id="330" r:id="rId13"/>
    <p:sldId id="32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529F4-2B0E-4619-B84E-5568686C433D}" type="datetimeFigureOut">
              <a:rPr lang="uk-UA" smtClean="0"/>
              <a:t>22.04.2026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63AFD-0BB5-4C9E-856D-5E7CCEDFF90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0402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5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5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6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9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1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19636-6B6E-4C95-85C1-294833B009B9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15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daad-ukraine.or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ad-ukraine.org/uk/propozitsiyi-finansovoyi-pidtrimki/stipendialna-baza-danih-daad/stipendien-datenbank-uk/" TargetMode="External"/><Relationship Id="rId2" Type="http://schemas.openxmlformats.org/officeDocument/2006/relationships/hyperlink" Target="https://www.daad-ukraine.org/uk/poshuk-stipendij/inshi-fondy-ta-organizatsiy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egradfund.org/about-us/the-fund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egradfund.org/apply/grants/" TargetMode="External"/><Relationship Id="rId2" Type="http://schemas.openxmlformats.org/officeDocument/2006/relationships/hyperlink" Target="https://www.visegradfund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764704"/>
            <a:ext cx="8064896" cy="2376264"/>
          </a:xfrm>
        </p:spPr>
        <p:txBody>
          <a:bodyPr>
            <a:normAutofit/>
          </a:bodyPr>
          <a:lstStyle/>
          <a:p>
            <a:r>
              <a:rPr lang="en-US" b="1" dirty="0" smtClean="0"/>
              <a:t>DAAD, </a:t>
            </a:r>
            <a:r>
              <a:rPr lang="en-US" b="1" dirty="0" err="1" smtClean="0"/>
              <a:t>Vishegrad</a:t>
            </a:r>
            <a:endParaRPr lang="uk-UA" sz="3600" b="1" dirty="0">
              <a:solidFill>
                <a:schemeClr val="tx1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44442" y="4221088"/>
            <a:ext cx="8208962" cy="1836738"/>
          </a:xfrm>
          <a:prstGeom prst="rect">
            <a:avLst/>
          </a:prstGeom>
        </p:spPr>
        <p:txBody>
          <a:bodyPr anchor="b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ДЛЯ АСПІРАНТІВ КНУБА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ДИСЦИПЛІНА: </a:t>
            </a:r>
            <a:r>
              <a:rPr lang="ru-RU" sz="2000" cap="all" dirty="0" err="1"/>
              <a:t>Фінансування</a:t>
            </a:r>
            <a:r>
              <a:rPr lang="ru-RU" sz="2000" cap="all" dirty="0"/>
              <a:t> </a:t>
            </a:r>
            <a:r>
              <a:rPr lang="ru-RU" sz="2000" cap="all" dirty="0" err="1"/>
              <a:t>наукових</a:t>
            </a:r>
            <a:r>
              <a:rPr lang="ru-RU" sz="2000" cap="all" dirty="0"/>
              <a:t> </a:t>
            </a:r>
            <a:r>
              <a:rPr lang="ru-RU" sz="2000" cap="all" dirty="0" err="1"/>
              <a:t>досліджень</a:t>
            </a:r>
            <a:r>
              <a:rPr lang="ru-RU" sz="2000" cap="all" dirty="0"/>
              <a:t>, </a:t>
            </a:r>
            <a:r>
              <a:rPr lang="ru-RU" sz="2000" cap="all" dirty="0" err="1"/>
              <a:t>грантова</a:t>
            </a:r>
            <a:r>
              <a:rPr lang="ru-RU" sz="2000" cap="all" dirty="0"/>
              <a:t> </a:t>
            </a:r>
            <a:r>
              <a:rPr lang="ru-RU" sz="2000" cap="all" dirty="0" err="1" smtClean="0"/>
              <a:t>діяльність</a:t>
            </a:r>
            <a:endParaRPr lang="ru-RU" sz="2000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КУРС: 1,2</a:t>
            </a:r>
          </a:p>
          <a:p>
            <a:pPr fontAlgn="auto">
              <a:spcAft>
                <a:spcPts val="0"/>
              </a:spcAft>
              <a:defRPr/>
            </a:pPr>
            <a:r>
              <a:rPr lang="uk-UA" sz="2000" cap="all" dirty="0" smtClean="0"/>
              <a:t>ВИКЛАДАЧ: К.Т.Н., ДОЦЕНТ МИХАЛЬОВА МАРІЯ ЮРІЇВНА</a:t>
            </a:r>
            <a:endParaRPr lang="en-US" sz="2000" cap="all" dirty="0" smtClean="0"/>
          </a:p>
          <a:p>
            <a:pPr fontAlgn="auto">
              <a:spcAft>
                <a:spcPts val="0"/>
              </a:spcAft>
              <a:defRPr/>
            </a:pPr>
            <a:endParaRPr lang="uk-UA" sz="2000" b="1" cap="all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000" b="1" cap="all" dirty="0" smtClean="0"/>
              <a:t>Mykhalova.myu@knuba.edu.ua</a:t>
            </a:r>
            <a:endParaRPr lang="ru-RU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64123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3"/>
    </mc:Choice>
    <mc:Fallback xmlns="">
      <p:transition spd="slow" advTm="590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Інформаційний</a:t>
            </a:r>
            <a:r>
              <a:rPr lang="ru-RU" b="1" dirty="0"/>
              <a:t> центр DAAD у </a:t>
            </a:r>
            <a:r>
              <a:rPr lang="ru-RU" b="1" dirty="0" err="1"/>
              <a:t>Києві</a:t>
            </a: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b="1" dirty="0"/>
              <a:t>Адреса: </a:t>
            </a:r>
            <a:r>
              <a:rPr lang="ru-RU" dirty="0" err="1"/>
              <a:t>Німецько-Українська</a:t>
            </a:r>
            <a:r>
              <a:rPr lang="ru-RU" dirty="0"/>
              <a:t> </a:t>
            </a:r>
            <a:r>
              <a:rPr lang="ru-RU" dirty="0" err="1"/>
              <a:t>промислово-торговельна</a:t>
            </a:r>
            <a:r>
              <a:rPr lang="ru-RU" dirty="0"/>
              <a:t> палата (AHK </a:t>
            </a:r>
            <a:r>
              <a:rPr lang="ru-RU" dirty="0" err="1"/>
              <a:t>Ukraine</a:t>
            </a:r>
            <a:r>
              <a:rPr lang="ru-RU" dirty="0"/>
              <a:t>)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вул</a:t>
            </a:r>
            <a:r>
              <a:rPr lang="ru-RU" dirty="0"/>
              <a:t>. Антоновича, </a:t>
            </a:r>
            <a:r>
              <a:rPr lang="ru-RU" dirty="0" smtClean="0"/>
              <a:t>18</a:t>
            </a:r>
            <a:endParaRPr lang="en-US" dirty="0" smtClean="0"/>
          </a:p>
          <a:p>
            <a:endParaRPr lang="en-US" b="1" dirty="0"/>
          </a:p>
          <a:p>
            <a:r>
              <a:rPr lang="en-GB" b="1" dirty="0" smtClean="0"/>
              <a:t>E-Mail</a:t>
            </a:r>
            <a:r>
              <a:rPr lang="en-GB" b="1" dirty="0"/>
              <a:t>: </a:t>
            </a:r>
            <a:r>
              <a:rPr lang="en-GB" dirty="0">
                <a:hlinkClick r:id="rId2"/>
              </a:rPr>
              <a:t>infodaad-ukraine.org</a:t>
            </a:r>
            <a:endParaRPr lang="en-GB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4105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https://www.daad-ukraine.org/uk/poshuk-stipendij/inshi-fondy-ta-organizatsiyi</a:t>
            </a:r>
            <a:r>
              <a:rPr lang="en-GB" dirty="0" smtClean="0">
                <a:hlinkClick r:id="rId2"/>
              </a:rPr>
              <a:t>/</a:t>
            </a:r>
            <a:endParaRPr lang="en-GB" dirty="0" smtClean="0"/>
          </a:p>
          <a:p>
            <a:r>
              <a:rPr lang="en-GB" dirty="0">
                <a:hlinkClick r:id="rId3"/>
              </a:rPr>
              <a:t>https://www.daad-ukraine.org/uk/propozitsiyi-finansovoyi-pidtrimki/stipendialna-baza-danih-daad/stipendien-datenbank-uk</a:t>
            </a:r>
            <a:r>
              <a:rPr lang="en-GB" dirty="0" smtClean="0">
                <a:hlinkClick r:id="rId3"/>
              </a:rPr>
              <a:t>/</a:t>
            </a:r>
            <a:r>
              <a:rPr lang="en-GB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8351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Grants – Short-Term Grants • DAAD</a:t>
            </a:r>
            <a:br>
              <a:rPr lang="en-US" b="1" dirty="0"/>
            </a:br>
            <a:endParaRPr lang="uk-UA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  <p:sp>
        <p:nvSpPr>
          <p:cNvPr id="6" name="Стрелка вниз 5"/>
          <p:cNvSpPr/>
          <p:nvPr/>
        </p:nvSpPr>
        <p:spPr>
          <a:xfrm>
            <a:off x="6084168" y="1772816"/>
            <a:ext cx="1224136" cy="151216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881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Info for PhD students</a:t>
            </a:r>
            <a:br>
              <a:rPr lang="en-GB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http://www.research-in-germany.org/en/jobs-and-careers/info-for-phd-students.html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948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Стипендіальна</a:t>
            </a:r>
            <a:r>
              <a:rPr lang="ru-RU" dirty="0"/>
              <a:t> база </a:t>
            </a:r>
            <a:r>
              <a:rPr lang="ru-RU" dirty="0" err="1"/>
              <a:t>даних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https://www.daad-ukraine.org/uk/poshuk-stipendij/stipendialna-baza-danih-daad/stipendialna-baza-danih/?type=a&amp;origin=17&amp;target=17&amp;status=4&amp;intention=2&amp;subject=F&amp;q=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84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https://www.daad-ukraine.org/uk/poshuk-stipendij/stipendialna-baza-danih-daad/stipendialna-baza-danih/?type=a&amp;q=&amp;status=4&amp;subject=F&amp;onlydaad=0&amp;detail_to_show=0&amp;target=17&amp;origin=17&amp;pg=1&amp;tab=&amp;intention=2&amp;detail_to_show=57742121#apply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606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err="1">
                <a:hlinkClick r:id="rId2"/>
              </a:rPr>
              <a:t>Visegrad</a:t>
            </a:r>
            <a:r>
              <a:rPr lang="en-GB" b="1" dirty="0">
                <a:hlinkClick r:id="rId2"/>
              </a:rPr>
              <a:t> Fund</a:t>
            </a:r>
            <a:r>
              <a:rPr lang="en-GB" dirty="0"/>
              <a:t/>
            </a:r>
            <a:br>
              <a:rPr lang="en-GB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https://www.visegradfund.org/about-us/the-fund/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912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GB" dirty="0">
                <a:hlinkClick r:id="rId2"/>
              </a:rPr>
              <a:t>https://www.visegradfund.org/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Grants</a:t>
            </a:r>
            <a:endParaRPr lang="en-GB" b="1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https://www.visegradfund.org/apply/grants</a:t>
            </a:r>
            <a:r>
              <a:rPr lang="en-GB" dirty="0" smtClean="0">
                <a:hlinkClick r:id="rId3"/>
              </a:rPr>
              <a:t>/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Mobility</a:t>
            </a:r>
          </a:p>
          <a:p>
            <a:pPr marL="0" indent="0">
              <a:buNone/>
            </a:pPr>
            <a:r>
              <a:rPr lang="en-GB" dirty="0"/>
              <a:t>https://www.visegradfund.org/apply/mobilities/</a:t>
            </a:r>
            <a:br>
              <a:rPr lang="en-GB" dirty="0"/>
            </a:b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15102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b="1" dirty="0"/>
              <a:t>Visegrad Fellowship Program</a:t>
            </a:r>
            <a:br>
              <a:rPr lang="pl-PL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https://www.visegradfund.org/visegrad-fellowship-program-apply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19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https://americancouncils.org.ua/en/programs/bridgeusa-uafp/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00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Portal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https://my.visegradfund.org/Account/Login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91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Питання для самоконтролю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 smtClean="0"/>
              <a:t>1. </a:t>
            </a:r>
            <a:r>
              <a:rPr lang="uk-UA" b="1" dirty="0"/>
              <a:t>Гранти </a:t>
            </a:r>
            <a:r>
              <a:rPr lang="uk-UA" b="1" dirty="0" err="1"/>
              <a:t>Visegrad</a:t>
            </a:r>
            <a:r>
              <a:rPr lang="uk-UA" b="1" dirty="0"/>
              <a:t>+, які  </a:t>
            </a:r>
            <a:r>
              <a:rPr lang="uk-UA" dirty="0"/>
              <a:t>призначені для розвитку партнерських відносин між регіоном V4 та </a:t>
            </a:r>
            <a:r>
              <a:rPr lang="uk-UA" dirty="0" err="1"/>
              <a:t>EaP</a:t>
            </a:r>
            <a:r>
              <a:rPr lang="uk-UA" dirty="0"/>
              <a:t> можуть надаватися </a:t>
            </a:r>
            <a:r>
              <a:rPr lang="uk-UA" dirty="0" err="1"/>
              <a:t>проєктам</a:t>
            </a:r>
            <a:r>
              <a:rPr lang="uk-UA" dirty="0"/>
              <a:t>, в яких беруть участь </a:t>
            </a:r>
            <a:r>
              <a:rPr lang="uk-UA" dirty="0" smtClean="0"/>
              <a:t>суб’єкти</a:t>
            </a:r>
          </a:p>
          <a:p>
            <a:r>
              <a:rPr lang="ru-RU" dirty="0"/>
              <a:t>Процедура </a:t>
            </a:r>
            <a:r>
              <a:rPr lang="ru-RU" dirty="0" err="1"/>
              <a:t>подання</a:t>
            </a:r>
            <a:r>
              <a:rPr lang="ru-RU" dirty="0"/>
              <a:t> заявки</a:t>
            </a:r>
            <a:r>
              <a:rPr lang="en-US" dirty="0"/>
              <a:t> Research Grants – Short-Term Grants, DAAD </a:t>
            </a:r>
            <a:r>
              <a:rPr lang="ru-RU" dirty="0" err="1"/>
              <a:t>відбувається</a:t>
            </a:r>
            <a:r>
              <a:rPr lang="ru-RU" dirty="0"/>
              <a:t> </a:t>
            </a:r>
            <a:endParaRPr lang="ru-RU" dirty="0" smtClean="0"/>
          </a:p>
          <a:p>
            <a:r>
              <a:rPr lang="uk-UA" dirty="0"/>
              <a:t>Міжнародний Вишеградський фонд - це донорська організація, заснована у 2000 році урядами країн Вишеградської групи (V4</a:t>
            </a:r>
            <a:r>
              <a:rPr lang="uk-UA" dirty="0" smtClean="0"/>
              <a:t>)</a:t>
            </a:r>
          </a:p>
          <a:p>
            <a:r>
              <a:rPr lang="uk-UA" smtClean="0"/>
              <a:t>Подавати </a:t>
            </a:r>
            <a:r>
              <a:rPr lang="uk-UA" dirty="0"/>
              <a:t>заяву на фінансування до DAAD може лише</a:t>
            </a:r>
          </a:p>
        </p:txBody>
      </p:sp>
    </p:spTree>
    <p:extLst>
      <p:ext uri="{BB962C8B-B14F-4D97-AF65-F5344CB8AC3E}">
        <p14:creationId xmlns:p14="http://schemas.microsoft.com/office/powerpoint/2010/main" val="1988125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13505</TotalTime>
  <Words>171</Words>
  <Application>Microsoft Office PowerPoint</Application>
  <PresentationFormat>Экран (4:3)</PresentationFormat>
  <Paragraphs>36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DAAD, Vishegrad</vt:lpstr>
      <vt:lpstr>Інформаційний центр DAAD у Києві </vt:lpstr>
      <vt:lpstr>Презентация PowerPoint</vt:lpstr>
      <vt:lpstr>Research Grants – Short-Term Grants • DAAD </vt:lpstr>
      <vt:lpstr>Info for PhD students </vt:lpstr>
      <vt:lpstr>Стипендіальна база даних </vt:lpstr>
      <vt:lpstr>Презентация PowerPoint</vt:lpstr>
      <vt:lpstr>Visegrad Fund </vt:lpstr>
      <vt:lpstr>https://www.visegradfund.org/</vt:lpstr>
      <vt:lpstr>Visegrad Fellowship Program </vt:lpstr>
      <vt:lpstr>Презентация PowerPoint</vt:lpstr>
      <vt:lpstr>Portal </vt:lpstr>
      <vt:lpstr>Питання для самоконтролю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Особливо цінні землі</dc:title>
  <dc:creator>Пользователь Windows</dc:creator>
  <cp:lastModifiedBy>111</cp:lastModifiedBy>
  <cp:revision>103</cp:revision>
  <dcterms:created xsi:type="dcterms:W3CDTF">2018-03-26T02:25:57Z</dcterms:created>
  <dcterms:modified xsi:type="dcterms:W3CDTF">2026-04-22T14:18:38Z</dcterms:modified>
</cp:coreProperties>
</file>
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90" r:id="rId2"/>
    <p:sldId id="271" r:id="rId3"/>
    <p:sldId id="301" r:id="rId4"/>
    <p:sldId id="292" r:id="rId5"/>
    <p:sldId id="293" r:id="rId6"/>
    <p:sldId id="302" r:id="rId7"/>
    <p:sldId id="294" r:id="rId8"/>
    <p:sldId id="297" r:id="rId9"/>
    <p:sldId id="303" r:id="rId10"/>
    <p:sldId id="304" r:id="rId11"/>
    <p:sldId id="305" r:id="rId12"/>
    <p:sldId id="306" r:id="rId13"/>
    <p:sldId id="29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86" autoAdjust="0"/>
  </p:normalViewPr>
  <p:slideViewPr>
    <p:cSldViewPr>
      <p:cViewPr varScale="1">
        <p:scale>
          <a:sx n="83" d="100"/>
          <a:sy n="83" d="100"/>
        </p:scale>
        <p:origin x="145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02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95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55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86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65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46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71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12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89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9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61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19636-6B6E-4C95-85C1-294833B009B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15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atonprize.gov.ua/president-awar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zakon.rada.gov.ua/laws/show/582-94-%D0%BF#Text" TargetMode="External"/><Relationship Id="rId2" Type="http://schemas.openxmlformats.org/officeDocument/2006/relationships/hyperlink" Target="https://patonprize.gov.ua/stipendiyi-prezidenta-ukrayini-dlya-molodix-vcenix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tonprize.gov.ua/stipendiyi-kabinetu-ministriv-ukrayini-dlya-molodix-vcenix/poryadok-scolarship-kab-min" TargetMode="External"/><Relationship Id="rId2" Type="http://schemas.openxmlformats.org/officeDocument/2006/relationships/hyperlink" Target="https://patonprize.gov.ua/stipendiyi-kabinetu-ministriv-ukrayini-dlya-molodix-vceni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ms.kyivcity.gov.ua/content/premiya-kyivskogo-miskogo-golovy-za-osoblyvi-dosyagnennya-molodi-u-rozbudovi-stolyci-ukrainy--mistageroya-kyieva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764704"/>
            <a:ext cx="8064896" cy="2376264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Пошук</a:t>
            </a:r>
            <a:r>
              <a:rPr lang="ru-RU" b="1" dirty="0"/>
              <a:t> </a:t>
            </a:r>
            <a:r>
              <a:rPr lang="ru-RU" b="1" dirty="0" err="1"/>
              <a:t>джерел</a:t>
            </a:r>
            <a:r>
              <a:rPr lang="ru-RU" b="1" dirty="0"/>
              <a:t> </a:t>
            </a:r>
            <a:r>
              <a:rPr lang="ru-RU" b="1" dirty="0" err="1"/>
              <a:t>фінансування</a:t>
            </a:r>
            <a:r>
              <a:rPr lang="ru-RU" b="1" dirty="0"/>
              <a:t> </a:t>
            </a:r>
            <a:r>
              <a:rPr lang="ru-RU" b="1" dirty="0" err="1"/>
              <a:t>наукових</a:t>
            </a:r>
            <a:r>
              <a:rPr lang="ru-RU" b="1" dirty="0"/>
              <a:t> </a:t>
            </a:r>
            <a:r>
              <a:rPr lang="ru-RU" b="1" dirty="0" err="1"/>
              <a:t>досліджень</a:t>
            </a:r>
            <a:r>
              <a:rPr lang="ru-RU" b="1" dirty="0"/>
              <a:t> за </a:t>
            </a:r>
            <a:r>
              <a:rPr lang="ru-RU" b="1" dirty="0" err="1"/>
              <a:t>рахунок</a:t>
            </a:r>
            <a:r>
              <a:rPr lang="ru-RU" b="1" dirty="0"/>
              <a:t> </a:t>
            </a:r>
            <a:r>
              <a:rPr lang="uk-UA" b="1" smtClean="0"/>
              <a:t>державного фінансування</a:t>
            </a:r>
            <a:endParaRPr lang="uk-UA" sz="3600" b="1" dirty="0">
              <a:solidFill>
                <a:schemeClr val="tx1"/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44442" y="4221088"/>
            <a:ext cx="8208962" cy="1836738"/>
          </a:xfrm>
          <a:prstGeom prst="rect">
            <a:avLst/>
          </a:prstGeom>
        </p:spPr>
        <p:txBody>
          <a:bodyPr anchor="b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ДЛЯ АСПІРАНТІВ КНУБА</a:t>
            </a:r>
            <a:endParaRPr lang="en-US" sz="2000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ДИСЦИПЛІНА: </a:t>
            </a:r>
            <a:r>
              <a:rPr lang="ru-RU" sz="2000" cap="all" dirty="0" err="1"/>
              <a:t>Фінансування</a:t>
            </a:r>
            <a:r>
              <a:rPr lang="ru-RU" sz="2000" cap="all" dirty="0"/>
              <a:t> </a:t>
            </a:r>
            <a:r>
              <a:rPr lang="ru-RU" sz="2000" cap="all" dirty="0" err="1"/>
              <a:t>наукових</a:t>
            </a:r>
            <a:r>
              <a:rPr lang="ru-RU" sz="2000" cap="all" dirty="0"/>
              <a:t> </a:t>
            </a:r>
            <a:r>
              <a:rPr lang="ru-RU" sz="2000" cap="all" dirty="0" err="1"/>
              <a:t>досліджень</a:t>
            </a:r>
            <a:r>
              <a:rPr lang="ru-RU" sz="2000" cap="all" dirty="0"/>
              <a:t>, </a:t>
            </a:r>
            <a:r>
              <a:rPr lang="ru-RU" sz="2000" cap="all" dirty="0" err="1"/>
              <a:t>грантова</a:t>
            </a:r>
            <a:r>
              <a:rPr lang="ru-RU" sz="2000" cap="all" dirty="0"/>
              <a:t> </a:t>
            </a:r>
            <a:r>
              <a:rPr lang="ru-RU" sz="2000" cap="all" dirty="0" err="1" smtClean="0"/>
              <a:t>діяльність</a:t>
            </a:r>
            <a:endParaRPr lang="ru-RU" sz="2000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КУРС: 1</a:t>
            </a:r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ВИКЛАДАЧ: </a:t>
            </a:r>
            <a:r>
              <a:rPr lang="uk-UA" sz="2000" cap="all" dirty="0" smtClean="0"/>
              <a:t>Д.Т.Н</a:t>
            </a:r>
            <a:r>
              <a:rPr lang="uk-UA" sz="2000" cap="all" dirty="0" smtClean="0"/>
              <a:t>., ДОЦЕНТ МИХАЛЬОВА МАРІЯ ЮРІЇВНА</a:t>
            </a:r>
            <a:endParaRPr lang="en-US" sz="2000" cap="all" dirty="0" smtClean="0"/>
          </a:p>
          <a:p>
            <a:pPr fontAlgn="auto">
              <a:spcAft>
                <a:spcPts val="0"/>
              </a:spcAft>
              <a:defRPr/>
            </a:pPr>
            <a:endParaRPr lang="uk-UA" sz="2000" b="1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sz="2000" b="1" cap="all" dirty="0" smtClean="0"/>
              <a:t>Mykhalova.myu@knuba.edu.ua</a:t>
            </a:r>
            <a:endParaRPr lang="ru-RU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64123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3"/>
    </mc:Choice>
    <mc:Fallback xmlns="">
      <p:transition spd="slow" advTm="590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76672"/>
            <a:ext cx="8229600" cy="1143000"/>
          </a:xfrm>
        </p:spPr>
        <p:txBody>
          <a:bodyPr>
            <a:noAutofit/>
          </a:bodyPr>
          <a:lstStyle/>
          <a:p>
            <a:r>
              <a:rPr lang="ru-RU" sz="3600" dirty="0" err="1" smtClean="0"/>
              <a:t>Пріоритетні</a:t>
            </a:r>
            <a:r>
              <a:rPr lang="ru-RU" sz="3600" dirty="0" smtClean="0"/>
              <a:t> </a:t>
            </a:r>
            <a:r>
              <a:rPr lang="ru-RU" sz="3600" dirty="0" err="1" smtClean="0"/>
              <a:t>напрями</a:t>
            </a:r>
            <a:r>
              <a:rPr lang="ru-RU" sz="3600" dirty="0" smtClean="0"/>
              <a:t> </a:t>
            </a:r>
            <a:r>
              <a:rPr lang="ru-RU" sz="3600" dirty="0" err="1"/>
              <a:t>розвитку</a:t>
            </a:r>
            <a:r>
              <a:rPr lang="ru-RU" sz="3600" dirty="0"/>
              <a:t> науки і </a:t>
            </a:r>
            <a:r>
              <a:rPr lang="ru-RU" sz="3600" dirty="0" err="1"/>
              <a:t>техніки</a:t>
            </a:r>
            <a:r>
              <a:rPr lang="ru-RU" sz="3600" dirty="0"/>
              <a:t> на </a:t>
            </a:r>
            <a:r>
              <a:rPr lang="ru-RU" sz="3600" dirty="0" err="1"/>
              <a:t>період</a:t>
            </a:r>
            <a:r>
              <a:rPr lang="ru-RU" sz="3600" dirty="0"/>
              <a:t> до </a:t>
            </a:r>
            <a:r>
              <a:rPr lang="ru-RU" sz="3600" dirty="0" err="1"/>
              <a:t>до</a:t>
            </a:r>
            <a:r>
              <a:rPr lang="ru-RU" sz="3600" dirty="0"/>
              <a:t> </a:t>
            </a:r>
            <a:r>
              <a:rPr lang="ru-RU" sz="3600" dirty="0" err="1"/>
              <a:t>припинення</a:t>
            </a:r>
            <a:r>
              <a:rPr lang="ru-RU" sz="3600" dirty="0"/>
              <a:t> </a:t>
            </a:r>
            <a:r>
              <a:rPr lang="ru-RU" sz="3600" dirty="0" err="1"/>
              <a:t>або</a:t>
            </a:r>
            <a:r>
              <a:rPr lang="ru-RU" sz="3600" dirty="0"/>
              <a:t> </a:t>
            </a:r>
            <a:r>
              <a:rPr lang="ru-RU" sz="3600" dirty="0" err="1"/>
              <a:t>скасування</a:t>
            </a:r>
            <a:r>
              <a:rPr lang="ru-RU" sz="3600" dirty="0"/>
              <a:t> </a:t>
            </a:r>
            <a:r>
              <a:rPr lang="ru-RU" sz="3600" dirty="0" err="1"/>
              <a:t>воєнного</a:t>
            </a:r>
            <a:r>
              <a:rPr lang="ru-RU" sz="3600" dirty="0"/>
              <a:t> стану в </a:t>
            </a:r>
            <a:r>
              <a:rPr lang="ru-RU" sz="3600" dirty="0" err="1"/>
              <a:t>Україні</a:t>
            </a:r>
            <a:endParaRPr lang="uk-UA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2060848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err="1" smtClean="0"/>
              <a:t>Пріоритетними</a:t>
            </a:r>
            <a:r>
              <a:rPr lang="ru-RU" dirty="0" smtClean="0"/>
              <a:t> </a:t>
            </a:r>
            <a:r>
              <a:rPr lang="ru-RU" dirty="0" err="1"/>
              <a:t>напрямами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науки і </a:t>
            </a:r>
            <a:r>
              <a:rPr lang="ru-RU" dirty="0" err="1" smtClean="0"/>
              <a:t>техніки</a:t>
            </a:r>
            <a:r>
              <a:rPr lang="ru-RU" dirty="0" smtClean="0"/>
              <a:t> в </a:t>
            </a:r>
            <a:r>
              <a:rPr lang="ru-RU" dirty="0" err="1" smtClean="0"/>
              <a:t>Україні</a:t>
            </a:r>
            <a:r>
              <a:rPr lang="ru-RU" dirty="0" smtClean="0"/>
              <a:t>  </a:t>
            </a:r>
            <a:r>
              <a:rPr lang="ru-RU" dirty="0"/>
              <a:t>на </a:t>
            </a:r>
            <a:r>
              <a:rPr lang="ru-RU" dirty="0" err="1"/>
              <a:t>період</a:t>
            </a:r>
            <a:r>
              <a:rPr lang="ru-RU" dirty="0"/>
              <a:t> до </a:t>
            </a:r>
            <a:r>
              <a:rPr lang="ru-RU" dirty="0" smtClean="0"/>
              <a:t>202</a:t>
            </a:r>
            <a:r>
              <a:rPr lang="en-US" dirty="0" smtClean="0"/>
              <a:t>3</a:t>
            </a:r>
            <a:r>
              <a:rPr lang="ru-RU" dirty="0" smtClean="0"/>
              <a:t> року є:</a:t>
            </a:r>
            <a:endParaRPr lang="ru-RU" dirty="0"/>
          </a:p>
          <a:p>
            <a:r>
              <a:rPr lang="ru-RU" dirty="0"/>
              <a:t>1) </a:t>
            </a:r>
            <a:r>
              <a:rPr lang="ru-RU" dirty="0" err="1"/>
              <a:t>національна</a:t>
            </a:r>
            <a:r>
              <a:rPr lang="ru-RU" dirty="0"/>
              <a:t> </a:t>
            </a:r>
            <a:r>
              <a:rPr lang="ru-RU" dirty="0" err="1"/>
              <a:t>безпека</a:t>
            </a:r>
            <a:r>
              <a:rPr lang="ru-RU" dirty="0"/>
              <a:t> і оборона;</a:t>
            </a:r>
          </a:p>
          <a:p>
            <a:r>
              <a:rPr lang="ru-RU" dirty="0"/>
              <a:t>2) </a:t>
            </a:r>
            <a:r>
              <a:rPr lang="ru-RU" dirty="0" err="1"/>
              <a:t>фундаментальні</a:t>
            </a:r>
            <a:r>
              <a:rPr lang="ru-RU" dirty="0"/>
              <a:t> </a:t>
            </a:r>
            <a:r>
              <a:rPr lang="ru-RU" dirty="0" err="1"/>
              <a:t>наукові</a:t>
            </a:r>
            <a:r>
              <a:rPr lang="ru-RU" dirty="0"/>
              <a:t> </a:t>
            </a:r>
            <a:r>
              <a:rPr lang="ru-RU" dirty="0" err="1"/>
              <a:t>дослідження</a:t>
            </a:r>
            <a:r>
              <a:rPr lang="ru-RU" dirty="0"/>
              <a:t> з </a:t>
            </a:r>
            <a:r>
              <a:rPr lang="ru-RU" dirty="0" err="1"/>
              <a:t>найбільш</a:t>
            </a:r>
            <a:r>
              <a:rPr lang="ru-RU" dirty="0"/>
              <a:t> </a:t>
            </a:r>
            <a:r>
              <a:rPr lang="ru-RU" dirty="0" err="1"/>
              <a:t>важливих</a:t>
            </a:r>
            <a:r>
              <a:rPr lang="ru-RU" dirty="0"/>
              <a:t> проблем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науково-технічного</a:t>
            </a:r>
            <a:r>
              <a:rPr lang="ru-RU" dirty="0"/>
              <a:t>, </a:t>
            </a:r>
            <a:r>
              <a:rPr lang="ru-RU" dirty="0" err="1"/>
              <a:t>соціально-економічного</a:t>
            </a:r>
            <a:r>
              <a:rPr lang="ru-RU" dirty="0"/>
              <a:t>, </a:t>
            </a:r>
            <a:r>
              <a:rPr lang="ru-RU" dirty="0" err="1"/>
              <a:t>суспільно-політичного</a:t>
            </a:r>
            <a:r>
              <a:rPr lang="ru-RU" dirty="0"/>
              <a:t>, </a:t>
            </a:r>
            <a:r>
              <a:rPr lang="ru-RU" dirty="0" err="1"/>
              <a:t>людського</a:t>
            </a:r>
            <a:r>
              <a:rPr lang="ru-RU" dirty="0"/>
              <a:t> </a:t>
            </a:r>
            <a:r>
              <a:rPr lang="ru-RU" dirty="0" err="1"/>
              <a:t>потенціалу</a:t>
            </a:r>
            <a:r>
              <a:rPr lang="ru-RU" dirty="0"/>
              <a:t> для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конкурентоспроможності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у </a:t>
            </a:r>
            <a:r>
              <a:rPr lang="ru-RU" dirty="0" err="1"/>
              <a:t>світі</a:t>
            </a:r>
            <a:r>
              <a:rPr lang="ru-RU" dirty="0"/>
              <a:t> та </a:t>
            </a:r>
            <a:r>
              <a:rPr lang="ru-RU" dirty="0" err="1"/>
              <a:t>сталого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суспільства</a:t>
            </a:r>
            <a:r>
              <a:rPr lang="ru-RU" dirty="0"/>
              <a:t> і </a:t>
            </a:r>
            <a:r>
              <a:rPr lang="ru-RU" dirty="0" err="1"/>
              <a:t>держави</a:t>
            </a:r>
            <a:r>
              <a:rPr lang="ru-RU" dirty="0"/>
              <a:t>;</a:t>
            </a:r>
          </a:p>
          <a:p>
            <a:r>
              <a:rPr lang="ru-RU" dirty="0"/>
              <a:t>3) </a:t>
            </a:r>
            <a:r>
              <a:rPr lang="ru-RU" dirty="0" err="1"/>
              <a:t>інформаційні</a:t>
            </a:r>
            <a:r>
              <a:rPr lang="ru-RU" dirty="0"/>
              <a:t> та </a:t>
            </a:r>
            <a:r>
              <a:rPr lang="ru-RU" dirty="0" err="1"/>
              <a:t>комунікаційні</a:t>
            </a:r>
            <a:r>
              <a:rPr lang="ru-RU" dirty="0"/>
              <a:t> </a:t>
            </a:r>
            <a:r>
              <a:rPr lang="ru-RU" dirty="0" err="1"/>
              <a:t>технології</a:t>
            </a:r>
            <a:r>
              <a:rPr lang="ru-RU" dirty="0"/>
              <a:t>;</a:t>
            </a:r>
          </a:p>
          <a:p>
            <a:r>
              <a:rPr lang="ru-RU" dirty="0"/>
              <a:t>4) </a:t>
            </a:r>
            <a:r>
              <a:rPr lang="ru-RU" dirty="0" err="1"/>
              <a:t>енергетика</a:t>
            </a:r>
            <a:r>
              <a:rPr lang="ru-RU" dirty="0"/>
              <a:t> та </a:t>
            </a:r>
            <a:r>
              <a:rPr lang="ru-RU" dirty="0" err="1"/>
              <a:t>енергоефективність</a:t>
            </a:r>
            <a:r>
              <a:rPr lang="ru-RU" dirty="0"/>
              <a:t>;</a:t>
            </a:r>
          </a:p>
          <a:p>
            <a:r>
              <a:rPr lang="ru-RU" dirty="0"/>
              <a:t>5) </a:t>
            </a:r>
            <a:r>
              <a:rPr lang="ru-RU" dirty="0" err="1"/>
              <a:t>раціональне</a:t>
            </a:r>
            <a:r>
              <a:rPr lang="ru-RU" dirty="0"/>
              <a:t> </a:t>
            </a:r>
            <a:r>
              <a:rPr lang="ru-RU" dirty="0" err="1"/>
              <a:t>природокористування</a:t>
            </a:r>
            <a:r>
              <a:rPr lang="ru-RU" dirty="0"/>
              <a:t>;</a:t>
            </a:r>
          </a:p>
          <a:p>
            <a:r>
              <a:rPr lang="ru-RU" dirty="0"/>
              <a:t>6)  науки про </a:t>
            </a:r>
            <a:r>
              <a:rPr lang="ru-RU" dirty="0" err="1"/>
              <a:t>життя</a:t>
            </a:r>
            <a:r>
              <a:rPr lang="ru-RU" dirty="0"/>
              <a:t>,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технології</a:t>
            </a:r>
            <a:r>
              <a:rPr lang="ru-RU" dirty="0"/>
              <a:t> </a:t>
            </a:r>
            <a:r>
              <a:rPr lang="ru-RU" dirty="0" err="1"/>
              <a:t>профілактики</a:t>
            </a:r>
            <a:r>
              <a:rPr lang="ru-RU" dirty="0"/>
              <a:t> та </a:t>
            </a:r>
            <a:r>
              <a:rPr lang="ru-RU" dirty="0" err="1"/>
              <a:t>лікування</a:t>
            </a:r>
            <a:r>
              <a:rPr lang="ru-RU" dirty="0"/>
              <a:t> </a:t>
            </a:r>
            <a:r>
              <a:rPr lang="ru-RU" dirty="0" err="1"/>
              <a:t>найпоширеніших</a:t>
            </a:r>
            <a:r>
              <a:rPr lang="ru-RU" dirty="0"/>
              <a:t> </a:t>
            </a:r>
            <a:r>
              <a:rPr lang="ru-RU" dirty="0" err="1"/>
              <a:t>захворювань</a:t>
            </a:r>
            <a:r>
              <a:rPr lang="ru-RU" dirty="0"/>
              <a:t>;</a:t>
            </a:r>
          </a:p>
          <a:p>
            <a:r>
              <a:rPr lang="ru-RU" dirty="0"/>
              <a:t>7)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речовини</a:t>
            </a:r>
            <a:r>
              <a:rPr lang="ru-RU" dirty="0"/>
              <a:t> і </a:t>
            </a:r>
            <a:r>
              <a:rPr lang="ru-RU" dirty="0" err="1"/>
              <a:t>матеріали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00329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Верховна Рада</a:t>
            </a:r>
          </a:p>
          <a:p>
            <a:r>
              <a:rPr lang="uk-UA" dirty="0" smtClean="0"/>
              <a:t>Президент</a:t>
            </a:r>
          </a:p>
          <a:p>
            <a:r>
              <a:rPr lang="uk-UA" dirty="0" smtClean="0"/>
              <a:t>Кабінет Міністрів</a:t>
            </a:r>
          </a:p>
          <a:p>
            <a:r>
              <a:rPr lang="uk-UA" dirty="0" smtClean="0"/>
              <a:t>Органи виконавчої </a:t>
            </a:r>
            <a:r>
              <a:rPr lang="uk-UA" smtClean="0"/>
              <a:t>влади/місцевого самоврядування</a:t>
            </a:r>
          </a:p>
          <a:p>
            <a:pPr marL="0" indent="0">
              <a:buNone/>
            </a:pPr>
            <a:endParaRPr lang="uk-UA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904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ru-RU" b="1" dirty="0" err="1" smtClean="0"/>
              <a:t>Премія</a:t>
            </a:r>
            <a:r>
              <a:rPr lang="ru-RU" b="1" dirty="0" smtClean="0"/>
              <a:t> </a:t>
            </a:r>
            <a:r>
              <a:rPr lang="ru-RU" b="1" dirty="0"/>
              <a:t>Президента </a:t>
            </a:r>
            <a:r>
              <a:rPr lang="ru-RU" b="1" dirty="0" err="1"/>
              <a:t>України</a:t>
            </a:r>
            <a:r>
              <a:rPr lang="ru-RU" b="1" dirty="0"/>
              <a:t> для </a:t>
            </a:r>
            <a:r>
              <a:rPr lang="ru-RU" b="1" dirty="0" err="1"/>
              <a:t>молодих</a:t>
            </a:r>
            <a:r>
              <a:rPr lang="ru-RU" b="1" dirty="0"/>
              <a:t> </a:t>
            </a:r>
            <a:r>
              <a:rPr lang="ru-RU" b="1" dirty="0" err="1"/>
              <a:t>вчених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patonprize.gov.ua/president-award</a:t>
            </a:r>
            <a:endParaRPr lang="uk-UA" dirty="0" smtClean="0"/>
          </a:p>
          <a:p>
            <a:pPr fontAlgn="base"/>
            <a:r>
              <a:rPr lang="ru-RU" dirty="0"/>
              <a:t>На </a:t>
            </a:r>
            <a:r>
              <a:rPr lang="ru-RU" dirty="0" err="1"/>
              <a:t>здобуття</a:t>
            </a:r>
            <a:r>
              <a:rPr lang="ru-RU" dirty="0"/>
              <a:t> </a:t>
            </a:r>
            <a:r>
              <a:rPr lang="ru-RU" dirty="0" err="1"/>
              <a:t>премії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висуватися</a:t>
            </a:r>
            <a:r>
              <a:rPr lang="ru-RU" dirty="0"/>
              <a:t> </a:t>
            </a:r>
            <a:r>
              <a:rPr lang="ru-RU" dirty="0" err="1"/>
              <a:t>наукові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, </a:t>
            </a:r>
            <a:r>
              <a:rPr lang="ru-RU" dirty="0" err="1"/>
              <a:t>опубліковані</a:t>
            </a:r>
            <a:r>
              <a:rPr lang="ru-RU" dirty="0"/>
              <a:t> у </a:t>
            </a:r>
            <a:r>
              <a:rPr lang="ru-RU" dirty="0" err="1"/>
              <a:t>закінченій</a:t>
            </a:r>
            <a:r>
              <a:rPr lang="ru-RU" dirty="0"/>
              <a:t> </a:t>
            </a:r>
            <a:r>
              <a:rPr lang="ru-RU" dirty="0" err="1"/>
              <a:t>формі</a:t>
            </a:r>
            <a:r>
              <a:rPr lang="ru-RU" dirty="0"/>
              <a:t> не </a:t>
            </a:r>
            <a:r>
              <a:rPr lang="ru-RU" dirty="0" err="1"/>
              <a:t>менше</a:t>
            </a:r>
            <a:r>
              <a:rPr lang="ru-RU" dirty="0"/>
              <a:t> </a:t>
            </a:r>
            <a:r>
              <a:rPr lang="ru-RU" dirty="0" err="1"/>
              <a:t>ніж</a:t>
            </a:r>
            <a:r>
              <a:rPr lang="ru-RU" dirty="0"/>
              <a:t> за  </a:t>
            </a:r>
            <a:r>
              <a:rPr lang="ru-RU" dirty="0" err="1"/>
              <a:t>рік</a:t>
            </a:r>
            <a:r>
              <a:rPr lang="ru-RU" dirty="0"/>
              <a:t>  до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висунення</a:t>
            </a:r>
            <a:r>
              <a:rPr lang="ru-RU" dirty="0"/>
              <a:t>.</a:t>
            </a:r>
          </a:p>
          <a:p>
            <a:pPr fontAlgn="base"/>
            <a:r>
              <a:rPr lang="ru-RU" dirty="0" err="1"/>
              <a:t>Присуджується</a:t>
            </a:r>
            <a:r>
              <a:rPr lang="ru-RU" dirty="0"/>
              <a:t> </a:t>
            </a:r>
            <a:r>
              <a:rPr lang="ru-RU" dirty="0" err="1"/>
              <a:t>щороку</a:t>
            </a:r>
            <a:r>
              <a:rPr lang="ru-RU" dirty="0"/>
              <a:t> до сорока </a:t>
            </a:r>
            <a:r>
              <a:rPr lang="ru-RU" dirty="0" err="1"/>
              <a:t>премій</a:t>
            </a:r>
            <a:r>
              <a:rPr lang="ru-RU" dirty="0"/>
              <a:t> (</a:t>
            </a:r>
            <a:r>
              <a:rPr lang="ru-RU" dirty="0" err="1"/>
              <a:t>із</a:t>
            </a:r>
            <a:r>
              <a:rPr lang="ru-RU" dirty="0"/>
              <a:t> них до </a:t>
            </a:r>
            <a:r>
              <a:rPr lang="ru-RU" dirty="0" err="1"/>
              <a:t>двадцяти</a:t>
            </a:r>
            <a:r>
              <a:rPr lang="ru-RU" dirty="0"/>
              <a:t> </a:t>
            </a:r>
            <a:r>
              <a:rPr lang="ru-RU" dirty="0" err="1"/>
              <a:t>премій</a:t>
            </a:r>
            <a:r>
              <a:rPr lang="ru-RU" dirty="0"/>
              <a:t> для </a:t>
            </a:r>
            <a:r>
              <a:rPr lang="ru-RU" dirty="0" err="1"/>
              <a:t>молодих</a:t>
            </a:r>
            <a:r>
              <a:rPr lang="ru-RU" dirty="0"/>
              <a:t> </a:t>
            </a:r>
            <a:r>
              <a:rPr lang="ru-RU" dirty="0" err="1"/>
              <a:t>вчених</a:t>
            </a:r>
            <a:r>
              <a:rPr lang="ru-RU" dirty="0"/>
              <a:t> </a:t>
            </a:r>
            <a:r>
              <a:rPr lang="ru-RU" dirty="0" err="1"/>
              <a:t>закладів</a:t>
            </a:r>
            <a:r>
              <a:rPr lang="ru-RU" dirty="0"/>
              <a:t> </a:t>
            </a:r>
            <a:r>
              <a:rPr lang="ru-RU" dirty="0" err="1"/>
              <a:t>вищої</a:t>
            </a:r>
            <a:r>
              <a:rPr lang="ru-RU" dirty="0"/>
              <a:t> </a:t>
            </a:r>
            <a:r>
              <a:rPr lang="ru-RU" dirty="0" err="1"/>
              <a:t>освіти</a:t>
            </a:r>
            <a:r>
              <a:rPr lang="ru-RU" dirty="0"/>
              <a:t>) у </a:t>
            </a:r>
            <a:r>
              <a:rPr lang="ru-RU" dirty="0" err="1"/>
              <a:t>розмірі</a:t>
            </a:r>
            <a:r>
              <a:rPr lang="ru-RU" dirty="0"/>
              <a:t> 210 </a:t>
            </a:r>
            <a:r>
              <a:rPr lang="ru-RU" dirty="0" err="1"/>
              <a:t>тисяч</a:t>
            </a:r>
            <a:r>
              <a:rPr lang="ru-RU" dirty="0"/>
              <a:t> </a:t>
            </a:r>
            <a:r>
              <a:rPr lang="ru-RU" dirty="0" err="1"/>
              <a:t>гривень</a:t>
            </a:r>
            <a:r>
              <a:rPr lang="ru-RU" dirty="0"/>
              <a:t> </a:t>
            </a:r>
            <a:r>
              <a:rPr lang="ru-RU" dirty="0" err="1"/>
              <a:t>кожна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558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С</a:t>
            </a:r>
            <a:r>
              <a:rPr lang="ru-RU" b="1" dirty="0" err="1" smtClean="0"/>
              <a:t>типендії</a:t>
            </a:r>
            <a:r>
              <a:rPr lang="ru-RU" b="1" dirty="0" smtClean="0"/>
              <a:t> </a:t>
            </a:r>
            <a:r>
              <a:rPr lang="ru-RU" b="1" dirty="0"/>
              <a:t>Президента </a:t>
            </a:r>
            <a:r>
              <a:rPr lang="ru-RU" b="1" dirty="0" err="1"/>
              <a:t>України</a:t>
            </a:r>
            <a:r>
              <a:rPr lang="ru-RU" b="1" dirty="0"/>
              <a:t> для </a:t>
            </a:r>
            <a:r>
              <a:rPr lang="ru-RU" b="1" dirty="0" err="1"/>
              <a:t>молодих</a:t>
            </a:r>
            <a:r>
              <a:rPr lang="ru-RU" b="1" dirty="0"/>
              <a:t> </a:t>
            </a:r>
            <a:r>
              <a:rPr lang="ru-RU" b="1" dirty="0" err="1"/>
              <a:t>вчених</a:t>
            </a:r>
            <a:r>
              <a:rPr lang="ru-RU" b="1" dirty="0"/>
              <a:t/>
            </a:r>
            <a:br>
              <a:rPr lang="ru-RU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patonprize.gov.ua/stipendiyi-prezidenta-ukrayini-dlya-molodix-vcenix</a:t>
            </a:r>
            <a:endParaRPr lang="uk-UA" dirty="0" smtClean="0"/>
          </a:p>
          <a:p>
            <a:endParaRPr lang="uk-UA" dirty="0"/>
          </a:p>
          <a:p>
            <a:r>
              <a:rPr lang="pl-PL" dirty="0">
                <a:hlinkClick r:id="rId3"/>
              </a:rPr>
              <a:t>https://zakon.rada.gov.ua/laws/show/582-94-%</a:t>
            </a:r>
            <a:r>
              <a:rPr lang="pl-PL" dirty="0" smtClean="0">
                <a:hlinkClick r:id="rId3"/>
              </a:rPr>
              <a:t>D0%BF#Text</a:t>
            </a:r>
            <a:r>
              <a:rPr lang="uk-UA" dirty="0" smtClean="0"/>
              <a:t>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50470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5. </a:t>
            </a:r>
            <a:r>
              <a:rPr lang="ru-RU" dirty="0" err="1"/>
              <a:t>Матеріали</a:t>
            </a:r>
            <a:r>
              <a:rPr lang="ru-RU" dirty="0"/>
              <a:t> для кожного претендента </a:t>
            </a:r>
            <a:r>
              <a:rPr lang="ru-RU" dirty="0" err="1"/>
              <a:t>включають</a:t>
            </a:r>
            <a:r>
              <a:rPr lang="ru-RU" dirty="0"/>
              <a:t>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base"/>
            <a:r>
              <a:rPr lang="ru-RU" dirty="0" err="1" smtClean="0"/>
              <a:t>витяг</a:t>
            </a:r>
            <a:r>
              <a:rPr lang="ru-RU" dirty="0" smtClean="0"/>
              <a:t> </a:t>
            </a:r>
            <a:r>
              <a:rPr lang="ru-RU" dirty="0"/>
              <a:t>з протоколу </a:t>
            </a:r>
            <a:r>
              <a:rPr lang="ru-RU" dirty="0" err="1"/>
              <a:t>засідання</a:t>
            </a:r>
            <a:r>
              <a:rPr lang="ru-RU" dirty="0"/>
              <a:t> </a:t>
            </a:r>
            <a:r>
              <a:rPr lang="ru-RU" dirty="0" err="1"/>
              <a:t>вченої</a:t>
            </a:r>
            <a:r>
              <a:rPr lang="ru-RU" dirty="0"/>
              <a:t> (</a:t>
            </a:r>
            <a:r>
              <a:rPr lang="ru-RU" dirty="0" err="1"/>
              <a:t>наукової</a:t>
            </a:r>
            <a:r>
              <a:rPr lang="ru-RU" dirty="0"/>
              <a:t>, </a:t>
            </a:r>
            <a:r>
              <a:rPr lang="ru-RU" dirty="0" err="1"/>
              <a:t>науково-технічної</a:t>
            </a:r>
            <a:r>
              <a:rPr lang="ru-RU" dirty="0"/>
              <a:t>, </a:t>
            </a:r>
            <a:r>
              <a:rPr lang="ru-RU" dirty="0" err="1"/>
              <a:t>технічної</a:t>
            </a:r>
            <a:r>
              <a:rPr lang="ru-RU" dirty="0"/>
              <a:t>) ради </a:t>
            </a:r>
            <a:r>
              <a:rPr lang="ru-RU" dirty="0" err="1"/>
              <a:t>організації</a:t>
            </a:r>
            <a:r>
              <a:rPr lang="ru-RU" dirty="0"/>
              <a:t> НАН </a:t>
            </a:r>
            <a:r>
              <a:rPr lang="ru-RU" dirty="0" err="1"/>
              <a:t>України</a:t>
            </a:r>
            <a:r>
              <a:rPr lang="ru-RU" dirty="0"/>
              <a:t> про </a:t>
            </a:r>
            <a:r>
              <a:rPr lang="ru-RU" dirty="0" err="1"/>
              <a:t>висунення</a:t>
            </a:r>
            <a:r>
              <a:rPr lang="ru-RU" dirty="0"/>
              <a:t> претендента на </a:t>
            </a:r>
            <a:r>
              <a:rPr lang="ru-RU" dirty="0" err="1"/>
              <a:t>здобуття</a:t>
            </a:r>
            <a:r>
              <a:rPr lang="ru-RU" dirty="0"/>
              <a:t> </a:t>
            </a:r>
            <a:r>
              <a:rPr lang="ru-RU" dirty="0" err="1"/>
              <a:t>стипендії</a:t>
            </a:r>
            <a:r>
              <a:rPr lang="ru-RU" dirty="0"/>
              <a:t> Президента </a:t>
            </a:r>
            <a:r>
              <a:rPr lang="ru-RU" dirty="0" err="1"/>
              <a:t>України</a:t>
            </a:r>
            <a:r>
              <a:rPr lang="ru-RU" dirty="0"/>
              <a:t> за результатом </a:t>
            </a:r>
            <a:r>
              <a:rPr lang="ru-RU" dirty="0" err="1"/>
              <a:t>відкритого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таємного</a:t>
            </a:r>
            <a:r>
              <a:rPr lang="ru-RU" dirty="0"/>
              <a:t> </a:t>
            </a:r>
            <a:r>
              <a:rPr lang="ru-RU" dirty="0" err="1"/>
              <a:t>голосування</a:t>
            </a:r>
            <a:r>
              <a:rPr lang="ru-RU" dirty="0"/>
              <a:t> </a:t>
            </a:r>
            <a:r>
              <a:rPr lang="ru-RU" dirty="0" err="1"/>
              <a:t>членів</a:t>
            </a:r>
            <a:r>
              <a:rPr lang="ru-RU" dirty="0"/>
              <a:t> ради (1 </a:t>
            </a:r>
            <a:r>
              <a:rPr lang="ru-RU" dirty="0" err="1"/>
              <a:t>стор</a:t>
            </a:r>
            <a:r>
              <a:rPr lang="ru-RU" dirty="0"/>
              <a:t>.), </a:t>
            </a:r>
            <a:r>
              <a:rPr lang="ru-RU" dirty="0" err="1"/>
              <a:t>завірений</a:t>
            </a:r>
            <a:r>
              <a:rPr lang="ru-RU" dirty="0"/>
              <a:t> </a:t>
            </a:r>
            <a:r>
              <a:rPr lang="ru-RU" dirty="0" err="1"/>
              <a:t>керівником</a:t>
            </a:r>
            <a:r>
              <a:rPr lang="ru-RU" dirty="0"/>
              <a:t> </a:t>
            </a:r>
            <a:r>
              <a:rPr lang="ru-RU" dirty="0" err="1"/>
              <a:t>організації</a:t>
            </a:r>
            <a:r>
              <a:rPr lang="ru-RU" dirty="0"/>
              <a:t>;</a:t>
            </a:r>
          </a:p>
          <a:p>
            <a:pPr fontAlgn="base"/>
            <a:r>
              <a:rPr lang="ru-RU" dirty="0" err="1"/>
              <a:t>письмові</a:t>
            </a:r>
            <a:r>
              <a:rPr lang="ru-RU" dirty="0"/>
              <a:t> </a:t>
            </a:r>
            <a:r>
              <a:rPr lang="ru-RU" dirty="0" err="1"/>
              <a:t>рекомендації</a:t>
            </a:r>
            <a:r>
              <a:rPr lang="ru-RU" dirty="0"/>
              <a:t> не </a:t>
            </a:r>
            <a:r>
              <a:rPr lang="ru-RU" dirty="0" err="1"/>
              <a:t>менше</a:t>
            </a:r>
            <a:r>
              <a:rPr lang="ru-RU" dirty="0"/>
              <a:t> </a:t>
            </a:r>
            <a:r>
              <a:rPr lang="ru-RU" dirty="0" err="1"/>
              <a:t>двох</a:t>
            </a:r>
            <a:r>
              <a:rPr lang="ru-RU" dirty="0"/>
              <a:t> </a:t>
            </a:r>
            <a:r>
              <a:rPr lang="ru-RU" dirty="0" err="1"/>
              <a:t>докторів</a:t>
            </a:r>
            <a:r>
              <a:rPr lang="ru-RU" dirty="0"/>
              <a:t> наук,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особисто</a:t>
            </a:r>
            <a:r>
              <a:rPr lang="ru-RU" dirty="0"/>
              <a:t> </a:t>
            </a:r>
            <a:r>
              <a:rPr lang="ru-RU" dirty="0" err="1"/>
              <a:t>обізнані</a:t>
            </a:r>
            <a:r>
              <a:rPr lang="ru-RU" dirty="0"/>
              <a:t> з </a:t>
            </a:r>
            <a:r>
              <a:rPr lang="ru-RU" dirty="0" err="1"/>
              <a:t>науковими</a:t>
            </a:r>
            <a:r>
              <a:rPr lang="ru-RU" dirty="0"/>
              <a:t> </a:t>
            </a:r>
            <a:r>
              <a:rPr lang="ru-RU" dirty="0" err="1"/>
              <a:t>здобутками</a:t>
            </a:r>
            <a:r>
              <a:rPr lang="ru-RU" dirty="0"/>
              <a:t> та </a:t>
            </a:r>
            <a:r>
              <a:rPr lang="ru-RU" dirty="0" err="1"/>
              <a:t>здібностями</a:t>
            </a:r>
            <a:r>
              <a:rPr lang="ru-RU" dirty="0"/>
              <a:t> претендента;</a:t>
            </a:r>
          </a:p>
          <a:p>
            <a:pPr fontAlgn="base"/>
            <a:r>
              <a:rPr lang="ru-RU" dirty="0" err="1"/>
              <a:t>відомості</a:t>
            </a:r>
            <a:r>
              <a:rPr lang="ru-RU" dirty="0"/>
              <a:t> про претендента, </a:t>
            </a:r>
            <a:r>
              <a:rPr lang="ru-RU" dirty="0" err="1"/>
              <a:t>завірені</a:t>
            </a:r>
            <a:r>
              <a:rPr lang="ru-RU" dirty="0"/>
              <a:t> </a:t>
            </a:r>
            <a:r>
              <a:rPr lang="ru-RU" dirty="0" err="1"/>
              <a:t>відділом</a:t>
            </a:r>
            <a:r>
              <a:rPr lang="ru-RU" dirty="0"/>
              <a:t> </a:t>
            </a:r>
            <a:r>
              <a:rPr lang="ru-RU" dirty="0" err="1"/>
              <a:t>кадрів</a:t>
            </a:r>
            <a:r>
              <a:rPr lang="ru-RU" dirty="0"/>
              <a:t> за </a:t>
            </a:r>
            <a:r>
              <a:rPr lang="ru-RU" dirty="0" err="1"/>
              <a:t>місцем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(</a:t>
            </a:r>
            <a:r>
              <a:rPr lang="ru-RU" dirty="0" err="1"/>
              <a:t>навчання</a:t>
            </a:r>
            <a:r>
              <a:rPr lang="ru-RU" dirty="0"/>
              <a:t>): </a:t>
            </a:r>
            <a:r>
              <a:rPr lang="ru-RU" dirty="0" err="1"/>
              <a:t>прізвище</a:t>
            </a:r>
            <a:r>
              <a:rPr lang="ru-RU" dirty="0"/>
              <a:t>, </a:t>
            </a:r>
            <a:r>
              <a:rPr lang="ru-RU" dirty="0" err="1"/>
              <a:t>ім’я</a:t>
            </a:r>
            <a:r>
              <a:rPr lang="ru-RU" dirty="0"/>
              <a:t>, по </a:t>
            </a:r>
            <a:r>
              <a:rPr lang="ru-RU" dirty="0" err="1"/>
              <a:t>батькові</a:t>
            </a:r>
            <a:r>
              <a:rPr lang="ru-RU" dirty="0"/>
              <a:t>, дата, </a:t>
            </a:r>
            <a:r>
              <a:rPr lang="ru-RU" dirty="0" err="1"/>
              <a:t>місяць</a:t>
            </a:r>
            <a:r>
              <a:rPr lang="ru-RU" dirty="0"/>
              <a:t> і </a:t>
            </a:r>
            <a:r>
              <a:rPr lang="ru-RU" dirty="0" err="1"/>
              <a:t>рік</a:t>
            </a:r>
            <a:r>
              <a:rPr lang="ru-RU" dirty="0"/>
              <a:t> </a:t>
            </a:r>
            <a:r>
              <a:rPr lang="ru-RU" dirty="0" err="1"/>
              <a:t>народження</a:t>
            </a:r>
            <a:r>
              <a:rPr lang="ru-RU" dirty="0"/>
              <a:t>, </a:t>
            </a:r>
            <a:r>
              <a:rPr lang="ru-RU" dirty="0" err="1"/>
              <a:t>місце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(</a:t>
            </a:r>
            <a:r>
              <a:rPr lang="ru-RU" dirty="0" err="1"/>
              <a:t>навчання</a:t>
            </a:r>
            <a:r>
              <a:rPr lang="ru-RU" dirty="0"/>
              <a:t>), посада, </a:t>
            </a:r>
            <a:r>
              <a:rPr lang="ru-RU" dirty="0" err="1"/>
              <a:t>науковий</a:t>
            </a:r>
            <a:r>
              <a:rPr lang="ru-RU" dirty="0"/>
              <a:t> </a:t>
            </a:r>
            <a:r>
              <a:rPr lang="ru-RU" dirty="0" err="1"/>
              <a:t>ступінь</a:t>
            </a:r>
            <a:r>
              <a:rPr lang="ru-RU" dirty="0"/>
              <a:t>, </a:t>
            </a:r>
            <a:r>
              <a:rPr lang="ru-RU" dirty="0" err="1"/>
              <a:t>вчене</a:t>
            </a:r>
            <a:r>
              <a:rPr lang="ru-RU" dirty="0"/>
              <a:t> </a:t>
            </a:r>
            <a:r>
              <a:rPr lang="ru-RU" dirty="0" err="1"/>
              <a:t>звання</a:t>
            </a:r>
            <a:r>
              <a:rPr lang="ru-RU" dirty="0"/>
              <a:t> (час </a:t>
            </a:r>
            <a:r>
              <a:rPr lang="ru-RU" dirty="0" err="1"/>
              <a:t>присудження</a:t>
            </a:r>
            <a:r>
              <a:rPr lang="ru-RU" dirty="0"/>
              <a:t>), </a:t>
            </a:r>
            <a:r>
              <a:rPr lang="ru-RU" dirty="0" err="1"/>
              <a:t>службова</a:t>
            </a:r>
            <a:r>
              <a:rPr lang="ru-RU" dirty="0"/>
              <a:t> і </a:t>
            </a:r>
            <a:r>
              <a:rPr lang="ru-RU" dirty="0" err="1"/>
              <a:t>домашня</a:t>
            </a:r>
            <a:r>
              <a:rPr lang="ru-RU" dirty="0"/>
              <a:t> </a:t>
            </a:r>
            <a:r>
              <a:rPr lang="ru-RU" dirty="0" err="1"/>
              <a:t>адреси</a:t>
            </a:r>
            <a:r>
              <a:rPr lang="ru-RU" dirty="0"/>
              <a:t>, </a:t>
            </a:r>
            <a:r>
              <a:rPr lang="ru-RU" dirty="0" err="1"/>
              <a:t>телефони</a:t>
            </a:r>
            <a:r>
              <a:rPr lang="ru-RU" dirty="0"/>
              <a:t>, факс, </a:t>
            </a:r>
            <a:r>
              <a:rPr lang="ru-RU" dirty="0" err="1"/>
              <a:t>електронна</a:t>
            </a:r>
            <a:r>
              <a:rPr lang="ru-RU" dirty="0"/>
              <a:t> </a:t>
            </a:r>
            <a:r>
              <a:rPr lang="ru-RU" dirty="0" err="1"/>
              <a:t>пошта</a:t>
            </a:r>
            <a:r>
              <a:rPr lang="ru-RU" dirty="0"/>
              <a:t>, 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згода</a:t>
            </a:r>
            <a:r>
              <a:rPr lang="ru-RU" dirty="0"/>
              <a:t> на </a:t>
            </a:r>
            <a:r>
              <a:rPr lang="ru-RU" dirty="0" err="1"/>
              <a:t>обробку</a:t>
            </a:r>
            <a:r>
              <a:rPr lang="ru-RU" dirty="0"/>
              <a:t> </a:t>
            </a:r>
            <a:r>
              <a:rPr lang="ru-RU" dirty="0" err="1"/>
              <a:t>персональних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;</a:t>
            </a:r>
          </a:p>
          <a:p>
            <a:pPr fontAlgn="base"/>
            <a:r>
              <a:rPr lang="ru-RU" dirty="0"/>
              <a:t>список </a:t>
            </a:r>
            <a:r>
              <a:rPr lang="ru-RU" dirty="0" err="1"/>
              <a:t>наукових</a:t>
            </a:r>
            <a:r>
              <a:rPr lang="ru-RU" dirty="0"/>
              <a:t> </a:t>
            </a:r>
            <a:r>
              <a:rPr lang="ru-RU" dirty="0" err="1"/>
              <a:t>публікацій</a:t>
            </a:r>
            <a:r>
              <a:rPr lang="ru-RU" dirty="0"/>
              <a:t> претендента за </a:t>
            </a:r>
            <a:r>
              <a:rPr lang="ru-RU" dirty="0" err="1"/>
              <a:t>останні</a:t>
            </a:r>
            <a:r>
              <a:rPr lang="ru-RU" dirty="0"/>
              <a:t> </a:t>
            </a:r>
            <a:r>
              <a:rPr lang="ru-RU" dirty="0" err="1"/>
              <a:t>п’ять</a:t>
            </a:r>
            <a:r>
              <a:rPr lang="ru-RU" dirty="0"/>
              <a:t> </a:t>
            </a:r>
            <a:r>
              <a:rPr lang="ru-RU" dirty="0" err="1"/>
              <a:t>років</a:t>
            </a:r>
            <a:r>
              <a:rPr lang="ru-RU" dirty="0"/>
              <a:t>, </a:t>
            </a:r>
            <a:r>
              <a:rPr lang="ru-RU" dirty="0" err="1"/>
              <a:t>підписаний</a:t>
            </a:r>
            <a:r>
              <a:rPr lang="ru-RU" dirty="0"/>
              <a:t> автором і </a:t>
            </a:r>
            <a:r>
              <a:rPr lang="ru-RU" dirty="0" err="1"/>
              <a:t>завірений</a:t>
            </a:r>
            <a:r>
              <a:rPr lang="ru-RU" dirty="0"/>
              <a:t> </a:t>
            </a:r>
            <a:r>
              <a:rPr lang="ru-RU" dirty="0" err="1"/>
              <a:t>ученим</a:t>
            </a:r>
            <a:r>
              <a:rPr lang="ru-RU" dirty="0"/>
              <a:t> секретарем </a:t>
            </a:r>
            <a:r>
              <a:rPr lang="ru-RU" dirty="0" err="1"/>
              <a:t>організації</a:t>
            </a:r>
            <a:r>
              <a:rPr lang="ru-RU" dirty="0"/>
              <a:t> НАН </a:t>
            </a:r>
            <a:r>
              <a:rPr lang="ru-RU" dirty="0" err="1"/>
              <a:t>України</a:t>
            </a:r>
            <a:r>
              <a:rPr lang="ru-RU" dirty="0"/>
              <a:t>, 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копії</a:t>
            </a:r>
            <a:r>
              <a:rPr lang="ru-RU" dirty="0"/>
              <a:t> </a:t>
            </a:r>
            <a:r>
              <a:rPr lang="ru-RU" dirty="0" err="1"/>
              <a:t>найвагоміших</a:t>
            </a:r>
            <a:r>
              <a:rPr lang="ru-RU" dirty="0"/>
              <a:t> (не </a:t>
            </a:r>
            <a:r>
              <a:rPr lang="ru-RU" dirty="0" err="1"/>
              <a:t>більше</a:t>
            </a:r>
            <a:r>
              <a:rPr lang="ru-RU" dirty="0"/>
              <a:t> 3-х) </a:t>
            </a:r>
            <a:r>
              <a:rPr lang="ru-RU" dirty="0" err="1"/>
              <a:t>наукових</a:t>
            </a:r>
            <a:r>
              <a:rPr lang="ru-RU" dirty="0"/>
              <a:t> </a:t>
            </a:r>
            <a:r>
              <a:rPr lang="ru-RU" dirty="0" err="1"/>
              <a:t>праць</a:t>
            </a:r>
            <a:r>
              <a:rPr lang="ru-RU" dirty="0"/>
              <a:t> за час </a:t>
            </a:r>
            <a:r>
              <a:rPr lang="ru-RU" dirty="0" err="1"/>
              <a:t>наукової</a:t>
            </a:r>
            <a:r>
              <a:rPr lang="ru-RU" dirty="0"/>
              <a:t> </a:t>
            </a:r>
            <a:r>
              <a:rPr lang="ru-RU" dirty="0" err="1"/>
              <a:t>діяльності</a:t>
            </a:r>
            <a:r>
              <a:rPr lang="ru-RU" dirty="0"/>
              <a:t> (для </a:t>
            </a:r>
            <a:r>
              <a:rPr lang="ru-RU" dirty="0" err="1"/>
              <a:t>монографій</a:t>
            </a:r>
            <a:r>
              <a:rPr lang="ru-RU" dirty="0"/>
              <a:t> — </a:t>
            </a:r>
            <a:r>
              <a:rPr lang="ru-RU" dirty="0" err="1"/>
              <a:t>анотація</a:t>
            </a:r>
            <a:r>
              <a:rPr lang="ru-RU" dirty="0"/>
              <a:t> </a:t>
            </a:r>
            <a:r>
              <a:rPr lang="ru-RU" dirty="0" err="1"/>
              <a:t>обсягом</a:t>
            </a:r>
            <a:r>
              <a:rPr lang="ru-RU" dirty="0"/>
              <a:t> до 2-х </a:t>
            </a:r>
            <a:r>
              <a:rPr lang="ru-RU" dirty="0" err="1"/>
              <a:t>стор</a:t>
            </a:r>
            <a:r>
              <a:rPr lang="ru-RU" dirty="0"/>
              <a:t>. </a:t>
            </a:r>
            <a:r>
              <a:rPr lang="ru-RU" dirty="0" err="1"/>
              <a:t>друкованого</a:t>
            </a:r>
            <a:r>
              <a:rPr lang="ru-RU" dirty="0"/>
              <a:t> тексту).</a:t>
            </a:r>
          </a:p>
          <a:p>
            <a:pPr fontAlgn="base"/>
            <a:r>
              <a:rPr lang="ru-RU" dirty="0" err="1"/>
              <a:t>інформацію</a:t>
            </a:r>
            <a:r>
              <a:rPr lang="ru-RU" dirty="0"/>
              <a:t> про </a:t>
            </a:r>
            <a:r>
              <a:rPr lang="ru-RU" dirty="0" err="1"/>
              <a:t>дослідницьку</a:t>
            </a:r>
            <a:r>
              <a:rPr lang="ru-RU" dirty="0"/>
              <a:t> </a:t>
            </a:r>
            <a:r>
              <a:rPr lang="ru-RU" dirty="0" err="1"/>
              <a:t>діяльність</a:t>
            </a:r>
            <a:r>
              <a:rPr lang="ru-RU" dirty="0"/>
              <a:t> претендента (участь у </a:t>
            </a:r>
            <a:r>
              <a:rPr lang="ru-RU" dirty="0" err="1"/>
              <a:t>конференціях</a:t>
            </a:r>
            <a:r>
              <a:rPr lang="ru-RU" dirty="0"/>
              <a:t>,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грантів</a:t>
            </a:r>
            <a:r>
              <a:rPr lang="ru-RU" dirty="0"/>
              <a:t>, </a:t>
            </a:r>
            <a:r>
              <a:rPr lang="ru-RU" dirty="0" err="1"/>
              <a:t>наукові</a:t>
            </a:r>
            <a:r>
              <a:rPr lang="ru-RU" dirty="0"/>
              <a:t> </a:t>
            </a:r>
            <a:r>
              <a:rPr lang="ru-RU" dirty="0" err="1"/>
              <a:t>стажування</a:t>
            </a:r>
            <a:r>
              <a:rPr lang="ru-RU" dirty="0"/>
              <a:t> </a:t>
            </a:r>
            <a:r>
              <a:rPr lang="ru-RU" dirty="0" err="1"/>
              <a:t>тощо</a:t>
            </a:r>
            <a:r>
              <a:rPr lang="ru-RU" dirty="0"/>
              <a:t>), </a:t>
            </a:r>
            <a:r>
              <a:rPr lang="ru-RU" dirty="0" err="1"/>
              <a:t>підписану</a:t>
            </a:r>
            <a:r>
              <a:rPr lang="ru-RU" dirty="0"/>
              <a:t> автором і </a:t>
            </a:r>
            <a:r>
              <a:rPr lang="ru-RU" dirty="0" err="1"/>
              <a:t>засвідчену</a:t>
            </a:r>
            <a:r>
              <a:rPr lang="ru-RU" dirty="0"/>
              <a:t> </a:t>
            </a:r>
            <a:r>
              <a:rPr lang="ru-RU" dirty="0" err="1"/>
              <a:t>керівництвом</a:t>
            </a:r>
            <a:r>
              <a:rPr lang="ru-RU" dirty="0"/>
              <a:t> </a:t>
            </a:r>
            <a:r>
              <a:rPr lang="ru-RU" dirty="0" err="1"/>
              <a:t>організації</a:t>
            </a:r>
            <a:r>
              <a:rPr lang="ru-RU" dirty="0"/>
              <a:t> НАН </a:t>
            </a:r>
            <a:r>
              <a:rPr lang="ru-RU" dirty="0" err="1"/>
              <a:t>України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0996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0254" y="7647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С</a:t>
            </a:r>
            <a:r>
              <a:rPr lang="ru-RU" b="1" dirty="0" err="1" smtClean="0"/>
              <a:t>типендії</a:t>
            </a:r>
            <a:r>
              <a:rPr lang="ru-RU" b="1" dirty="0" smtClean="0"/>
              <a:t> </a:t>
            </a:r>
            <a:r>
              <a:rPr lang="ru-RU" b="1" dirty="0" err="1" smtClean="0"/>
              <a:t>Кабінету</a:t>
            </a:r>
            <a:r>
              <a:rPr lang="ru-RU" b="1" dirty="0" smtClean="0"/>
              <a:t> </a:t>
            </a:r>
            <a:r>
              <a:rPr lang="ru-RU" b="1" dirty="0" err="1"/>
              <a:t>Міністрів</a:t>
            </a:r>
            <a:r>
              <a:rPr lang="ru-RU" b="1" dirty="0"/>
              <a:t> </a:t>
            </a:r>
            <a:r>
              <a:rPr lang="ru-RU" b="1" dirty="0" err="1"/>
              <a:t>України</a:t>
            </a:r>
            <a:r>
              <a:rPr lang="ru-RU" b="1" dirty="0"/>
              <a:t> для </a:t>
            </a:r>
            <a:r>
              <a:rPr lang="ru-RU" b="1" dirty="0" err="1"/>
              <a:t>молодих</a:t>
            </a:r>
            <a:r>
              <a:rPr lang="ru-RU" b="1" dirty="0"/>
              <a:t> </a:t>
            </a:r>
            <a:r>
              <a:rPr lang="ru-RU" b="1" dirty="0" err="1"/>
              <a:t>вчених</a:t>
            </a:r>
            <a:r>
              <a:rPr lang="ru-RU" b="1" dirty="0"/>
              <a:t/>
            </a:r>
            <a:br>
              <a:rPr lang="ru-RU" b="1" dirty="0"/>
            </a:br>
            <a:r>
              <a:rPr lang="ru-RU" b="1" dirty="0"/>
              <a:t/>
            </a:r>
            <a:br>
              <a:rPr lang="ru-RU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patonprize.gov.ua/stipendiyi-kabinetu-ministriv-ukrayini-dlya-molodix-vcenix</a:t>
            </a: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pl-PL" dirty="0">
                <a:hlinkClick r:id="rId3"/>
              </a:rPr>
              <a:t>https://</a:t>
            </a:r>
            <a:r>
              <a:rPr lang="pl-PL" dirty="0" smtClean="0">
                <a:hlinkClick r:id="rId3"/>
              </a:rPr>
              <a:t>patonprize.gov.ua/stipendiyi-kabinetu-ministriv-ukrayini-dlya-molodix-vcenix/poryadok-scolarship-kab-min</a:t>
            </a:r>
            <a:r>
              <a:rPr lang="en-US" dirty="0" smtClean="0"/>
              <a:t>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7761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8367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Премія</a:t>
            </a:r>
            <a:r>
              <a:rPr lang="ru-RU" dirty="0"/>
              <a:t> </a:t>
            </a:r>
            <a:r>
              <a:rPr lang="ru-RU" dirty="0" err="1"/>
              <a:t>Київського</a:t>
            </a:r>
            <a:r>
              <a:rPr lang="ru-RU" dirty="0"/>
              <a:t> </a:t>
            </a:r>
            <a:r>
              <a:rPr lang="ru-RU" dirty="0" err="1"/>
              <a:t>міського</a:t>
            </a:r>
            <a:r>
              <a:rPr lang="ru-RU" dirty="0"/>
              <a:t> </a:t>
            </a:r>
            <a:r>
              <a:rPr lang="ru-RU" dirty="0" err="1"/>
              <a:t>голови</a:t>
            </a:r>
            <a:r>
              <a:rPr lang="ru-RU" dirty="0"/>
              <a:t> за </a:t>
            </a:r>
            <a:r>
              <a:rPr lang="ru-RU" dirty="0" err="1"/>
              <a:t>особливі</a:t>
            </a:r>
            <a:r>
              <a:rPr lang="ru-RU" dirty="0"/>
              <a:t> </a:t>
            </a:r>
            <a:r>
              <a:rPr lang="ru-RU" dirty="0" err="1"/>
              <a:t>досягнення</a:t>
            </a:r>
            <a:r>
              <a:rPr lang="ru-RU" dirty="0"/>
              <a:t> </a:t>
            </a:r>
            <a:r>
              <a:rPr lang="ru-RU" dirty="0" err="1"/>
              <a:t>молоді</a:t>
            </a:r>
            <a:r>
              <a:rPr lang="ru-RU" dirty="0"/>
              <a:t> у </a:t>
            </a:r>
            <a:r>
              <a:rPr lang="ru-RU" dirty="0" err="1"/>
              <a:t>розбудові</a:t>
            </a:r>
            <a:r>
              <a:rPr lang="ru-RU" dirty="0"/>
              <a:t> </a:t>
            </a:r>
            <a:r>
              <a:rPr lang="ru-RU" dirty="0" err="1"/>
              <a:t>столиці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– </a:t>
            </a:r>
            <a:r>
              <a:rPr lang="ru-RU" dirty="0" err="1"/>
              <a:t>міста</a:t>
            </a:r>
            <a:r>
              <a:rPr lang="ru-RU" dirty="0"/>
              <a:t>-героя </a:t>
            </a:r>
            <a:r>
              <a:rPr lang="ru-RU" dirty="0" err="1"/>
              <a:t>Києва</a:t>
            </a:r>
            <a:r>
              <a:rPr lang="ru-RU" dirty="0"/>
              <a:t>"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2492896"/>
            <a:ext cx="8363272" cy="3633267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https://dms.kyivcity.gov.ua/content/premiya-kyivskogo-miskogo-golovy-za-osoblyvi-dosyagnennya-molodi-u-rozbudovi-stolyci-ukrainy--</a:t>
            </a:r>
            <a:r>
              <a:rPr lang="en-GB" dirty="0" smtClean="0">
                <a:hlinkClick r:id="rId2"/>
              </a:rPr>
              <a:t>mistageroya-kyieva.html</a:t>
            </a:r>
            <a:r>
              <a:rPr lang="en-GB" dirty="0" smtClean="0"/>
              <a:t>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76136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Про </a:t>
            </a:r>
            <a:r>
              <a:rPr lang="ru-RU" b="1" dirty="0" err="1"/>
              <a:t>затвердження</a:t>
            </a:r>
            <a:r>
              <a:rPr lang="ru-RU" b="1" dirty="0"/>
              <a:t> </a:t>
            </a:r>
            <a:r>
              <a:rPr lang="ru-RU" b="1" dirty="0" err="1"/>
              <a:t>положень</a:t>
            </a:r>
            <a:r>
              <a:rPr lang="ru-RU" b="1" dirty="0"/>
              <a:t> про </a:t>
            </a:r>
            <a:r>
              <a:rPr lang="ru-RU" b="1" dirty="0" err="1"/>
              <a:t>премії</a:t>
            </a:r>
            <a:r>
              <a:rPr lang="ru-RU" b="1" dirty="0"/>
              <a:t> та </a:t>
            </a:r>
            <a:r>
              <a:rPr lang="ru-RU" b="1" dirty="0" err="1"/>
              <a:t>стипендії</a:t>
            </a:r>
            <a:r>
              <a:rPr lang="ru-RU" b="1" dirty="0"/>
              <a:t> </a:t>
            </a:r>
            <a:r>
              <a:rPr lang="ru-RU" b="1" dirty="0" err="1"/>
              <a:t>Верховної</a:t>
            </a:r>
            <a:r>
              <a:rPr lang="ru-RU" b="1" dirty="0"/>
              <a:t> Ради </a:t>
            </a:r>
            <a:r>
              <a:rPr lang="ru-RU" b="1" dirty="0" err="1"/>
              <a:t>України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https://zakon.rada.gov.ua/laws/show/4712-20#n18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5786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0529" y="1600200"/>
            <a:ext cx="348294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86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3692" y="1600200"/>
            <a:ext cx="471661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15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Конкурс </a:t>
            </a:r>
            <a:r>
              <a:rPr lang="ru-RU" dirty="0" err="1"/>
              <a:t>Героїв</a:t>
            </a:r>
            <a:r>
              <a:rPr lang="ru-RU" dirty="0"/>
              <a:t> </a:t>
            </a:r>
            <a:r>
              <a:rPr lang="ru-RU" dirty="0" err="1"/>
              <a:t>Небесної</a:t>
            </a:r>
            <a:r>
              <a:rPr lang="ru-RU" dirty="0"/>
              <a:t> </a:t>
            </a:r>
            <a:r>
              <a:rPr lang="ru-RU" dirty="0" err="1"/>
              <a:t>Сотні</a:t>
            </a:r>
            <a:r>
              <a:rPr lang="ru-RU" dirty="0"/>
              <a:t> — 2025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https://nauka.gov.ua/information/ns2025/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1669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Питання для самоконтролю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uk-UA" dirty="0" smtClean="0"/>
              <a:t>1. Які умови </a:t>
            </a:r>
            <a:r>
              <a:rPr lang="uk-UA" dirty="0"/>
              <a:t>для здобуття стипендії Президента </a:t>
            </a:r>
            <a:r>
              <a:rPr lang="uk-UA" dirty="0" smtClean="0"/>
              <a:t>України/Премії </a:t>
            </a:r>
            <a:r>
              <a:rPr lang="uk-UA" dirty="0"/>
              <a:t>Верховної Ради України молодим </a:t>
            </a:r>
            <a:r>
              <a:rPr lang="uk-UA" dirty="0" smtClean="0"/>
              <a:t>ученим?</a:t>
            </a:r>
            <a:endParaRPr lang="uk-UA" dirty="0"/>
          </a:p>
          <a:p>
            <a:pPr marL="0" indent="0">
              <a:buNone/>
            </a:pPr>
            <a:r>
              <a:rPr lang="uk-UA" dirty="0" smtClean="0"/>
              <a:t>2. Кому може присуджуватися </a:t>
            </a:r>
            <a:r>
              <a:rPr lang="ru-RU" dirty="0" err="1"/>
              <a:t>Премі</a:t>
            </a:r>
            <a:r>
              <a:rPr lang="uk-UA" dirty="0"/>
              <a:t>я </a:t>
            </a:r>
            <a:r>
              <a:rPr lang="ru-RU" dirty="0" err="1"/>
              <a:t>Верховної</a:t>
            </a:r>
            <a:r>
              <a:rPr lang="ru-RU" dirty="0"/>
              <a:t> Ради </a:t>
            </a:r>
            <a:r>
              <a:rPr lang="ru-RU" dirty="0" err="1"/>
              <a:t>України</a:t>
            </a:r>
            <a:r>
              <a:rPr lang="ru-RU" dirty="0"/>
              <a:t> молодим </a:t>
            </a:r>
            <a:r>
              <a:rPr lang="ru-RU" dirty="0" err="1" smtClean="0"/>
              <a:t>ученим</a:t>
            </a:r>
            <a:r>
              <a:rPr lang="ru-RU" dirty="0" smtClean="0"/>
              <a:t>/</a:t>
            </a:r>
            <a:r>
              <a:rPr lang="uk-UA" dirty="0" smtClean="0"/>
              <a:t>премія </a:t>
            </a:r>
            <a:r>
              <a:rPr lang="uk-UA" dirty="0"/>
              <a:t>Президента України для молодих </a:t>
            </a:r>
            <a:r>
              <a:rPr lang="uk-UA" dirty="0" smtClean="0"/>
              <a:t>вчених?</a:t>
            </a:r>
          </a:p>
          <a:p>
            <a:pPr marL="0" indent="0">
              <a:buNone/>
            </a:pPr>
            <a:r>
              <a:rPr lang="uk-UA" dirty="0" smtClean="0"/>
              <a:t>3. Як провадиться відбір </a:t>
            </a:r>
            <a:r>
              <a:rPr lang="uk-UA" dirty="0"/>
              <a:t>кандидатів до складу колективу претендентів, робота якого висувається на здобуття премії Президента </a:t>
            </a:r>
            <a:r>
              <a:rPr lang="uk-UA" dirty="0" smtClean="0"/>
              <a:t>України?</a:t>
            </a:r>
          </a:p>
        </p:txBody>
      </p:sp>
    </p:spTree>
    <p:extLst>
      <p:ext uri="{BB962C8B-B14F-4D97-AF65-F5344CB8AC3E}">
        <p14:creationId xmlns:p14="http://schemas.microsoft.com/office/powerpoint/2010/main" val="15104764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10240</TotalTime>
  <Words>487</Words>
  <Application>Microsoft Office PowerPoint</Application>
  <PresentationFormat>Экран (4:3)</PresentationFormat>
  <Paragraphs>48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Тема Office</vt:lpstr>
      <vt:lpstr>Пошук джерел фінансування наукових досліджень за рахунок державного фінансування</vt:lpstr>
      <vt:lpstr>Пріоритетні напрями розвитку науки і техніки на період до до припинення або скасування воєнного стану в Україні</vt:lpstr>
      <vt:lpstr>Презентация PowerPoint</vt:lpstr>
      <vt:lpstr>Премія Президента України для молодих вчених</vt:lpstr>
      <vt:lpstr>Стипендії Президента України для молодих вчених </vt:lpstr>
      <vt:lpstr>5. Матеріали для кожного претендента включають: </vt:lpstr>
      <vt:lpstr>Стипендії Кабінету Міністрів України для молодих вчених  </vt:lpstr>
      <vt:lpstr>Премія Київського міського голови за особливі досягнення молоді у розбудові столиці України – міста-героя Києва"</vt:lpstr>
      <vt:lpstr>Про затвердження положень про премії та стипендії Верховної Ради України</vt:lpstr>
      <vt:lpstr>Презентация PowerPoint</vt:lpstr>
      <vt:lpstr>Презентация PowerPoint</vt:lpstr>
      <vt:lpstr>Конкурс Героїв Небесної Сотні — 2025 </vt:lpstr>
      <vt:lpstr>Питання для самоконтролю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Особливо цінні землі</dc:title>
  <dc:creator>Пользователь Windows</dc:creator>
  <cp:lastModifiedBy>111</cp:lastModifiedBy>
  <cp:revision>76</cp:revision>
  <dcterms:created xsi:type="dcterms:W3CDTF">2018-03-26T02:25:57Z</dcterms:created>
  <dcterms:modified xsi:type="dcterms:W3CDTF">2026-04-15T08:56:31Z</dcterms:modified>
</cp:coreProperties>
</file>
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8"/>
  </p:notesMasterIdLst>
  <p:sldIdLst>
    <p:sldId id="290" r:id="rId2"/>
    <p:sldId id="311" r:id="rId3"/>
    <p:sldId id="318" r:id="rId4"/>
    <p:sldId id="319" r:id="rId5"/>
    <p:sldId id="320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29" r:id="rId14"/>
    <p:sldId id="330" r:id="rId15"/>
    <p:sldId id="332" r:id="rId16"/>
    <p:sldId id="333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86" autoAdjust="0"/>
  </p:normalViewPr>
  <p:slideViewPr>
    <p:cSldViewPr>
      <p:cViewPr varScale="1">
        <p:scale>
          <a:sx n="83" d="100"/>
          <a:sy n="83" d="100"/>
        </p:scale>
        <p:origin x="145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529F4-2B0E-4619-B84E-5568686C433D}" type="datetimeFigureOut">
              <a:rPr lang="uk-UA" smtClean="0"/>
              <a:t>13.05.2026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63AFD-0BB5-4C9E-856D-5E7CCEDFF90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0402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02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95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55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86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65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46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71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12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89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9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616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1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19636-6B6E-4C95-85C1-294833B009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15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st.eu/ecost" TargetMode="External"/><Relationship Id="rId2" Type="http://schemas.openxmlformats.org/officeDocument/2006/relationships/hyperlink" Target="https://www.cost.e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on.gov.ua/ua/nauka/yevrointegraciya/ramkovi-programi-z-doslidzhen-ta-innovacij-gorizont-2020-ta-gorizont-yevropa-ta-iniciativi-yevropejskoyi-komisiyi-yevropejskij-zelenij-kurs/gorizont-2020" TargetMode="External"/><Relationship Id="rId2" Type="http://schemas.openxmlformats.org/officeDocument/2006/relationships/hyperlink" Target="https://ec.europa.eu/programmes/horizon202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ec.europa.eu/info/research-and-innovation/funding/funding-opportunities/funding-programmes-and-open-calls/horizon-europe_e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764704"/>
            <a:ext cx="8064896" cy="2376264"/>
          </a:xfrm>
        </p:spPr>
        <p:txBody>
          <a:bodyPr>
            <a:normAutofit/>
          </a:bodyPr>
          <a:lstStyle/>
          <a:p>
            <a:r>
              <a:rPr lang="en-US" b="1" dirty="0" smtClean="0"/>
              <a:t>COST</a:t>
            </a:r>
            <a:endParaRPr lang="uk-UA" sz="3600" b="1" dirty="0">
              <a:solidFill>
                <a:schemeClr val="tx1"/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44442" y="4221088"/>
            <a:ext cx="8208962" cy="1836738"/>
          </a:xfrm>
          <a:prstGeom prst="rect">
            <a:avLst/>
          </a:prstGeom>
        </p:spPr>
        <p:txBody>
          <a:bodyPr anchor="b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ДЛЯ АСПІРАНТІВ КНУБА</a:t>
            </a:r>
            <a:endParaRPr lang="en-US" sz="2000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ДИСЦИПЛІНА: </a:t>
            </a:r>
            <a:r>
              <a:rPr lang="ru-RU" sz="2000" cap="all" dirty="0" err="1"/>
              <a:t>Фінансування</a:t>
            </a:r>
            <a:r>
              <a:rPr lang="ru-RU" sz="2000" cap="all" dirty="0"/>
              <a:t> </a:t>
            </a:r>
            <a:r>
              <a:rPr lang="ru-RU" sz="2000" cap="all" dirty="0" err="1"/>
              <a:t>наукових</a:t>
            </a:r>
            <a:r>
              <a:rPr lang="ru-RU" sz="2000" cap="all" dirty="0"/>
              <a:t> </a:t>
            </a:r>
            <a:r>
              <a:rPr lang="ru-RU" sz="2000" cap="all" dirty="0" err="1"/>
              <a:t>досліджень</a:t>
            </a:r>
            <a:r>
              <a:rPr lang="ru-RU" sz="2000" cap="all" dirty="0"/>
              <a:t>, </a:t>
            </a:r>
            <a:r>
              <a:rPr lang="ru-RU" sz="2000" cap="all" dirty="0" err="1"/>
              <a:t>грантова</a:t>
            </a:r>
            <a:r>
              <a:rPr lang="ru-RU" sz="2000" cap="all" dirty="0"/>
              <a:t> </a:t>
            </a:r>
            <a:r>
              <a:rPr lang="ru-RU" sz="2000" cap="all" dirty="0" err="1" smtClean="0"/>
              <a:t>діяльність</a:t>
            </a:r>
            <a:endParaRPr lang="ru-RU" sz="2000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КУРС: 1,2</a:t>
            </a:r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ВИКЛАДАЧ: К.Т.Н., ДОЦЕНТ МИХАЛЬОВА МАРІЯ ЮРІЇВНА</a:t>
            </a:r>
            <a:endParaRPr lang="en-US" sz="2000" cap="all" dirty="0" smtClean="0"/>
          </a:p>
          <a:p>
            <a:pPr fontAlgn="auto">
              <a:spcAft>
                <a:spcPts val="0"/>
              </a:spcAft>
              <a:defRPr/>
            </a:pPr>
            <a:endParaRPr lang="uk-UA" sz="2000" b="1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sz="2000" b="1" cap="all" dirty="0" smtClean="0"/>
              <a:t>Mykhalova.myu@knuba.edu.ua</a:t>
            </a:r>
            <a:endParaRPr lang="ru-RU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64123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3"/>
    </mc:Choice>
    <mc:Fallback xmlns="">
      <p:transition spd="slow" advTm="590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COST (European Cooperation in Science and </a:t>
            </a:r>
            <a:r>
              <a:rPr lang="en-US" dirty="0" smtClean="0"/>
              <a:t>Technology</a:t>
            </a:r>
          </a:p>
          <a:p>
            <a:endParaRPr lang="en-US" dirty="0"/>
          </a:p>
          <a:p>
            <a:r>
              <a:rPr lang="en-GB" dirty="0">
                <a:hlinkClick r:id="rId2"/>
              </a:rPr>
              <a:t>https://www.cost.eu</a:t>
            </a:r>
            <a:r>
              <a:rPr lang="en-GB" dirty="0" smtClean="0">
                <a:hlinkClick r:id="rId2"/>
              </a:rPr>
              <a:t>/</a:t>
            </a:r>
            <a:endParaRPr lang="en-GB" dirty="0" smtClean="0"/>
          </a:p>
          <a:p>
            <a:endParaRPr lang="en-GB" dirty="0"/>
          </a:p>
          <a:p>
            <a:r>
              <a:rPr lang="ru-RU" b="1" i="1" dirty="0"/>
              <a:t>Для </a:t>
            </a:r>
            <a:r>
              <a:rPr lang="ru-RU" b="1" i="1" dirty="0" err="1"/>
              <a:t>отримання</a:t>
            </a:r>
            <a:r>
              <a:rPr lang="ru-RU" b="1" i="1" dirty="0"/>
              <a:t> доступу до </a:t>
            </a:r>
            <a:r>
              <a:rPr lang="ru-RU" b="1" i="1" dirty="0" err="1"/>
              <a:t>усіх</a:t>
            </a:r>
            <a:r>
              <a:rPr lang="ru-RU" b="1" i="1" dirty="0"/>
              <a:t> </a:t>
            </a:r>
            <a:r>
              <a:rPr lang="ru-RU" b="1" i="1" dirty="0" err="1"/>
              <a:t>можливостей</a:t>
            </a:r>
            <a:r>
              <a:rPr lang="ru-RU" b="1" i="1" dirty="0"/>
              <a:t> COST - </a:t>
            </a:r>
            <a:r>
              <a:rPr lang="ru-RU" b="1" i="1" dirty="0" err="1"/>
              <a:t>створіть</a:t>
            </a:r>
            <a:r>
              <a:rPr lang="ru-RU" b="1" i="1" dirty="0"/>
              <a:t> COST </a:t>
            </a:r>
            <a:r>
              <a:rPr lang="ru-RU" b="1" i="1" dirty="0" err="1"/>
              <a:t>акаунт</a:t>
            </a:r>
            <a:r>
              <a:rPr lang="ru-RU" b="1" i="1" dirty="0"/>
              <a:t>, </a:t>
            </a:r>
            <a:r>
              <a:rPr lang="ru-RU" b="1" i="1" dirty="0" err="1"/>
              <a:t>перейшовши</a:t>
            </a:r>
            <a:r>
              <a:rPr lang="ru-RU" b="1" i="1" dirty="0"/>
              <a:t> за </a:t>
            </a:r>
            <a:r>
              <a:rPr lang="ru-RU" b="1" i="1" dirty="0" err="1"/>
              <a:t>посиланням</a:t>
            </a:r>
            <a:r>
              <a:rPr lang="ru-RU" b="1" i="1" dirty="0"/>
              <a:t>: </a:t>
            </a:r>
            <a:r>
              <a:rPr lang="ru-RU" b="1" i="1" dirty="0">
                <a:hlinkClick r:id="rId3"/>
              </a:rPr>
              <a:t>www.cost.eu/ecost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83510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cap="all" dirty="0" smtClean="0"/>
              <a:t>УКРАЇНА </a:t>
            </a:r>
            <a:r>
              <a:rPr lang="ru-RU" cap="all" dirty="0"/>
              <a:t>СТАЛА ПОВНОПРАВНИМ ЧЛЕНОМ АСОЦІАЦІЇ </a:t>
            </a:r>
            <a:r>
              <a:rPr lang="ru-RU" cap="all" dirty="0" smtClean="0"/>
              <a:t>COST</a:t>
            </a:r>
            <a:endParaRPr lang="en-US" cap="all" dirty="0" smtClean="0"/>
          </a:p>
          <a:p>
            <a:r>
              <a:rPr lang="ru-RU" dirty="0"/>
              <a:t>30 </a:t>
            </a:r>
            <a:r>
              <a:rPr lang="ru-RU" dirty="0" err="1"/>
              <a:t>березня</a:t>
            </a:r>
            <a:r>
              <a:rPr lang="ru-RU" dirty="0"/>
              <a:t> 2022 року на 213-му </a:t>
            </a:r>
            <a:r>
              <a:rPr lang="ru-RU" dirty="0" err="1"/>
              <a:t>Засіданні</a:t>
            </a:r>
            <a:r>
              <a:rPr lang="ru-RU" dirty="0"/>
              <a:t> </a:t>
            </a:r>
            <a:r>
              <a:rPr lang="ru-RU" dirty="0" err="1"/>
              <a:t>Комітету</a:t>
            </a:r>
            <a:r>
              <a:rPr lang="ru-RU" dirty="0"/>
              <a:t> </a:t>
            </a:r>
            <a:r>
              <a:rPr lang="ru-RU" dirty="0" err="1"/>
              <a:t>представників</a:t>
            </a:r>
            <a:r>
              <a:rPr lang="ru-RU" dirty="0"/>
              <a:t> </a:t>
            </a:r>
            <a:r>
              <a:rPr lang="ru-RU" dirty="0" err="1"/>
              <a:t>високого</a:t>
            </a:r>
            <a:r>
              <a:rPr lang="ru-RU" dirty="0"/>
              <a:t> </a:t>
            </a:r>
            <a:r>
              <a:rPr lang="ru-RU" dirty="0" err="1"/>
              <a:t>рівня</a:t>
            </a:r>
            <a:r>
              <a:rPr lang="ru-RU" dirty="0"/>
              <a:t> </a:t>
            </a:r>
            <a:r>
              <a:rPr lang="ru-RU" dirty="0" err="1"/>
              <a:t>Асоціації</a:t>
            </a:r>
            <a:r>
              <a:rPr lang="ru-RU" dirty="0"/>
              <a:t> </a:t>
            </a:r>
            <a:r>
              <a:rPr lang="ru-RU" dirty="0" err="1"/>
              <a:t>фінансування</a:t>
            </a:r>
            <a:r>
              <a:rPr lang="ru-RU" dirty="0"/>
              <a:t> </a:t>
            </a:r>
            <a:r>
              <a:rPr lang="ru-RU" dirty="0" err="1"/>
              <a:t>інноваційних</a:t>
            </a:r>
            <a:r>
              <a:rPr lang="ru-RU" dirty="0"/>
              <a:t> і </a:t>
            </a:r>
            <a:r>
              <a:rPr lang="ru-RU" dirty="0" err="1"/>
              <a:t>дослідницьких</a:t>
            </a:r>
            <a:r>
              <a:rPr lang="ru-RU" dirty="0"/>
              <a:t> мереж (С</a:t>
            </a:r>
            <a:r>
              <a:rPr lang="pl-PL" dirty="0"/>
              <a:t>OST),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відбулось</a:t>
            </a:r>
            <a:r>
              <a:rPr lang="ru-RU" dirty="0"/>
              <a:t> у </a:t>
            </a:r>
            <a:r>
              <a:rPr lang="ru-RU" dirty="0" err="1"/>
              <a:t>Парижі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егідою</a:t>
            </a:r>
            <a:r>
              <a:rPr lang="ru-RU" dirty="0"/>
              <a:t> </a:t>
            </a:r>
            <a:r>
              <a:rPr lang="ru-RU" dirty="0" err="1"/>
              <a:t>французького</a:t>
            </a:r>
            <a:r>
              <a:rPr lang="ru-RU" dirty="0"/>
              <a:t> </a:t>
            </a:r>
            <a:r>
              <a:rPr lang="ru-RU" dirty="0" err="1"/>
              <a:t>головування</a:t>
            </a:r>
            <a:r>
              <a:rPr lang="ru-RU" dirty="0"/>
              <a:t>, за результатами </a:t>
            </a:r>
            <a:r>
              <a:rPr lang="ru-RU" dirty="0" err="1"/>
              <a:t>одностайного</a:t>
            </a:r>
            <a:r>
              <a:rPr lang="ru-RU" dirty="0"/>
              <a:t> </a:t>
            </a:r>
            <a:r>
              <a:rPr lang="ru-RU" dirty="0" err="1"/>
              <a:t>голосування</a:t>
            </a:r>
            <a:r>
              <a:rPr lang="ru-RU" dirty="0"/>
              <a:t> </a:t>
            </a:r>
            <a:r>
              <a:rPr lang="ru-RU" dirty="0" err="1"/>
              <a:t>Україна</a:t>
            </a:r>
            <a:r>
              <a:rPr lang="ru-RU" dirty="0"/>
              <a:t> стала 39-м </a:t>
            </a:r>
            <a:r>
              <a:rPr lang="ru-RU" dirty="0" err="1"/>
              <a:t>повноправним</a:t>
            </a:r>
            <a:r>
              <a:rPr lang="ru-RU" dirty="0"/>
              <a:t> членом </a:t>
            </a:r>
            <a:r>
              <a:rPr lang="pl-PL" dirty="0"/>
              <a:t>COST. </a:t>
            </a:r>
            <a:endParaRPr lang="ru-RU" cap="all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88868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857250"/>
            <a:ext cx="9144000" cy="207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350"/>
          </a:p>
        </p:txBody>
      </p:sp>
      <p:sp>
        <p:nvSpPr>
          <p:cNvPr id="3" name="object 3"/>
          <p:cNvSpPr txBox="1"/>
          <p:nvPr/>
        </p:nvSpPr>
        <p:spPr>
          <a:xfrm>
            <a:off x="698897" y="1596592"/>
            <a:ext cx="4765417" cy="1179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615"/>
              </a:lnSpc>
            </a:pPr>
            <a:r>
              <a:rPr sz="3000" b="1" spc="-16" dirty="0">
                <a:solidFill>
                  <a:srgbClr val="9B9B9B"/>
                </a:solidFill>
                <a:latin typeface="GFHKAR+2 Bold"/>
                <a:cs typeface="GFHKAR+2 Bold"/>
              </a:rPr>
              <a:t>How</a:t>
            </a:r>
            <a:r>
              <a:rPr sz="3000" b="1" spc="28" dirty="0">
                <a:solidFill>
                  <a:srgbClr val="9B9B9B"/>
                </a:solidFill>
                <a:latin typeface="GFHKAR+2 Bold"/>
                <a:cs typeface="GFHKAR+2 Bold"/>
              </a:rPr>
              <a:t> </a:t>
            </a:r>
            <a:r>
              <a:rPr sz="3000" b="1" dirty="0">
                <a:solidFill>
                  <a:srgbClr val="9B9B9B"/>
                </a:solidFill>
                <a:latin typeface="GFHKAR+2 Bold"/>
                <a:cs typeface="GFHKAR+2 Bold"/>
              </a:rPr>
              <a:t>to </a:t>
            </a:r>
            <a:r>
              <a:rPr sz="3000" b="1" spc="-10" dirty="0">
                <a:solidFill>
                  <a:srgbClr val="9B9B9B"/>
                </a:solidFill>
                <a:latin typeface="GFHKAR+2 Bold"/>
                <a:cs typeface="GFHKAR+2 Bold"/>
              </a:rPr>
              <a:t>engage</a:t>
            </a:r>
            <a:r>
              <a:rPr sz="3000" b="1" spc="112" dirty="0">
                <a:solidFill>
                  <a:srgbClr val="9B9B9B"/>
                </a:solidFill>
                <a:latin typeface="GFHKAR+2 Bold"/>
                <a:cs typeface="GFHKAR+2 Bold"/>
              </a:rPr>
              <a:t> </a:t>
            </a:r>
            <a:r>
              <a:rPr sz="3000" b="1" dirty="0">
                <a:solidFill>
                  <a:srgbClr val="9B9B9B"/>
                </a:solidFill>
                <a:latin typeface="GFHKAR+2 Bold"/>
                <a:cs typeface="GFHKAR+2 Bold"/>
              </a:rPr>
              <a:t>with</a:t>
            </a:r>
            <a:r>
              <a:rPr sz="3000" b="1" spc="-48" dirty="0">
                <a:solidFill>
                  <a:srgbClr val="9B9B9B"/>
                </a:solidFill>
                <a:latin typeface="GFHKAR+2 Bold"/>
                <a:cs typeface="GFHKAR+2 Bold"/>
              </a:rPr>
              <a:t> </a:t>
            </a:r>
            <a:r>
              <a:rPr sz="3000" b="1" spc="-15" dirty="0">
                <a:solidFill>
                  <a:srgbClr val="9B9B9B"/>
                </a:solidFill>
                <a:latin typeface="GFHKAR+2 Bold"/>
                <a:cs typeface="GFHKAR+2 Bold"/>
              </a:rPr>
              <a:t>COST?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61827" y="2657288"/>
            <a:ext cx="570340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86"/>
              </a:lnSpc>
            </a:pPr>
            <a:r>
              <a:rPr sz="6600" b="1" dirty="0">
                <a:solidFill>
                  <a:srgbClr val="BE5ABF"/>
                </a:solidFill>
                <a:latin typeface="GFHKAR+2 Bold"/>
                <a:cs typeface="GFHKAR+2 Bold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47738" y="2657288"/>
            <a:ext cx="570340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86"/>
              </a:lnSpc>
            </a:pPr>
            <a:r>
              <a:rPr sz="6600" b="1" dirty="0">
                <a:solidFill>
                  <a:srgbClr val="3D5ABF"/>
                </a:solidFill>
                <a:latin typeface="GFHKAR+2 Bold"/>
                <a:cs typeface="GFHKAR+2 Bold"/>
              </a:rPr>
              <a:t>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38447" y="3378079"/>
            <a:ext cx="570470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89"/>
              </a:lnSpc>
            </a:pPr>
            <a:r>
              <a:rPr sz="6600" b="1" dirty="0">
                <a:solidFill>
                  <a:srgbClr val="FF7958"/>
                </a:solidFill>
                <a:latin typeface="GFHKAR+2 Bold"/>
                <a:cs typeface="GFHKAR+2 Bold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1096" y="4104224"/>
            <a:ext cx="1617155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2351"/>
              </a:lnSpc>
            </a:pPr>
            <a:r>
              <a:rPr sz="1538" spc="-17" dirty="0">
                <a:solidFill>
                  <a:srgbClr val="737373"/>
                </a:solidFill>
                <a:latin typeface="MHEORE+5"/>
                <a:cs typeface="MHEORE+5"/>
              </a:rPr>
              <a:t>As</a:t>
            </a:r>
            <a:r>
              <a:rPr sz="1538" spc="-14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dirty="0">
                <a:solidFill>
                  <a:srgbClr val="737373"/>
                </a:solidFill>
                <a:latin typeface="MHEORE+5"/>
                <a:cs typeface="MHEORE+5"/>
              </a:rPr>
              <a:t>a</a:t>
            </a:r>
            <a:r>
              <a:rPr sz="1538" spc="-22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spc="-16" dirty="0">
                <a:solidFill>
                  <a:srgbClr val="BE5ABF"/>
                </a:solidFill>
                <a:latin typeface="JKJQGF+1 Regular"/>
                <a:cs typeface="JKJQGF+1 Regular"/>
              </a:rPr>
              <a:t>participant</a:t>
            </a:r>
          </a:p>
          <a:p>
            <a:pPr>
              <a:lnSpc>
                <a:spcPts val="1577"/>
              </a:lnSpc>
            </a:pPr>
            <a:r>
              <a:rPr sz="1538" spc="-26" dirty="0">
                <a:solidFill>
                  <a:srgbClr val="737373"/>
                </a:solidFill>
                <a:latin typeface="MHEORE+5"/>
                <a:cs typeface="MHEORE+5"/>
              </a:rPr>
              <a:t>of</a:t>
            </a:r>
            <a:r>
              <a:rPr sz="1538" dirty="0">
                <a:solidFill>
                  <a:srgbClr val="737373"/>
                </a:solidFill>
                <a:latin typeface="MHEORE+5"/>
                <a:cs typeface="MHEORE+5"/>
              </a:rPr>
              <a:t> a</a:t>
            </a:r>
            <a:r>
              <a:rPr sz="1538" spc="-23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spc="-24" dirty="0">
                <a:solidFill>
                  <a:srgbClr val="737373"/>
                </a:solidFill>
                <a:latin typeface="MHEORE+5"/>
                <a:cs typeface="MHEORE+5"/>
              </a:rPr>
              <a:t>running</a:t>
            </a:r>
            <a:r>
              <a:rPr sz="1538" spc="48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spc="-13" dirty="0">
                <a:solidFill>
                  <a:srgbClr val="737373"/>
                </a:solidFill>
                <a:latin typeface="MHEORE+5"/>
                <a:cs typeface="MHEORE+5"/>
              </a:rPr>
              <a:t>Action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85370" y="4104224"/>
            <a:ext cx="183363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51"/>
              </a:lnSpc>
            </a:pPr>
            <a:r>
              <a:rPr sz="1538" spc="-19" dirty="0">
                <a:solidFill>
                  <a:srgbClr val="737373"/>
                </a:solidFill>
                <a:latin typeface="MHEORE+5"/>
                <a:cs typeface="MHEORE+5"/>
              </a:rPr>
              <a:t>As</a:t>
            </a:r>
            <a:r>
              <a:rPr sz="1538" spc="-13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spc="-20" dirty="0">
                <a:solidFill>
                  <a:srgbClr val="3D5ABF"/>
                </a:solidFill>
                <a:latin typeface="JKJQGF+1 Regular"/>
                <a:cs typeface="JKJQGF+1 Regular"/>
              </a:rPr>
              <a:t>expert</a:t>
            </a:r>
            <a:r>
              <a:rPr sz="1538" dirty="0">
                <a:solidFill>
                  <a:srgbClr val="3D5ABF"/>
                </a:solidFill>
                <a:latin typeface="JKJQGF+1 Regular"/>
                <a:cs typeface="JKJQGF+1 Regular"/>
              </a:rPr>
              <a:t> </a:t>
            </a:r>
            <a:r>
              <a:rPr sz="1538" spc="17" dirty="0">
                <a:solidFill>
                  <a:srgbClr val="737373"/>
                </a:solidFill>
                <a:latin typeface="MHEORE+5"/>
                <a:cs typeface="MHEORE+5"/>
              </a:rPr>
              <a:t>to</a:t>
            </a:r>
            <a:r>
              <a:rPr sz="1538" spc="-38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spc="-17" dirty="0">
                <a:solidFill>
                  <a:srgbClr val="737373"/>
                </a:solidFill>
                <a:latin typeface="MHEORE+5"/>
                <a:cs typeface="MHEORE+5"/>
              </a:rPr>
              <a:t>evaluate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13945" y="4304535"/>
            <a:ext cx="177396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51"/>
              </a:lnSpc>
            </a:pPr>
            <a:r>
              <a:rPr sz="1538" spc="-14" dirty="0">
                <a:solidFill>
                  <a:srgbClr val="737373"/>
                </a:solidFill>
                <a:latin typeface="MHEORE+5"/>
                <a:cs typeface="MHEORE+5"/>
              </a:rPr>
              <a:t>submitted</a:t>
            </a:r>
            <a:r>
              <a:rPr sz="1538" spc="-24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spc="-12" dirty="0">
                <a:solidFill>
                  <a:srgbClr val="737373"/>
                </a:solidFill>
                <a:latin typeface="MHEORE+5"/>
                <a:cs typeface="MHEORE+5"/>
              </a:rPr>
              <a:t>proposals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07644" y="4825266"/>
            <a:ext cx="124926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51"/>
              </a:lnSpc>
            </a:pPr>
            <a:r>
              <a:rPr sz="1538" spc="-17" dirty="0">
                <a:solidFill>
                  <a:srgbClr val="737373"/>
                </a:solidFill>
                <a:latin typeface="MHEORE+5"/>
                <a:cs typeface="MHEORE+5"/>
              </a:rPr>
              <a:t>As</a:t>
            </a:r>
            <a:r>
              <a:rPr sz="1538" spc="-14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dirty="0">
                <a:solidFill>
                  <a:srgbClr val="737373"/>
                </a:solidFill>
                <a:latin typeface="MHEORE+5"/>
                <a:cs typeface="MHEORE+5"/>
              </a:rPr>
              <a:t>a</a:t>
            </a:r>
            <a:r>
              <a:rPr sz="1538" spc="-22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spc="-19" dirty="0">
                <a:solidFill>
                  <a:srgbClr val="FF7958"/>
                </a:solidFill>
                <a:latin typeface="JKJQGF+1 Regular"/>
                <a:cs typeface="JKJQGF+1 Regular"/>
              </a:rPr>
              <a:t>proposer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693129" y="5025278"/>
            <a:ext cx="188468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54"/>
              </a:lnSpc>
            </a:pPr>
            <a:r>
              <a:rPr sz="1538" spc="-26" dirty="0">
                <a:solidFill>
                  <a:srgbClr val="737373"/>
                </a:solidFill>
                <a:latin typeface="MHEORE+5"/>
                <a:cs typeface="MHEORE+5"/>
              </a:rPr>
              <a:t>of</a:t>
            </a:r>
            <a:r>
              <a:rPr sz="1538" dirty="0">
                <a:solidFill>
                  <a:srgbClr val="737373"/>
                </a:solidFill>
                <a:latin typeface="MHEORE+5"/>
                <a:cs typeface="MHEORE+5"/>
              </a:rPr>
              <a:t> a</a:t>
            </a:r>
            <a:r>
              <a:rPr sz="1538" spc="-20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spc="-32" dirty="0">
                <a:solidFill>
                  <a:srgbClr val="737373"/>
                </a:solidFill>
                <a:latin typeface="MHEORE+5"/>
                <a:cs typeface="MHEORE+5"/>
              </a:rPr>
              <a:t>new</a:t>
            </a:r>
            <a:r>
              <a:rPr sz="1538" spc="61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spc="-17" dirty="0">
                <a:solidFill>
                  <a:srgbClr val="737373"/>
                </a:solidFill>
                <a:latin typeface="MHEORE+5"/>
                <a:cs typeface="MHEORE+5"/>
              </a:rPr>
              <a:t>COST</a:t>
            </a:r>
            <a:r>
              <a:rPr sz="1538" spc="-27" dirty="0">
                <a:solidFill>
                  <a:srgbClr val="737373"/>
                </a:solidFill>
                <a:latin typeface="MHEORE+5"/>
                <a:cs typeface="MHEORE+5"/>
              </a:rPr>
              <a:t> </a:t>
            </a:r>
            <a:r>
              <a:rPr sz="1538" spc="-11" dirty="0">
                <a:solidFill>
                  <a:srgbClr val="737373"/>
                </a:solidFill>
                <a:latin typeface="MHEORE+5"/>
                <a:cs typeface="MHEORE+5"/>
              </a:rPr>
              <a:t>Action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635651" y="5586428"/>
            <a:ext cx="24101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4"/>
              </a:lnSpc>
            </a:pPr>
            <a:r>
              <a:rPr sz="900" b="1" spc="16" dirty="0">
                <a:solidFill>
                  <a:srgbClr val="000000"/>
                </a:solidFill>
                <a:latin typeface="GFHKAR+2 Bold"/>
                <a:cs typeface="GFHKAR+2 Bold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98706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764704"/>
            <a:ext cx="8064896" cy="2376264"/>
          </a:xfrm>
        </p:spPr>
        <p:txBody>
          <a:bodyPr>
            <a:normAutofit/>
          </a:bodyPr>
          <a:lstStyle/>
          <a:p>
            <a:r>
              <a:rPr lang="en-GB" b="1" dirty="0"/>
              <a:t>Horizon </a:t>
            </a:r>
            <a:r>
              <a:rPr lang="en-GB" b="1" dirty="0" smtClean="0"/>
              <a:t>Europe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ERASMUS+</a:t>
            </a:r>
            <a:endParaRPr lang="uk-UA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26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3"/>
    </mc:Choice>
    <mc:Fallback xmlns="">
      <p:transition spd="slow" advTm="5903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8229600" cy="1143000"/>
          </a:xfrm>
        </p:spPr>
        <p:txBody>
          <a:bodyPr>
            <a:normAutofit/>
          </a:bodyPr>
          <a:lstStyle/>
          <a:p>
            <a:pPr fontAlgn="base"/>
            <a:r>
              <a:rPr lang="uk-UA" cap="all" dirty="0"/>
              <a:t>ГОРИЗОНТ 2020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541907"/>
            <a:ext cx="8517632" cy="4695405"/>
          </a:xfrm>
        </p:spPr>
        <p:txBody>
          <a:bodyPr>
            <a:normAutofit fontScale="55000" lnSpcReduction="20000"/>
          </a:bodyPr>
          <a:lstStyle/>
          <a:p>
            <a:r>
              <a:rPr lang="en-GB" b="1" dirty="0">
                <a:hlinkClick r:id="rId2"/>
              </a:rPr>
              <a:t>https://ec.europa.eu/programmes/horizon2020</a:t>
            </a:r>
            <a:r>
              <a:rPr lang="en-GB" b="1" dirty="0" smtClean="0">
                <a:hlinkClick r:id="rId2"/>
              </a:rPr>
              <a:t>/</a:t>
            </a:r>
            <a:endParaRPr lang="en-GB" b="1" dirty="0" smtClean="0"/>
          </a:p>
          <a:p>
            <a:endParaRPr lang="en-GB" b="1" dirty="0"/>
          </a:p>
          <a:p>
            <a:r>
              <a:rPr lang="en-GB" b="1" dirty="0">
                <a:hlinkClick r:id="rId3"/>
              </a:rPr>
              <a:t>https://</a:t>
            </a:r>
            <a:r>
              <a:rPr lang="en-GB" b="1" dirty="0" smtClean="0">
                <a:hlinkClick r:id="rId3"/>
              </a:rPr>
              <a:t>mon.gov.ua/ua/nauka/yevrointegraciya/ramkovi-programi-z-doslidzhen-ta-innovacij-gorizont-2020-ta-gorizont-yevropa-ta-iniciativi-yevropejskoyi-komisiyi-yevropejskij-zelenij-kurs/gorizont-2020</a:t>
            </a:r>
            <a:r>
              <a:rPr lang="en-GB" b="1" dirty="0" smtClean="0"/>
              <a:t> </a:t>
            </a:r>
          </a:p>
          <a:p>
            <a:endParaRPr lang="en-GB" b="1" dirty="0" smtClean="0"/>
          </a:p>
          <a:p>
            <a:pPr fontAlgn="base"/>
            <a:r>
              <a:rPr lang="uk-UA" dirty="0"/>
              <a:t>Найбільше фінансування було залучено: </a:t>
            </a:r>
          </a:p>
          <a:p>
            <a:r>
              <a:rPr lang="uk-UA" dirty="0"/>
              <a:t>Національний аерокосмічний університет ім. М. Є. Жуковського «Харківський авіаційний інститут» – 2,06 млн євро;</a:t>
            </a:r>
          </a:p>
          <a:p>
            <a:r>
              <a:rPr lang="uk-UA" dirty="0"/>
              <a:t>ННЦ «Харківський фізико-технічний інститут» – 1,41 млн євро;</a:t>
            </a:r>
          </a:p>
          <a:p>
            <a:r>
              <a:rPr lang="uk-UA" dirty="0"/>
              <a:t>ТОВ «НАНОТЕХЦЕНТР» – 1,34 млн євро;</a:t>
            </a:r>
          </a:p>
          <a:p>
            <a:r>
              <a:rPr lang="uk-UA" dirty="0"/>
              <a:t>ТОВ «</a:t>
            </a:r>
            <a:r>
              <a:rPr lang="uk-UA" dirty="0" err="1"/>
              <a:t>Політеда</a:t>
            </a:r>
            <a:r>
              <a:rPr lang="uk-UA" dirty="0"/>
              <a:t> </a:t>
            </a:r>
            <a:r>
              <a:rPr lang="uk-UA" dirty="0" err="1"/>
              <a:t>Клауд</a:t>
            </a:r>
            <a:r>
              <a:rPr lang="uk-UA" dirty="0"/>
              <a:t>» – 1,22 млн євро;</a:t>
            </a:r>
          </a:p>
          <a:p>
            <a:r>
              <a:rPr lang="uk-UA" dirty="0"/>
              <a:t>ТОВ «</a:t>
            </a:r>
            <a:r>
              <a:rPr lang="en-GB" dirty="0" err="1"/>
              <a:t>SolarGaps</a:t>
            </a:r>
            <a:r>
              <a:rPr lang="en-GB" dirty="0"/>
              <a:t>» – 1,05 </a:t>
            </a:r>
            <a:r>
              <a:rPr lang="uk-UA" dirty="0"/>
              <a:t>млн євро.</a:t>
            </a:r>
          </a:p>
          <a:p>
            <a:endParaRPr lang="en-GB" b="1" dirty="0" smtClean="0"/>
          </a:p>
          <a:p>
            <a:pPr marL="0" indent="0">
              <a:buNone/>
            </a:pPr>
            <a:r>
              <a:rPr lang="uk-UA" dirty="0"/>
              <a:t>«Горизонт 2020» – це найбільша Рамкова програма Європейського Союзу з фінансування науки та інновацій із загальним бюджетом близько 80 мільярдів євро, розрахована на 2014 – 2020 роки.</a:t>
            </a:r>
          </a:p>
        </p:txBody>
      </p:sp>
    </p:spTree>
    <p:extLst>
      <p:ext uri="{BB962C8B-B14F-4D97-AF65-F5344CB8AC3E}">
        <p14:creationId xmlns:p14="http://schemas.microsoft.com/office/powerpoint/2010/main" val="1696724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Horizon Europe</a:t>
            </a:r>
            <a:br>
              <a:rPr lang="en-GB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 smtClean="0"/>
              <a:t>ОФІС ГОРИЗОНТ ЄВРОПАВ УКРАЇНІ</a:t>
            </a:r>
          </a:p>
          <a:p>
            <a:r>
              <a:rPr lang="en-GB" dirty="0" smtClean="0"/>
              <a:t>https</a:t>
            </a:r>
            <a:r>
              <a:rPr lang="en-GB" dirty="0"/>
              <a:t>://horizon-europe.org.ua/uk/home/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792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Horizon Europe</a:t>
            </a:r>
            <a:br>
              <a:rPr lang="en-GB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dirty="0"/>
              <a:t>Рамкова програма Європейського Союзу з досліджень та інновацій  «Горизонт Європа» (2021-2027) (далі – програма “Горизонт Європа”) – це найбільша програма Європейського Союзу (ЄС) з фінансування науки та інновацій із загальним бюджетом понад 95,5 мільярдів євро. Програма «Горизонт Європа» є продовженням восьмої рамкової програми ЄС з досліджень та інновацій “Горизонт 2020”. </a:t>
            </a:r>
          </a:p>
        </p:txBody>
      </p:sp>
    </p:spTree>
    <p:extLst>
      <p:ext uri="{BB962C8B-B14F-4D97-AF65-F5344CB8AC3E}">
        <p14:creationId xmlns:p14="http://schemas.microsoft.com/office/powerpoint/2010/main" val="412812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to participate</a:t>
            </a:r>
            <a:r>
              <a:rPr lang="en-GB" b="1" dirty="0"/>
              <a:t/>
            </a:r>
            <a:br>
              <a:rPr lang="en-GB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Find </a:t>
            </a:r>
            <a:r>
              <a:rPr lang="en-US" dirty="0"/>
              <a:t>a suitable call for </a:t>
            </a:r>
            <a:r>
              <a:rPr lang="en-US" dirty="0" smtClean="0"/>
              <a:t>proposal</a:t>
            </a:r>
          </a:p>
          <a:p>
            <a:pPr marL="514350" indent="-514350">
              <a:buAutoNum type="arabicPeriod"/>
            </a:pPr>
            <a:r>
              <a:rPr lang="en-GB" dirty="0"/>
              <a:t>Find project partners (optional</a:t>
            </a:r>
            <a:r>
              <a:rPr lang="en-GB" dirty="0" smtClean="0"/>
              <a:t>)</a:t>
            </a:r>
          </a:p>
          <a:p>
            <a:pPr marL="514350" indent="-514350">
              <a:buAutoNum type="arabicPeriod"/>
            </a:pPr>
            <a:r>
              <a:rPr lang="en-US" dirty="0"/>
              <a:t>Create an EU Login account</a:t>
            </a:r>
            <a:endParaRPr lang="en-GB" dirty="0" smtClean="0"/>
          </a:p>
          <a:p>
            <a:pPr marL="514350" indent="-514350">
              <a:buAutoNum type="arabicPeriod"/>
            </a:pPr>
            <a:r>
              <a:rPr lang="en-GB" dirty="0"/>
              <a:t>Register an </a:t>
            </a:r>
            <a:r>
              <a:rPr lang="en-GB" dirty="0" smtClean="0"/>
              <a:t>organisation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GB" dirty="0" smtClean="0"/>
              <a:t>Submit </a:t>
            </a:r>
            <a:r>
              <a:rPr lang="en-GB" dirty="0"/>
              <a:t>your grant proposal</a:t>
            </a:r>
          </a:p>
          <a:p>
            <a:pPr marL="514350" indent="-514350">
              <a:buAutoNum type="arabicPeriod"/>
            </a:pPr>
            <a:endParaRPr lang="en-US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8974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Horizon Europe</a:t>
            </a:r>
            <a:br>
              <a:rPr lang="en-GB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ec.europa.eu/info/research-and-innovation/funding/funding-opportunities/funding-programmes-and-open-calls/horizon-europe_en</a:t>
            </a:r>
            <a:endParaRPr lang="en-GB" dirty="0" smtClean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400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Національний</a:t>
            </a:r>
            <a:r>
              <a:rPr lang="ru-RU" b="1" dirty="0" smtClean="0"/>
              <a:t> </a:t>
            </a:r>
            <a:r>
              <a:rPr lang="ru-RU" b="1" dirty="0" err="1" smtClean="0"/>
              <a:t>Еразмус</a:t>
            </a:r>
            <a:r>
              <a:rPr lang="ru-RU" b="1" dirty="0" smtClean="0"/>
              <a:t>+ </a:t>
            </a:r>
            <a:r>
              <a:rPr lang="ru-RU" b="1" dirty="0" err="1" smtClean="0"/>
              <a:t>офіс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https://erasmusplus.org.ua/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20764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Національний</a:t>
            </a:r>
            <a:r>
              <a:rPr lang="ru-RU" b="1" dirty="0" smtClean="0"/>
              <a:t> </a:t>
            </a:r>
            <a:r>
              <a:rPr lang="ru-RU" b="1" dirty="0" err="1" smtClean="0"/>
              <a:t>Еразмус</a:t>
            </a:r>
            <a:r>
              <a:rPr lang="ru-RU" b="1" dirty="0" smtClean="0"/>
              <a:t>+ </a:t>
            </a:r>
            <a:r>
              <a:rPr lang="ru-RU" b="1" dirty="0" err="1" smtClean="0"/>
              <a:t>офіс</a:t>
            </a:r>
            <a:endParaRPr lang="uk-UA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600200"/>
            <a:ext cx="804615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85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What is Erasmus+?</a:t>
            </a:r>
            <a:br>
              <a:rPr lang="en-GB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2021-2027</a:t>
            </a:r>
          </a:p>
          <a:p>
            <a:pPr marL="0" indent="0">
              <a:buNone/>
            </a:pPr>
            <a:r>
              <a:rPr lang="en-GB" dirty="0" smtClean="0"/>
              <a:t>budget </a:t>
            </a:r>
            <a:r>
              <a:rPr lang="en-GB" dirty="0"/>
              <a:t>of €26.2 billion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85502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What is Erasmus+?</a:t>
            </a:r>
            <a:br>
              <a:rPr lang="en-GB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b="1" dirty="0"/>
              <a:t>ec.europa.eu</a:t>
            </a:r>
            <a:r>
              <a:rPr lang="en-GB" dirty="0"/>
              <a:t>/programmes/erasmus-plus/about_en#tab-1-5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62168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2392" y="8367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Programme guide</a:t>
            </a:r>
            <a:br>
              <a:rPr lang="en-GB" b="1" dirty="0"/>
            </a:br>
            <a:r>
              <a:rPr lang="en-US" b="1" dirty="0"/>
              <a:t/>
            </a:r>
            <a:br>
              <a:rPr lang="en-US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https://ec.europa.eu/programmes/erasmus-plus/resources/programme-guide_en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98128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Питання </a:t>
            </a:r>
            <a:r>
              <a:rPr lang="uk-UA" smtClean="0"/>
              <a:t>для самоконтролю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Назвіть міжнародних </a:t>
            </a:r>
            <a:r>
              <a:rPr lang="uk-UA" dirty="0"/>
              <a:t>донорів фінансує освітні </a:t>
            </a:r>
            <a:r>
              <a:rPr lang="uk-UA" dirty="0" err="1"/>
              <a:t>проєкти</a:t>
            </a:r>
            <a:endParaRPr lang="uk-UA" dirty="0"/>
          </a:p>
          <a:p>
            <a:r>
              <a:rPr lang="uk-UA" dirty="0"/>
              <a:t>Назвіть </a:t>
            </a:r>
            <a:r>
              <a:rPr lang="uk-UA" dirty="0" smtClean="0"/>
              <a:t>міжнародних </a:t>
            </a:r>
            <a:r>
              <a:rPr lang="uk-UA" dirty="0"/>
              <a:t>донорів фінансує наукові </a:t>
            </a:r>
            <a:r>
              <a:rPr lang="uk-UA" dirty="0" err="1" smtClean="0"/>
              <a:t>проєкти</a:t>
            </a:r>
            <a:endParaRPr lang="uk-UA" dirty="0" smtClean="0"/>
          </a:p>
          <a:p>
            <a:r>
              <a:rPr lang="ru-RU" dirty="0" err="1"/>
              <a:t>Erasmus</a:t>
            </a:r>
            <a:r>
              <a:rPr lang="ru-RU" dirty="0"/>
              <a:t>+ - </a:t>
            </a:r>
            <a:r>
              <a:rPr lang="ru-RU" dirty="0" err="1"/>
              <a:t>це</a:t>
            </a:r>
            <a:endParaRPr lang="uk-UA" dirty="0"/>
          </a:p>
          <a:p>
            <a:r>
              <a:rPr lang="ru-RU" dirty="0" err="1" smtClean="0"/>
              <a:t>Україна</a:t>
            </a:r>
            <a:r>
              <a:rPr lang="ru-RU" dirty="0" smtClean="0"/>
              <a:t> </a:t>
            </a:r>
            <a:r>
              <a:rPr lang="ru-RU" dirty="0"/>
              <a:t>в </a:t>
            </a:r>
            <a:r>
              <a:rPr lang="ru-RU" dirty="0" err="1"/>
              <a:t>програмі</a:t>
            </a:r>
            <a:r>
              <a:rPr lang="ru-RU" dirty="0"/>
              <a:t> </a:t>
            </a:r>
            <a:r>
              <a:rPr lang="ru-RU" dirty="0" err="1"/>
              <a:t>Erasmus</a:t>
            </a:r>
            <a:r>
              <a:rPr lang="ru-RU" dirty="0"/>
              <a:t>+ </a:t>
            </a:r>
            <a:r>
              <a:rPr lang="ru-RU" dirty="0" err="1"/>
              <a:t>відноситься</a:t>
            </a:r>
            <a:r>
              <a:rPr lang="ru-RU" dirty="0"/>
              <a:t> до</a:t>
            </a:r>
            <a:endParaRPr lang="uk-UA" dirty="0"/>
          </a:p>
          <a:p>
            <a:pPr marL="0" indent="0">
              <a:buNone/>
            </a:pPr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715030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13782</TotalTime>
  <Words>260</Words>
  <Application>Microsoft Office PowerPoint</Application>
  <PresentationFormat>Экран (4:3)</PresentationFormat>
  <Paragraphs>69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GFHKAR+2 Bold</vt:lpstr>
      <vt:lpstr>JKJQGF+1 Regular</vt:lpstr>
      <vt:lpstr>MHEORE+5</vt:lpstr>
      <vt:lpstr>Тема Office</vt:lpstr>
      <vt:lpstr>COST</vt:lpstr>
      <vt:lpstr>COST</vt:lpstr>
      <vt:lpstr>COST</vt:lpstr>
      <vt:lpstr>Презентация PowerPoint</vt:lpstr>
      <vt:lpstr>Horizon Europe ERASMUS+</vt:lpstr>
      <vt:lpstr>ГОРИЗОНТ 2020</vt:lpstr>
      <vt:lpstr>Horizon Europe </vt:lpstr>
      <vt:lpstr>Horizon Europe </vt:lpstr>
      <vt:lpstr>How to participate </vt:lpstr>
      <vt:lpstr>Horizon Europe </vt:lpstr>
      <vt:lpstr>Національний Еразмус+ офіс</vt:lpstr>
      <vt:lpstr>Національний Еразмус+ офіс</vt:lpstr>
      <vt:lpstr>What is Erasmus+? </vt:lpstr>
      <vt:lpstr>What is Erasmus+? </vt:lpstr>
      <vt:lpstr>Programme guide  </vt:lpstr>
      <vt:lpstr>Питання для самоконтролю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Особливо цінні землі</dc:title>
  <dc:creator>Пользователь Windows</dc:creator>
  <cp:lastModifiedBy>111</cp:lastModifiedBy>
  <cp:revision>115</cp:revision>
  <dcterms:created xsi:type="dcterms:W3CDTF">2018-03-26T02:25:57Z</dcterms:created>
  <dcterms:modified xsi:type="dcterms:W3CDTF">2026-05-13T13:41:08Z</dcterms:modified>
</cp:coreProperties>
</file>
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90" r:id="rId2"/>
    <p:sldId id="284" r:id="rId3"/>
    <p:sldId id="292" r:id="rId4"/>
    <p:sldId id="293" r:id="rId5"/>
    <p:sldId id="294" r:id="rId6"/>
    <p:sldId id="295" r:id="rId7"/>
    <p:sldId id="291" r:id="rId8"/>
    <p:sldId id="271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86" autoAdjust="0"/>
  </p:normalViewPr>
  <p:slideViewPr>
    <p:cSldViewPr>
      <p:cViewPr varScale="1">
        <p:scale>
          <a:sx n="83" d="100"/>
          <a:sy n="83" d="100"/>
        </p:scale>
        <p:origin x="145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02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95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55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86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65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46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71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12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89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9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61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19636-6B6E-4C95-85C1-294833B009B9}" type="datetimeFigureOut">
              <a:rPr lang="ru-RU" smtClean="0"/>
              <a:t>31.03.2021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15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zakon.rada.gov.ua/laws/show/2675-19#Tex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dpu-nt.gov.ua/uk/content/stipendii_pezidenta/umovi-ta-poryadok-provedennya-konkursu-na-zdobuttya-stipendii-prezidenta-ukrayini-dlya-molo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764704"/>
            <a:ext cx="8064896" cy="2376264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Пошук</a:t>
            </a:r>
            <a:r>
              <a:rPr lang="ru-RU" b="1" dirty="0"/>
              <a:t> </a:t>
            </a:r>
            <a:r>
              <a:rPr lang="ru-RU" b="1" dirty="0" err="1"/>
              <a:t>джерел</a:t>
            </a:r>
            <a:r>
              <a:rPr lang="ru-RU" b="1" dirty="0"/>
              <a:t> </a:t>
            </a:r>
            <a:r>
              <a:rPr lang="ru-RU" b="1" dirty="0" err="1"/>
              <a:t>фінансування</a:t>
            </a:r>
            <a:r>
              <a:rPr lang="ru-RU" b="1" dirty="0"/>
              <a:t> </a:t>
            </a:r>
            <a:r>
              <a:rPr lang="ru-RU" b="1" dirty="0" err="1"/>
              <a:t>наукових</a:t>
            </a:r>
            <a:r>
              <a:rPr lang="ru-RU" b="1" dirty="0"/>
              <a:t> </a:t>
            </a:r>
            <a:r>
              <a:rPr lang="ru-RU" b="1" dirty="0" err="1"/>
              <a:t>досліджень</a:t>
            </a:r>
            <a:r>
              <a:rPr lang="ru-RU" b="1" dirty="0"/>
              <a:t> за </a:t>
            </a:r>
            <a:r>
              <a:rPr lang="ru-RU" b="1" dirty="0" err="1"/>
              <a:t>рахунок</a:t>
            </a:r>
            <a:r>
              <a:rPr lang="ru-RU" b="1" dirty="0"/>
              <a:t> </a:t>
            </a:r>
            <a:r>
              <a:rPr lang="ru-RU" b="1" dirty="0" err="1"/>
              <a:t>бюджетних</a:t>
            </a:r>
            <a:r>
              <a:rPr lang="ru-RU" b="1" dirty="0"/>
              <a:t> </a:t>
            </a:r>
            <a:r>
              <a:rPr lang="ru-RU" b="1" dirty="0" err="1"/>
              <a:t>коштів</a:t>
            </a:r>
            <a:r>
              <a:rPr lang="ru-RU" b="1" dirty="0"/>
              <a:t> </a:t>
            </a:r>
            <a:r>
              <a:rPr lang="uk-UA" sz="3600" b="1" dirty="0" smtClean="0">
                <a:solidFill>
                  <a:schemeClr val="tx1"/>
                </a:solidFill>
              </a:rPr>
              <a:t/>
            </a:r>
            <a:br>
              <a:rPr lang="uk-UA" sz="3600" b="1" dirty="0" smtClean="0">
                <a:solidFill>
                  <a:schemeClr val="tx1"/>
                </a:solidFill>
              </a:rPr>
            </a:br>
            <a:endParaRPr lang="uk-UA" sz="3600" b="1" dirty="0">
              <a:solidFill>
                <a:schemeClr val="tx1"/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44442" y="4221088"/>
            <a:ext cx="8208962" cy="1836738"/>
          </a:xfrm>
          <a:prstGeom prst="rect">
            <a:avLst/>
          </a:prstGeom>
        </p:spPr>
        <p:txBody>
          <a:bodyPr anchor="b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ДЛЯ АСПІРАНТІВ КНУБА</a:t>
            </a:r>
            <a:endParaRPr lang="en-US" sz="2000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ДИСЦИПЛІНА: </a:t>
            </a:r>
            <a:r>
              <a:rPr lang="ru-RU" sz="2000" cap="all" dirty="0" err="1"/>
              <a:t>Фінансування</a:t>
            </a:r>
            <a:r>
              <a:rPr lang="ru-RU" sz="2000" cap="all" dirty="0"/>
              <a:t> </a:t>
            </a:r>
            <a:r>
              <a:rPr lang="ru-RU" sz="2000" cap="all" dirty="0" err="1"/>
              <a:t>наукових</a:t>
            </a:r>
            <a:r>
              <a:rPr lang="ru-RU" sz="2000" cap="all" dirty="0"/>
              <a:t> </a:t>
            </a:r>
            <a:r>
              <a:rPr lang="ru-RU" sz="2000" cap="all" dirty="0" err="1"/>
              <a:t>досліджень</a:t>
            </a:r>
            <a:r>
              <a:rPr lang="ru-RU" sz="2000" cap="all" dirty="0"/>
              <a:t>, </a:t>
            </a:r>
            <a:r>
              <a:rPr lang="ru-RU" sz="2000" cap="all" dirty="0" err="1"/>
              <a:t>грантова</a:t>
            </a:r>
            <a:r>
              <a:rPr lang="ru-RU" sz="2000" cap="all" dirty="0"/>
              <a:t> </a:t>
            </a:r>
            <a:r>
              <a:rPr lang="ru-RU" sz="2000" cap="all" dirty="0" err="1" smtClean="0"/>
              <a:t>діяльність</a:t>
            </a:r>
            <a:endParaRPr lang="ru-RU" sz="2000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КУРС: 1,2</a:t>
            </a:r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ВИКЛАДАЧ: К.Т.Н., ДОЦЕНТ МИХАЛЬОВА МАРІЯ ЮРІЇВНА</a:t>
            </a:r>
            <a:endParaRPr lang="en-US" sz="2000" cap="all" dirty="0" smtClean="0"/>
          </a:p>
          <a:p>
            <a:pPr fontAlgn="auto">
              <a:spcAft>
                <a:spcPts val="0"/>
              </a:spcAft>
              <a:defRPr/>
            </a:pPr>
            <a:endParaRPr lang="uk-UA" sz="2000" b="1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sz="2000" b="1" cap="all" dirty="0" smtClean="0"/>
              <a:t>Mykhalova.myu@knuba.edu.ua</a:t>
            </a:r>
            <a:endParaRPr lang="ru-RU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64123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3"/>
    </mc:Choice>
    <mc:Fallback xmlns="">
      <p:transition spd="slow" advTm="590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 smtClean="0"/>
              <a:t>Премія</a:t>
            </a:r>
            <a:r>
              <a:rPr lang="ru-RU" b="1" dirty="0" smtClean="0"/>
              <a:t> </a:t>
            </a:r>
            <a:r>
              <a:rPr lang="ru-RU" b="1" dirty="0" err="1"/>
              <a:t>Верховної</a:t>
            </a:r>
            <a:r>
              <a:rPr lang="ru-RU" b="1" dirty="0"/>
              <a:t> Ради </a:t>
            </a:r>
            <a:r>
              <a:rPr lang="ru-RU" b="1" dirty="0" err="1"/>
              <a:t>України</a:t>
            </a:r>
            <a:r>
              <a:rPr lang="ru-RU" b="1" dirty="0"/>
              <a:t> молодим </a:t>
            </a:r>
            <a:r>
              <a:rPr lang="ru-RU" b="1" dirty="0" err="1"/>
              <a:t>ученим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zakon.rada.gov.ua/laws/show/2675-19#Text</a:t>
            </a:r>
            <a:endParaRPr lang="uk-UA" dirty="0" smtClean="0"/>
          </a:p>
          <a:p>
            <a:pPr marL="0" indent="0">
              <a:buNone/>
            </a:pPr>
            <a:r>
              <a:rPr lang="en-GB" dirty="0"/>
              <a:t>https://files.nas.gov.ua/text/YoungMessage/VRU/Instr_Prem_2021.pdf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6346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ru-RU" b="1" dirty="0" err="1" smtClean="0"/>
              <a:t>Премія</a:t>
            </a:r>
            <a:r>
              <a:rPr lang="ru-RU" b="1" dirty="0" smtClean="0"/>
              <a:t> </a:t>
            </a:r>
            <a:r>
              <a:rPr lang="ru-RU" b="1" dirty="0"/>
              <a:t>Президента </a:t>
            </a:r>
            <a:r>
              <a:rPr lang="ru-RU" b="1" dirty="0" err="1"/>
              <a:t>України</a:t>
            </a:r>
            <a:r>
              <a:rPr lang="ru-RU" b="1" dirty="0"/>
              <a:t> для </a:t>
            </a:r>
            <a:r>
              <a:rPr lang="ru-RU" b="1" dirty="0" err="1"/>
              <a:t>молодих</a:t>
            </a:r>
            <a:r>
              <a:rPr lang="ru-RU" b="1" dirty="0"/>
              <a:t> </a:t>
            </a:r>
            <a:r>
              <a:rPr lang="ru-RU" b="1" dirty="0" err="1"/>
              <a:t>вчених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http://www.kdpu-nt.gov.ua/uk/content/polozhennya-pro-shchorichni-premiyi-prezidenta-ukrayini-dlya-molodikh-vchenikh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558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С</a:t>
            </a:r>
            <a:r>
              <a:rPr lang="ru-RU" b="1" dirty="0" err="1" smtClean="0"/>
              <a:t>типендії</a:t>
            </a:r>
            <a:r>
              <a:rPr lang="ru-RU" b="1" dirty="0" smtClean="0"/>
              <a:t> </a:t>
            </a:r>
            <a:r>
              <a:rPr lang="ru-RU" b="1" dirty="0"/>
              <a:t>Президента </a:t>
            </a:r>
            <a:r>
              <a:rPr lang="ru-RU" b="1" dirty="0" err="1"/>
              <a:t>України</a:t>
            </a:r>
            <a:r>
              <a:rPr lang="ru-RU" b="1" dirty="0"/>
              <a:t> для </a:t>
            </a:r>
            <a:r>
              <a:rPr lang="ru-RU" b="1" dirty="0" err="1"/>
              <a:t>молодих</a:t>
            </a:r>
            <a:r>
              <a:rPr lang="ru-RU" b="1" dirty="0"/>
              <a:t> </a:t>
            </a:r>
            <a:r>
              <a:rPr lang="ru-RU" b="1" dirty="0" err="1"/>
              <a:t>вчених</a:t>
            </a:r>
            <a:r>
              <a:rPr lang="ru-RU" b="1" dirty="0"/>
              <a:t/>
            </a:r>
            <a:br>
              <a:rPr lang="ru-RU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hlinkClick r:id="rId2"/>
              </a:rPr>
              <a:t>http://</a:t>
            </a:r>
            <a:r>
              <a:rPr lang="en-GB" dirty="0" smtClean="0">
                <a:hlinkClick r:id="rId2"/>
              </a:rPr>
              <a:t>www.kdpu-nt.gov.ua/uk/content/stipendii_pezidenta/umovi-ta-poryadok-provedennya-konkursu-na-zdobuttya-stipendii-prezidenta-ukrayini-dlya-molod</a:t>
            </a:r>
            <a:endParaRPr lang="uk-UA" dirty="0" smtClean="0"/>
          </a:p>
          <a:p>
            <a:r>
              <a:rPr lang="en-GB" dirty="0"/>
              <a:t>http://www.kdpu-nt.gov.ua/uk/content/stipendii_pezidenta/polozhennya-pro-stipendiyi-prezidenta-ukrayini-dlya-molodih-vchenih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50470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0254" y="7647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С</a:t>
            </a:r>
            <a:r>
              <a:rPr lang="ru-RU" b="1" dirty="0" err="1" smtClean="0"/>
              <a:t>типендії</a:t>
            </a:r>
            <a:r>
              <a:rPr lang="ru-RU" b="1" dirty="0" smtClean="0"/>
              <a:t> </a:t>
            </a:r>
            <a:r>
              <a:rPr lang="ru-RU" b="1" dirty="0" err="1" smtClean="0"/>
              <a:t>Кабінету</a:t>
            </a:r>
            <a:r>
              <a:rPr lang="ru-RU" b="1" dirty="0" smtClean="0"/>
              <a:t> </a:t>
            </a:r>
            <a:r>
              <a:rPr lang="ru-RU" b="1" dirty="0" err="1"/>
              <a:t>Міністрів</a:t>
            </a:r>
            <a:r>
              <a:rPr lang="ru-RU" b="1" dirty="0"/>
              <a:t> </a:t>
            </a:r>
            <a:r>
              <a:rPr lang="ru-RU" b="1" dirty="0" err="1"/>
              <a:t>України</a:t>
            </a:r>
            <a:r>
              <a:rPr lang="ru-RU" b="1" dirty="0"/>
              <a:t> для </a:t>
            </a:r>
            <a:r>
              <a:rPr lang="ru-RU" b="1" dirty="0" err="1"/>
              <a:t>молодих</a:t>
            </a:r>
            <a:r>
              <a:rPr lang="ru-RU" b="1" dirty="0"/>
              <a:t> </a:t>
            </a:r>
            <a:r>
              <a:rPr lang="ru-RU" b="1" dirty="0" err="1"/>
              <a:t>вчених</a:t>
            </a:r>
            <a:r>
              <a:rPr lang="ru-RU" b="1" dirty="0"/>
              <a:t/>
            </a:r>
            <a:br>
              <a:rPr lang="ru-RU" b="1" dirty="0"/>
            </a:br>
            <a:r>
              <a:rPr lang="ru-RU" b="1" dirty="0"/>
              <a:t/>
            </a:r>
            <a:br>
              <a:rPr lang="ru-RU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http://www.kdpu-nt.gov.ua/uk/content/stipendii_kmu/polozhennya-pro-stipendiyi-kabinetu-ministriv-ukrayini-dlya-molodih-vchenih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77611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24246" t="25000" r="26293" b="8620"/>
          <a:stretch/>
        </p:blipFill>
        <p:spPr>
          <a:xfrm>
            <a:off x="179512" y="980728"/>
            <a:ext cx="7344816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6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Пріоритетні</a:t>
            </a:r>
            <a:r>
              <a:rPr lang="ru-RU" dirty="0" smtClean="0"/>
              <a:t> </a:t>
            </a:r>
            <a:r>
              <a:rPr lang="ru-RU" dirty="0" err="1"/>
              <a:t>напрями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науки і </a:t>
            </a:r>
            <a:r>
              <a:rPr lang="ru-RU" dirty="0" err="1" smtClean="0"/>
              <a:t>техніки</a:t>
            </a:r>
            <a:r>
              <a:rPr lang="ru-RU" dirty="0" smtClean="0"/>
              <a:t> в </a:t>
            </a:r>
            <a:r>
              <a:rPr lang="ru-RU" dirty="0" err="1" smtClean="0"/>
              <a:t>Україні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err="1"/>
              <a:t>пріоритетні</a:t>
            </a:r>
            <a:r>
              <a:rPr lang="ru-RU" dirty="0"/>
              <a:t> </a:t>
            </a:r>
            <a:r>
              <a:rPr lang="ru-RU" dirty="0" err="1"/>
              <a:t>напрями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науки і </a:t>
            </a:r>
            <a:r>
              <a:rPr lang="ru-RU" dirty="0" err="1"/>
              <a:t>техніки</a:t>
            </a:r>
            <a:r>
              <a:rPr lang="ru-RU" dirty="0"/>
              <a:t> - </a:t>
            </a:r>
            <a:r>
              <a:rPr lang="ru-RU" dirty="0" err="1"/>
              <a:t>науково</a:t>
            </a:r>
            <a:r>
              <a:rPr lang="ru-RU" dirty="0"/>
              <a:t>, </a:t>
            </a:r>
            <a:r>
              <a:rPr lang="ru-RU" dirty="0" err="1"/>
              <a:t>економічно</a:t>
            </a:r>
            <a:r>
              <a:rPr lang="ru-RU" dirty="0"/>
              <a:t> та </a:t>
            </a:r>
            <a:r>
              <a:rPr lang="ru-RU" dirty="0" err="1"/>
              <a:t>соціально</a:t>
            </a:r>
            <a:r>
              <a:rPr lang="ru-RU" dirty="0"/>
              <a:t> </a:t>
            </a:r>
            <a:r>
              <a:rPr lang="ru-RU" dirty="0" err="1"/>
              <a:t>обґрунтовані</a:t>
            </a:r>
            <a:r>
              <a:rPr lang="ru-RU" dirty="0"/>
              <a:t> </a:t>
            </a:r>
            <a:r>
              <a:rPr lang="ru-RU" dirty="0" err="1"/>
              <a:t>напрями</a:t>
            </a:r>
            <a:r>
              <a:rPr lang="ru-RU" dirty="0"/>
              <a:t> </a:t>
            </a:r>
            <a:r>
              <a:rPr lang="ru-RU" dirty="0" err="1"/>
              <a:t>науково-технічного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на </a:t>
            </a:r>
            <a:r>
              <a:rPr lang="ru-RU" dirty="0" err="1"/>
              <a:t>довгостроковий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(</a:t>
            </a:r>
            <a:r>
              <a:rPr lang="ru-RU" dirty="0" err="1"/>
              <a:t>понад</a:t>
            </a:r>
            <a:r>
              <a:rPr lang="ru-RU" dirty="0"/>
              <a:t> 10 </a:t>
            </a:r>
            <a:r>
              <a:rPr lang="ru-RU" dirty="0" err="1"/>
              <a:t>років</a:t>
            </a:r>
            <a:r>
              <a:rPr lang="ru-RU" dirty="0"/>
              <a:t>), </a:t>
            </a:r>
            <a:r>
              <a:rPr lang="ru-RU" dirty="0" err="1"/>
              <a:t>яким</a:t>
            </a:r>
            <a:r>
              <a:rPr lang="ru-RU" dirty="0"/>
              <a:t> </a:t>
            </a:r>
            <a:r>
              <a:rPr lang="ru-RU" dirty="0" err="1"/>
              <a:t>надається</a:t>
            </a:r>
            <a:r>
              <a:rPr lang="ru-RU" dirty="0"/>
              <a:t> </a:t>
            </a:r>
            <a:r>
              <a:rPr lang="ru-RU" dirty="0" err="1"/>
              <a:t>пріоритетна</a:t>
            </a:r>
            <a:r>
              <a:rPr lang="ru-RU" dirty="0"/>
              <a:t> </a:t>
            </a:r>
            <a:r>
              <a:rPr lang="ru-RU" dirty="0" err="1"/>
              <a:t>державна</a:t>
            </a:r>
            <a:r>
              <a:rPr lang="ru-RU" dirty="0"/>
              <a:t> </a:t>
            </a:r>
            <a:r>
              <a:rPr lang="ru-RU" dirty="0" err="1"/>
              <a:t>підтримка</a:t>
            </a:r>
            <a:r>
              <a:rPr lang="ru-RU" dirty="0"/>
              <a:t> з метою </a:t>
            </a:r>
            <a:r>
              <a:rPr lang="ru-RU" dirty="0" err="1"/>
              <a:t>формування</a:t>
            </a:r>
            <a:r>
              <a:rPr lang="ru-RU" dirty="0"/>
              <a:t> </a:t>
            </a:r>
            <a:r>
              <a:rPr lang="ru-RU" dirty="0" err="1"/>
              <a:t>ефективного</a:t>
            </a:r>
            <a:r>
              <a:rPr lang="ru-RU" dirty="0"/>
              <a:t> сектору </a:t>
            </a:r>
            <a:r>
              <a:rPr lang="ru-RU" dirty="0" err="1"/>
              <a:t>наукових</a:t>
            </a:r>
            <a:r>
              <a:rPr lang="ru-RU" dirty="0"/>
              <a:t> </a:t>
            </a:r>
            <a:r>
              <a:rPr lang="ru-RU" dirty="0" err="1"/>
              <a:t>досліджень</a:t>
            </a:r>
            <a:r>
              <a:rPr lang="ru-RU" dirty="0"/>
              <a:t> і </a:t>
            </a:r>
            <a:r>
              <a:rPr lang="ru-RU" dirty="0" err="1"/>
              <a:t>науково-технічних</a:t>
            </a:r>
            <a:r>
              <a:rPr lang="ru-RU" dirty="0"/>
              <a:t> </a:t>
            </a:r>
            <a:r>
              <a:rPr lang="ru-RU" dirty="0" err="1"/>
              <a:t>розробок</a:t>
            </a:r>
            <a:r>
              <a:rPr lang="ru-RU" dirty="0"/>
              <a:t> для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конкурентоспроможності</a:t>
            </a:r>
            <a:r>
              <a:rPr lang="ru-RU" dirty="0"/>
              <a:t> </a:t>
            </a:r>
            <a:r>
              <a:rPr lang="ru-RU" dirty="0" err="1"/>
              <a:t>вітчизняного</a:t>
            </a:r>
            <a:r>
              <a:rPr lang="ru-RU" dirty="0"/>
              <a:t> </a:t>
            </a:r>
            <a:r>
              <a:rPr lang="ru-RU" dirty="0" err="1"/>
              <a:t>виробництва</a:t>
            </a:r>
            <a:r>
              <a:rPr lang="ru-RU" dirty="0"/>
              <a:t>, </a:t>
            </a:r>
            <a:r>
              <a:rPr lang="ru-RU" dirty="0" err="1"/>
              <a:t>сталого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, </a:t>
            </a:r>
            <a:r>
              <a:rPr lang="ru-RU" dirty="0" err="1"/>
              <a:t>національної</a:t>
            </a:r>
            <a:r>
              <a:rPr lang="ru-RU" dirty="0"/>
              <a:t> </a:t>
            </a:r>
            <a:r>
              <a:rPr lang="ru-RU" dirty="0" err="1"/>
              <a:t>безпеки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та </a:t>
            </a:r>
            <a:r>
              <a:rPr lang="ru-RU" dirty="0" err="1"/>
              <a:t>підвищення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населення</a:t>
            </a:r>
            <a:r>
              <a:rPr lang="ru-RU" dirty="0"/>
              <a:t>;</a:t>
            </a:r>
          </a:p>
          <a:p>
            <a:r>
              <a:rPr lang="ru-RU" dirty="0" err="1"/>
              <a:t>пріоритетні</a:t>
            </a:r>
            <a:r>
              <a:rPr lang="ru-RU" dirty="0"/>
              <a:t>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тематичні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/>
              <a:t>напрями</a:t>
            </a:r>
            <a:r>
              <a:rPr lang="ru-RU" dirty="0"/>
              <a:t> </a:t>
            </a:r>
            <a:r>
              <a:rPr lang="ru-RU" dirty="0" err="1"/>
              <a:t>наукових</a:t>
            </a:r>
            <a:r>
              <a:rPr lang="ru-RU" dirty="0"/>
              <a:t> </a:t>
            </a:r>
            <a:r>
              <a:rPr lang="ru-RU" dirty="0" err="1"/>
              <a:t>досліджень</a:t>
            </a:r>
            <a:r>
              <a:rPr lang="ru-RU" dirty="0"/>
              <a:t> і </a:t>
            </a:r>
            <a:r>
              <a:rPr lang="ru-RU" dirty="0" err="1"/>
              <a:t>науково-технічних</a:t>
            </a:r>
            <a:r>
              <a:rPr lang="ru-RU" dirty="0"/>
              <a:t> </a:t>
            </a:r>
            <a:r>
              <a:rPr lang="ru-RU" dirty="0" err="1"/>
              <a:t>розробок</a:t>
            </a:r>
            <a:r>
              <a:rPr lang="ru-RU" dirty="0"/>
              <a:t> - </a:t>
            </a:r>
            <a:r>
              <a:rPr lang="ru-RU" dirty="0" err="1"/>
              <a:t>напрями</a:t>
            </a:r>
            <a:r>
              <a:rPr lang="ru-RU" dirty="0"/>
              <a:t> </a:t>
            </a:r>
            <a:r>
              <a:rPr lang="ru-RU" dirty="0" err="1"/>
              <a:t>фундаментальних</a:t>
            </a:r>
            <a:r>
              <a:rPr lang="ru-RU" dirty="0"/>
              <a:t> і </a:t>
            </a:r>
            <a:r>
              <a:rPr lang="ru-RU" dirty="0" err="1"/>
              <a:t>прикладних</a:t>
            </a:r>
            <a:r>
              <a:rPr lang="ru-RU" dirty="0"/>
              <a:t> </a:t>
            </a:r>
            <a:r>
              <a:rPr lang="ru-RU" dirty="0" err="1"/>
              <a:t>наукових</a:t>
            </a:r>
            <a:r>
              <a:rPr lang="ru-RU" dirty="0"/>
              <a:t> </a:t>
            </a:r>
            <a:r>
              <a:rPr lang="ru-RU" dirty="0" err="1"/>
              <a:t>досліджень</a:t>
            </a:r>
            <a:r>
              <a:rPr lang="ru-RU" dirty="0"/>
              <a:t> та </a:t>
            </a:r>
            <a:r>
              <a:rPr lang="ru-RU" dirty="0" err="1"/>
              <a:t>науково-технічних</a:t>
            </a:r>
            <a:r>
              <a:rPr lang="ru-RU" dirty="0"/>
              <a:t> </a:t>
            </a:r>
            <a:r>
              <a:rPr lang="ru-RU" dirty="0" err="1"/>
              <a:t>розробок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визначаються</a:t>
            </a:r>
            <a:r>
              <a:rPr lang="ru-RU" dirty="0"/>
              <a:t> на </a:t>
            </a:r>
            <a:r>
              <a:rPr lang="ru-RU" dirty="0" err="1"/>
              <a:t>середньостроковий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(до 5 </a:t>
            </a:r>
            <a:r>
              <a:rPr lang="ru-RU" dirty="0" err="1"/>
              <a:t>років</a:t>
            </a:r>
            <a:r>
              <a:rPr lang="ru-RU" dirty="0"/>
              <a:t>) у рамках </a:t>
            </a:r>
            <a:r>
              <a:rPr lang="ru-RU" dirty="0" err="1"/>
              <a:t>пріоритетних</a:t>
            </a:r>
            <a:r>
              <a:rPr lang="ru-RU" dirty="0"/>
              <a:t> </a:t>
            </a:r>
            <a:r>
              <a:rPr lang="ru-RU" dirty="0" err="1"/>
              <a:t>напрямів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науки і </a:t>
            </a:r>
            <a:r>
              <a:rPr lang="ru-RU" dirty="0" err="1"/>
              <a:t>техніки</a:t>
            </a:r>
            <a:r>
              <a:rPr lang="ru-RU" dirty="0"/>
              <a:t> з метою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79235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Пріоритетні</a:t>
            </a:r>
            <a:r>
              <a:rPr lang="ru-RU" dirty="0" smtClean="0"/>
              <a:t> </a:t>
            </a:r>
            <a:r>
              <a:rPr lang="ru-RU" dirty="0" err="1" smtClean="0"/>
              <a:t>напрями</a:t>
            </a:r>
            <a:r>
              <a:rPr lang="ru-RU" dirty="0" smtClean="0"/>
              <a:t> </a:t>
            </a:r>
            <a:r>
              <a:rPr lang="ru-RU" dirty="0" err="1"/>
              <a:t>розвитку</a:t>
            </a:r>
            <a:r>
              <a:rPr lang="ru-RU" dirty="0"/>
              <a:t> науки і </a:t>
            </a:r>
            <a:r>
              <a:rPr lang="ru-RU" dirty="0" err="1"/>
              <a:t>техніки</a:t>
            </a:r>
            <a:r>
              <a:rPr lang="ru-RU" dirty="0"/>
              <a:t> на </a:t>
            </a:r>
            <a:r>
              <a:rPr lang="ru-RU" dirty="0" err="1"/>
              <a:t>період</a:t>
            </a:r>
            <a:r>
              <a:rPr lang="ru-RU" dirty="0"/>
              <a:t> до 2021 </a:t>
            </a:r>
            <a:r>
              <a:rPr lang="ru-RU" dirty="0" smtClean="0"/>
              <a:t>року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err="1" smtClean="0"/>
              <a:t>Пріоритетними</a:t>
            </a:r>
            <a:r>
              <a:rPr lang="ru-RU" dirty="0" smtClean="0"/>
              <a:t> </a:t>
            </a:r>
            <a:r>
              <a:rPr lang="ru-RU" dirty="0" err="1"/>
              <a:t>напрямами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науки і </a:t>
            </a:r>
            <a:r>
              <a:rPr lang="ru-RU" dirty="0" err="1" smtClean="0"/>
              <a:t>техніки</a:t>
            </a:r>
            <a:r>
              <a:rPr lang="ru-RU" dirty="0" smtClean="0"/>
              <a:t> в </a:t>
            </a:r>
            <a:r>
              <a:rPr lang="ru-RU" dirty="0" err="1" smtClean="0"/>
              <a:t>Україні</a:t>
            </a:r>
            <a:r>
              <a:rPr lang="ru-RU" dirty="0" smtClean="0"/>
              <a:t>  </a:t>
            </a:r>
            <a:r>
              <a:rPr lang="ru-RU" dirty="0"/>
              <a:t>на </a:t>
            </a:r>
            <a:r>
              <a:rPr lang="ru-RU" dirty="0" err="1"/>
              <a:t>період</a:t>
            </a:r>
            <a:r>
              <a:rPr lang="ru-RU" dirty="0"/>
              <a:t> до 2021 </a:t>
            </a:r>
            <a:r>
              <a:rPr lang="ru-RU" dirty="0" smtClean="0"/>
              <a:t>року є: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1</a:t>
            </a:r>
            <a:r>
              <a:rPr lang="ru-RU" dirty="0"/>
              <a:t>) </a:t>
            </a:r>
            <a:r>
              <a:rPr lang="ru-RU" dirty="0" err="1"/>
              <a:t>фундаментальні</a:t>
            </a:r>
            <a:r>
              <a:rPr lang="ru-RU" dirty="0"/>
              <a:t> </a:t>
            </a:r>
            <a:r>
              <a:rPr lang="ru-RU" dirty="0" err="1"/>
              <a:t>наукові</a:t>
            </a:r>
            <a:r>
              <a:rPr lang="ru-RU" dirty="0"/>
              <a:t> </a:t>
            </a:r>
            <a:r>
              <a:rPr lang="ru-RU" dirty="0" err="1"/>
              <a:t>дослідження</a:t>
            </a:r>
            <a:r>
              <a:rPr lang="ru-RU" dirty="0"/>
              <a:t> з </a:t>
            </a:r>
            <a:r>
              <a:rPr lang="ru-RU" dirty="0" err="1"/>
              <a:t>найбільш</a:t>
            </a:r>
            <a:r>
              <a:rPr lang="ru-RU" dirty="0"/>
              <a:t> </a:t>
            </a:r>
            <a:r>
              <a:rPr lang="ru-RU" dirty="0" err="1"/>
              <a:t>важливих</a:t>
            </a:r>
            <a:r>
              <a:rPr lang="ru-RU" dirty="0"/>
              <a:t> проблем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науково-технічного</a:t>
            </a:r>
            <a:r>
              <a:rPr lang="ru-RU" dirty="0"/>
              <a:t>, </a:t>
            </a:r>
            <a:r>
              <a:rPr lang="ru-RU" dirty="0" err="1"/>
              <a:t>соціально-економічного</a:t>
            </a:r>
            <a:r>
              <a:rPr lang="ru-RU" dirty="0"/>
              <a:t>, </a:t>
            </a:r>
            <a:r>
              <a:rPr lang="ru-RU" dirty="0" err="1"/>
              <a:t>суспільно-політичного</a:t>
            </a:r>
            <a:r>
              <a:rPr lang="ru-RU" dirty="0"/>
              <a:t>, </a:t>
            </a:r>
            <a:r>
              <a:rPr lang="ru-RU" dirty="0" err="1"/>
              <a:t>людського</a:t>
            </a:r>
            <a:r>
              <a:rPr lang="ru-RU" dirty="0"/>
              <a:t> </a:t>
            </a:r>
            <a:r>
              <a:rPr lang="ru-RU" dirty="0" err="1"/>
              <a:t>потенціалу</a:t>
            </a:r>
            <a:r>
              <a:rPr lang="ru-RU" dirty="0"/>
              <a:t> для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конкурентоспроможності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у </a:t>
            </a:r>
            <a:r>
              <a:rPr lang="ru-RU" dirty="0" err="1"/>
              <a:t>світі</a:t>
            </a:r>
            <a:r>
              <a:rPr lang="ru-RU" dirty="0"/>
              <a:t> та </a:t>
            </a:r>
            <a:r>
              <a:rPr lang="ru-RU" dirty="0" err="1"/>
              <a:t>сталого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суспільства</a:t>
            </a:r>
            <a:r>
              <a:rPr lang="ru-RU" dirty="0"/>
              <a:t> і </a:t>
            </a:r>
            <a:r>
              <a:rPr lang="ru-RU" dirty="0" err="1"/>
              <a:t>держави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2) </a:t>
            </a:r>
            <a:r>
              <a:rPr lang="ru-RU" dirty="0" err="1"/>
              <a:t>інформаційні</a:t>
            </a:r>
            <a:r>
              <a:rPr lang="ru-RU" dirty="0"/>
              <a:t> та </a:t>
            </a:r>
            <a:r>
              <a:rPr lang="ru-RU" dirty="0" err="1"/>
              <a:t>комунікаційні</a:t>
            </a:r>
            <a:r>
              <a:rPr lang="ru-RU" dirty="0"/>
              <a:t> </a:t>
            </a:r>
            <a:r>
              <a:rPr lang="ru-RU" dirty="0" err="1"/>
              <a:t>технології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3) </a:t>
            </a:r>
            <a:r>
              <a:rPr lang="ru-RU" dirty="0" err="1"/>
              <a:t>енергетика</a:t>
            </a:r>
            <a:r>
              <a:rPr lang="ru-RU" dirty="0"/>
              <a:t> та </a:t>
            </a:r>
            <a:r>
              <a:rPr lang="ru-RU" dirty="0" err="1"/>
              <a:t>енергоефективність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4) </a:t>
            </a:r>
            <a:r>
              <a:rPr lang="ru-RU" dirty="0" err="1"/>
              <a:t>раціональне</a:t>
            </a:r>
            <a:r>
              <a:rPr lang="ru-RU" dirty="0"/>
              <a:t> </a:t>
            </a:r>
            <a:r>
              <a:rPr lang="ru-RU" dirty="0" err="1"/>
              <a:t>природокористування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5) науки про </a:t>
            </a:r>
            <a:r>
              <a:rPr lang="ru-RU" dirty="0" err="1"/>
              <a:t>життя</a:t>
            </a:r>
            <a:r>
              <a:rPr lang="ru-RU" dirty="0"/>
              <a:t>,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технології</a:t>
            </a:r>
            <a:r>
              <a:rPr lang="ru-RU" dirty="0"/>
              <a:t> </a:t>
            </a:r>
            <a:r>
              <a:rPr lang="ru-RU" dirty="0" err="1"/>
              <a:t>профілактики</a:t>
            </a:r>
            <a:r>
              <a:rPr lang="ru-RU" dirty="0"/>
              <a:t> та </a:t>
            </a:r>
            <a:r>
              <a:rPr lang="ru-RU" dirty="0" err="1"/>
              <a:t>лікування</a:t>
            </a:r>
            <a:r>
              <a:rPr lang="ru-RU" dirty="0"/>
              <a:t> </a:t>
            </a:r>
            <a:r>
              <a:rPr lang="ru-RU" dirty="0" err="1"/>
              <a:t>найпоширеніших</a:t>
            </a:r>
            <a:r>
              <a:rPr lang="ru-RU" dirty="0"/>
              <a:t> </a:t>
            </a:r>
            <a:r>
              <a:rPr lang="ru-RU" dirty="0" err="1"/>
              <a:t>захворювань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6)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речовини</a:t>
            </a:r>
            <a:r>
              <a:rPr lang="ru-RU" dirty="0"/>
              <a:t> і </a:t>
            </a:r>
            <a:r>
              <a:rPr lang="ru-RU" dirty="0" err="1"/>
              <a:t>матеріали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003292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10123</TotalTime>
  <Words>279</Words>
  <Application>Microsoft Office PowerPoint</Application>
  <PresentationFormat>Экран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Тема Office</vt:lpstr>
      <vt:lpstr>Пошук джерел фінансування наукових досліджень за рахунок бюджетних коштів  </vt:lpstr>
      <vt:lpstr>Премія Верховної Ради України молодим ученим</vt:lpstr>
      <vt:lpstr>Премія Президента України для молодих вчених</vt:lpstr>
      <vt:lpstr>Стипендії Президента України для молодих вчених </vt:lpstr>
      <vt:lpstr>Стипендії Кабінету Міністрів України для молодих вчених  </vt:lpstr>
      <vt:lpstr>Презентация PowerPoint</vt:lpstr>
      <vt:lpstr>Пріоритетні напрями розвитку науки і техніки в Україні</vt:lpstr>
      <vt:lpstr>Пріоритетні напрями розвитку науки і техніки на період до 2021 року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Особливо цінні землі</dc:title>
  <dc:creator>Пользователь Windows</dc:creator>
  <cp:lastModifiedBy>Пользователь Windows</cp:lastModifiedBy>
  <cp:revision>59</cp:revision>
  <dcterms:created xsi:type="dcterms:W3CDTF">2018-03-26T02:25:57Z</dcterms:created>
  <dcterms:modified xsi:type="dcterms:W3CDTF">2021-03-31T13:29:55Z</dcterms:modified>
</cp:coreProperties>
</file>